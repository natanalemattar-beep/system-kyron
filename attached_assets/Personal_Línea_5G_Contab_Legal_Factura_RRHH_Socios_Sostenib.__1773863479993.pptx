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4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media/image4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50.png" Type="http://schemas.openxmlformats.org/officeDocument/2006/relationships/image"/><Relationship Id="rId12" Target="../media/image51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media/image4.jpeg" Type="http://schemas.openxmlformats.org/officeDocument/2006/relationships/image"/><Relationship Id="rId20" Target="../media/image59.svg" Type="http://schemas.openxmlformats.org/officeDocument/2006/relationships/image"/><Relationship Id="rId21" Target="../media/image60.png" Type="http://schemas.openxmlformats.org/officeDocument/2006/relationships/image"/><Relationship Id="rId22" Target="../media/image61.svg" Type="http://schemas.openxmlformats.org/officeDocument/2006/relationships/image"/><Relationship Id="rId23" Target="../media/image62.png" Type="http://schemas.openxmlformats.org/officeDocument/2006/relationships/image"/><Relationship Id="rId24" Target="../media/image63.svg" Type="http://schemas.openxmlformats.org/officeDocument/2006/relationships/image"/><Relationship Id="rId25" Target="../media/image19.png" Type="http://schemas.openxmlformats.org/officeDocument/2006/relationships/image"/><Relationship Id="rId26" Target="../media/image20.sv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svg" Type="http://schemas.openxmlformats.org/officeDocument/2006/relationships/image"/><Relationship Id="rId11" Target="../media/image72.png" Type="http://schemas.openxmlformats.org/officeDocument/2006/relationships/image"/><Relationship Id="rId12" Target="../media/image73.svg" Type="http://schemas.openxmlformats.org/officeDocument/2006/relationships/image"/><Relationship Id="rId13" Target="../media/image74.png" Type="http://schemas.openxmlformats.org/officeDocument/2006/relationships/image"/><Relationship Id="rId14" Target="../media/image75.png" Type="http://schemas.openxmlformats.org/officeDocument/2006/relationships/image"/><Relationship Id="rId15" Target="../media/image76.svg" Type="http://schemas.openxmlformats.org/officeDocument/2006/relationships/image"/><Relationship Id="rId16" Target="../media/image77.png" Type="http://schemas.openxmlformats.org/officeDocument/2006/relationships/image"/><Relationship Id="rId17" Target="../media/image78.svg" Type="http://schemas.openxmlformats.org/officeDocument/2006/relationships/image"/><Relationship Id="rId18" Target="../media/image79.png" Type="http://schemas.openxmlformats.org/officeDocument/2006/relationships/image"/><Relationship Id="rId19" Target="../media/image80.svg" Type="http://schemas.openxmlformats.org/officeDocument/2006/relationships/image"/><Relationship Id="rId2" Target="../media/image4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1.pn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svg" Type="http://schemas.openxmlformats.org/officeDocument/2006/relationships/image"/><Relationship Id="rId11" Target="../media/image96.png" Type="http://schemas.openxmlformats.org/officeDocument/2006/relationships/image"/><Relationship Id="rId12" Target="../media/image97.svg" Type="http://schemas.openxmlformats.org/officeDocument/2006/relationships/image"/><Relationship Id="rId2" Target="../media/image4.jpeg" Type="http://schemas.openxmlformats.org/officeDocument/2006/relationships/image"/><Relationship Id="rId3" Target="../media/image88.png" Type="http://schemas.openxmlformats.org/officeDocument/2006/relationships/image"/><Relationship Id="rId4" Target="../media/image89.svg" Type="http://schemas.openxmlformats.org/officeDocument/2006/relationships/image"/><Relationship Id="rId5" Target="../media/image90.png" Type="http://schemas.openxmlformats.org/officeDocument/2006/relationships/image"/><Relationship Id="rId6" Target="../media/image91.svg" Type="http://schemas.openxmlformats.org/officeDocument/2006/relationships/image"/><Relationship Id="rId7" Target="../media/image92.png" Type="http://schemas.openxmlformats.org/officeDocument/2006/relationships/image"/><Relationship Id="rId8" Target="../media/image93.sv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svg" Type="http://schemas.openxmlformats.org/officeDocument/2006/relationships/image"/><Relationship Id="rId6" Target="../media/image101.png" Type="http://schemas.openxmlformats.org/officeDocument/2006/relationships/image"/><Relationship Id="rId7" Target="../media/image102.svg" Type="http://schemas.openxmlformats.org/officeDocument/2006/relationships/image"/><Relationship Id="rId8" Target="../media/image103.png" Type="http://schemas.openxmlformats.org/officeDocument/2006/relationships/image"/><Relationship Id="rId9" Target="../media/image10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svg" Type="http://schemas.openxmlformats.org/officeDocument/2006/relationships/image"/><Relationship Id="rId2" Target="../media/image4.jpeg" Type="http://schemas.openxmlformats.org/officeDocument/2006/relationships/image"/><Relationship Id="rId3" Target="../media/image105.png" Type="http://schemas.openxmlformats.org/officeDocument/2006/relationships/image"/><Relationship Id="rId4" Target="../media/image106.svg" Type="http://schemas.openxmlformats.org/officeDocument/2006/relationships/image"/><Relationship Id="rId5" Target="../media/image107.png" Type="http://schemas.openxmlformats.org/officeDocument/2006/relationships/image"/><Relationship Id="rId6" Target="../media/image108.svg" Type="http://schemas.openxmlformats.org/officeDocument/2006/relationships/image"/><Relationship Id="rId7" Target="../media/image109.png" Type="http://schemas.openxmlformats.org/officeDocument/2006/relationships/image"/><Relationship Id="rId8" Target="../media/image110.sv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0.png" Type="http://schemas.openxmlformats.org/officeDocument/2006/relationships/image"/><Relationship Id="rId11" Target="../media/image121.svg" Type="http://schemas.openxmlformats.org/officeDocument/2006/relationships/image"/><Relationship Id="rId12" Target="../media/image122.png" Type="http://schemas.openxmlformats.org/officeDocument/2006/relationships/image"/><Relationship Id="rId13" Target="../media/image123.svg" Type="http://schemas.openxmlformats.org/officeDocument/2006/relationships/image"/><Relationship Id="rId14" Target="../media/image124.png" Type="http://schemas.openxmlformats.org/officeDocument/2006/relationships/image"/><Relationship Id="rId15" Target="../media/image125.svg" Type="http://schemas.openxmlformats.org/officeDocument/2006/relationships/image"/><Relationship Id="rId2" Target="../media/image113.jpeg" Type="http://schemas.openxmlformats.org/officeDocument/2006/relationships/image"/><Relationship Id="rId3" Target="../media/image4.jpeg" Type="http://schemas.openxmlformats.org/officeDocument/2006/relationships/image"/><Relationship Id="rId4" Target="../media/image114.png" Type="http://schemas.openxmlformats.org/officeDocument/2006/relationships/image"/><Relationship Id="rId5" Target="../media/image115.svg" Type="http://schemas.openxmlformats.org/officeDocument/2006/relationships/image"/><Relationship Id="rId6" Target="../media/image116.png" Type="http://schemas.openxmlformats.org/officeDocument/2006/relationships/image"/><Relationship Id="rId7" Target="../media/image117.svg" Type="http://schemas.openxmlformats.org/officeDocument/2006/relationships/image"/><Relationship Id="rId8" Target="../media/image118.png" Type="http://schemas.openxmlformats.org/officeDocument/2006/relationships/image"/><Relationship Id="rId9" Target="../media/image1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images.stockcake.com/163444408a01e5a08365e1471c616970e6ce5f6b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</a:blip>
              <a:stretch>
                <a:fillRect l="0" t="-38888" r="0" b="-388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A1929">
                    <a:alpha val="95000"/>
                  </a:srgbClr>
                </a:gs>
                <a:gs pos="50000">
                  <a:srgbClr val="0A1929">
                    <a:alpha val="85000"/>
                  </a:srgbClr>
                </a:gs>
                <a:gs pos="100000">
                  <a:srgbClr val="00D4AA">
                    <a:alpha val="20000"/>
                  </a:srgbClr>
                </a:gs>
              </a:gsLst>
              <a:lin ang="3638535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375808" y="2438752"/>
            <a:ext cx="3541395" cy="598170"/>
          </a:xfrm>
          <a:custGeom>
            <a:avLst/>
            <a:gdLst/>
            <a:ahLst/>
            <a:cxnLst/>
            <a:rect r="r" b="b" t="t" l="l"/>
            <a:pathLst>
              <a:path h="598170" w="3541395">
                <a:moveTo>
                  <a:pt x="0" y="0"/>
                </a:moveTo>
                <a:lnTo>
                  <a:pt x="3541395" y="0"/>
                </a:lnTo>
                <a:lnTo>
                  <a:pt x="3541395" y="598170"/>
                </a:lnTo>
                <a:lnTo>
                  <a:pt x="0" y="59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375808" y="2438752"/>
            <a:ext cx="3541395" cy="598170"/>
            <a:chOff x="0" y="0"/>
            <a:chExt cx="4574695" cy="7727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4695" cy="772703"/>
            </a:xfrm>
            <a:custGeom>
              <a:avLst/>
              <a:gdLst/>
              <a:ahLst/>
              <a:cxnLst/>
              <a:rect r="r" b="b" t="t" l="l"/>
              <a:pathLst>
                <a:path h="772703" w="4574695">
                  <a:moveTo>
                    <a:pt x="0" y="0"/>
                  </a:moveTo>
                  <a:lnTo>
                    <a:pt x="4574695" y="0"/>
                  </a:lnTo>
                  <a:lnTo>
                    <a:pt x="4574695" y="772703"/>
                  </a:lnTo>
                  <a:lnTo>
                    <a:pt x="0" y="7727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628" r="14779" b="-2099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574695" cy="82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b="true" sz="1575" spc="7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RetoInspiraVe &amp; Kurios </a:t>
              </a:r>
              <a:r>
                <a:rPr lang="en-US" b="true" sz="1575" spc="7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50375" y="3835117"/>
            <a:ext cx="9386888" cy="1371600"/>
            <a:chOff x="0" y="0"/>
            <a:chExt cx="1251585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1585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515850">
                  <a:moveTo>
                    <a:pt x="0" y="0"/>
                  </a:moveTo>
                  <a:lnTo>
                    <a:pt x="12515850" y="0"/>
                  </a:lnTo>
                  <a:lnTo>
                    <a:pt x="1251585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350" r="0" b="-833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00025"/>
              <a:ext cx="12515850" cy="1628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368"/>
                </a:lnSpc>
              </a:pPr>
              <a:r>
                <a:rPr lang="en-US" b="true" sz="10800" spc="-27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Kyron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0" y="5549617"/>
            <a:ext cx="1828800" cy="57150"/>
            <a:chOff x="0" y="0"/>
            <a:chExt cx="24384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D4AA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615362" y="5535120"/>
            <a:ext cx="8786812" cy="1398604"/>
            <a:chOff x="0" y="0"/>
            <a:chExt cx="11715750" cy="1864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15750" cy="1864805"/>
            </a:xfrm>
            <a:custGeom>
              <a:avLst/>
              <a:gdLst/>
              <a:ahLst/>
              <a:cxnLst/>
              <a:rect r="r" b="b" t="t" l="l"/>
              <a:pathLst>
                <a:path h="1864805" w="11715750">
                  <a:moveTo>
                    <a:pt x="0" y="0"/>
                  </a:moveTo>
                  <a:lnTo>
                    <a:pt x="11715750" y="0"/>
                  </a:lnTo>
                  <a:lnTo>
                    <a:pt x="11715750" y="1864805"/>
                  </a:lnTo>
                  <a:lnTo>
                    <a:pt x="0" y="18648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7387" r="0" b="-4744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71450"/>
              <a:ext cx="11715750" cy="203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70"/>
                </a:lnSpc>
              </a:pPr>
              <a:r>
                <a:rPr lang="en-US" sz="3375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El Ecosistema Integral para la Empresa Moderna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78911" y="7430538"/>
            <a:ext cx="171450" cy="171450"/>
            <a:chOff x="0" y="0"/>
            <a:chExt cx="228600" cy="228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93538" y="7298226"/>
            <a:ext cx="4500562" cy="867633"/>
            <a:chOff x="0" y="0"/>
            <a:chExt cx="6000750" cy="11568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00750" cy="1156844"/>
            </a:xfrm>
            <a:custGeom>
              <a:avLst/>
              <a:gdLst/>
              <a:ahLst/>
              <a:cxnLst/>
              <a:rect r="r" b="b" t="t" l="l"/>
              <a:pathLst>
                <a:path h="1156844" w="6000750">
                  <a:moveTo>
                    <a:pt x="0" y="0"/>
                  </a:moveTo>
                  <a:lnTo>
                    <a:pt x="6000750" y="0"/>
                  </a:lnTo>
                  <a:lnTo>
                    <a:pt x="6000750" y="1156844"/>
                  </a:lnTo>
                  <a:lnTo>
                    <a:pt x="0" y="11568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018" r="0" b="-2412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000750" cy="1223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Hecho en Venezuela · Para el Mundo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4295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571500"/>
            <a:ext cx="6572250" cy="342900"/>
            <a:chOff x="0" y="0"/>
            <a:chExt cx="87630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63000" cy="457200"/>
            </a:xfrm>
            <a:custGeom>
              <a:avLst/>
              <a:gdLst/>
              <a:ahLst/>
              <a:cxnLst/>
              <a:rect r="r" b="b" t="t" l="l"/>
              <a:pathLst>
                <a:path h="457200" w="8763000">
                  <a:moveTo>
                    <a:pt x="0" y="0"/>
                  </a:moveTo>
                  <a:lnTo>
                    <a:pt x="8763000" y="0"/>
                  </a:lnTo>
                  <a:lnTo>
                    <a:pt x="8763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87630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PROBLEMA 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914400"/>
            <a:ext cx="6800850" cy="685800"/>
            <a:chOff x="0" y="0"/>
            <a:chExt cx="90678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67800" cy="914400"/>
            </a:xfrm>
            <a:custGeom>
              <a:avLst/>
              <a:gdLst/>
              <a:ahLst/>
              <a:cxnLst/>
              <a:rect r="r" b="b" t="t" l="l"/>
              <a:pathLst>
                <a:path h="914400" w="9067800">
                  <a:moveTo>
                    <a:pt x="0" y="0"/>
                  </a:moveTo>
                  <a:lnTo>
                    <a:pt x="9067800" y="0"/>
                  </a:lnTo>
                  <a:lnTo>
                    <a:pt x="9067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226" r="0" b="-14322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90678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Conectividad Frágil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0075" y="2886075"/>
            <a:ext cx="8372475" cy="1828800"/>
            <a:chOff x="0" y="0"/>
            <a:chExt cx="11163300" cy="243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633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163300">
                  <a:moveTo>
                    <a:pt x="0" y="0"/>
                  </a:moveTo>
                  <a:lnTo>
                    <a:pt x="11010900" y="0"/>
                  </a:lnTo>
                  <a:cubicBezTo>
                    <a:pt x="11094974" y="0"/>
                    <a:pt x="11163300" y="68326"/>
                    <a:pt x="11163300" y="152400"/>
                  </a:cubicBezTo>
                  <a:lnTo>
                    <a:pt x="11163300" y="2286000"/>
                  </a:lnTo>
                  <a:cubicBezTo>
                    <a:pt x="11163300" y="2370074"/>
                    <a:pt x="11094974" y="2438400"/>
                    <a:pt x="11010900" y="2438400"/>
                  </a:cubicBez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0075" y="2886075"/>
            <a:ext cx="57150" cy="1828800"/>
            <a:chOff x="0" y="0"/>
            <a:chExt cx="76200" cy="243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171825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64419" y="3343275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828800" y="3171825"/>
            <a:ext cx="7000875" cy="400050"/>
            <a:chOff x="0" y="0"/>
            <a:chExt cx="933450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34500" cy="533400"/>
            </a:xfrm>
            <a:custGeom>
              <a:avLst/>
              <a:gdLst/>
              <a:ahLst/>
              <a:cxnLst/>
              <a:rect r="r" b="b" t="t" l="l"/>
              <a:pathLst>
                <a:path h="5334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3345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Oligopolio de Mercado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3686175"/>
            <a:ext cx="6972300" cy="742950"/>
            <a:chOff x="0" y="0"/>
            <a:chExt cx="9296400" cy="990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96400" cy="990600"/>
            </a:xfrm>
            <a:custGeom>
              <a:avLst/>
              <a:gdLst/>
              <a:ahLst/>
              <a:cxnLst/>
              <a:rect r="r" b="b" t="t" l="l"/>
              <a:pathLst>
                <a:path h="9906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859" r="0" b="-1328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9296400" cy="10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3 operadores dominan el 100% del mercado venezolano: </a:t>
              </a:r>
              <a:r>
                <a:rPr lang="en-US" sz="1800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Movistar 42.6%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, </a:t>
              </a:r>
              <a:r>
                <a:rPr lang="en-US" sz="1800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Digitel 35.1%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, </a:t>
              </a:r>
              <a:r>
                <a:rPr lang="en-US" sz="1800" b="true">
                  <a:solidFill>
                    <a:srgbClr val="0891B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Movilnet 22.2%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00075" y="5000625"/>
            <a:ext cx="8372475" cy="1828800"/>
            <a:chOff x="0" y="0"/>
            <a:chExt cx="11163300" cy="243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633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163300">
                  <a:moveTo>
                    <a:pt x="0" y="0"/>
                  </a:moveTo>
                  <a:lnTo>
                    <a:pt x="11010900" y="0"/>
                  </a:lnTo>
                  <a:cubicBezTo>
                    <a:pt x="11094974" y="0"/>
                    <a:pt x="11163300" y="68326"/>
                    <a:pt x="11163300" y="152400"/>
                  </a:cubicBezTo>
                  <a:lnTo>
                    <a:pt x="11163300" y="2286000"/>
                  </a:lnTo>
                  <a:cubicBezTo>
                    <a:pt x="11163300" y="2370074"/>
                    <a:pt x="11094974" y="2438400"/>
                    <a:pt x="11010900" y="2438400"/>
                  </a:cubicBez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00075" y="5000625"/>
            <a:ext cx="57150" cy="1828800"/>
            <a:chOff x="0" y="0"/>
            <a:chExt cx="76200" cy="243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5286375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085850" y="5457825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828800" y="5286375"/>
            <a:ext cx="7000875" cy="400050"/>
            <a:chOff x="0" y="0"/>
            <a:chExt cx="9334500" cy="533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34500" cy="533400"/>
            </a:xfrm>
            <a:custGeom>
              <a:avLst/>
              <a:gdLst/>
              <a:ahLst/>
              <a:cxnLst/>
              <a:rect r="r" b="b" t="t" l="l"/>
              <a:pathLst>
                <a:path h="5334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3345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Líneas NO Homologadas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28800" y="5800725"/>
            <a:ext cx="6972300" cy="742950"/>
            <a:chOff x="0" y="0"/>
            <a:chExt cx="9296400" cy="990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96400" cy="990600"/>
            </a:xfrm>
            <a:custGeom>
              <a:avLst/>
              <a:gdLst/>
              <a:ahLst/>
              <a:cxnLst/>
              <a:rect r="r" b="b" t="t" l="l"/>
              <a:pathLst>
                <a:path h="9906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859" r="0" b="-13285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9296400" cy="10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Líneas sin certificación CONATEL = </a:t>
              </a:r>
              <a:r>
                <a:rPr lang="en-US" sz="1800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bloqueos, multas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y suspensiones de servicio sin previo aviso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00075" y="7115175"/>
            <a:ext cx="8372475" cy="1828800"/>
            <a:chOff x="0" y="0"/>
            <a:chExt cx="11163300" cy="2438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633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163300">
                  <a:moveTo>
                    <a:pt x="0" y="0"/>
                  </a:moveTo>
                  <a:lnTo>
                    <a:pt x="11010900" y="0"/>
                  </a:lnTo>
                  <a:cubicBezTo>
                    <a:pt x="11094974" y="0"/>
                    <a:pt x="11163300" y="68326"/>
                    <a:pt x="11163300" y="152400"/>
                  </a:cubicBezTo>
                  <a:lnTo>
                    <a:pt x="11163300" y="2286000"/>
                  </a:lnTo>
                  <a:cubicBezTo>
                    <a:pt x="11163300" y="2370074"/>
                    <a:pt x="11094974" y="2438400"/>
                    <a:pt x="11010900" y="2438400"/>
                  </a:cubicBez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00075" y="7115175"/>
            <a:ext cx="57150" cy="1828800"/>
            <a:chOff x="0" y="0"/>
            <a:chExt cx="76200" cy="2438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7400925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1064419" y="7572375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828800" y="7400925"/>
            <a:ext cx="7000875" cy="400050"/>
            <a:chOff x="0" y="0"/>
            <a:chExt cx="9334500" cy="533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34500" cy="533400"/>
            </a:xfrm>
            <a:custGeom>
              <a:avLst/>
              <a:gdLst/>
              <a:ahLst/>
              <a:cxnLst/>
              <a:rect r="r" b="b" t="t" l="l"/>
              <a:pathLst>
                <a:path h="5334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3345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Dependencia Absoluta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28800" y="7915275"/>
            <a:ext cx="6972300" cy="742950"/>
            <a:chOff x="0" y="0"/>
            <a:chExt cx="9296400" cy="990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96400" cy="990600"/>
            </a:xfrm>
            <a:custGeom>
              <a:avLst/>
              <a:gdLst/>
              <a:ahLst/>
              <a:cxnLst/>
              <a:rect r="r" b="b" t="t" l="l"/>
              <a:pathLst>
                <a:path h="9906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859" r="0" b="-13285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04775"/>
              <a:ext cx="9296400" cy="10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20.6M+ líneas activas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en Venezuela generan dependencia crítica de infraestructura extranjera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15450" y="2114550"/>
            <a:ext cx="8401050" cy="7600950"/>
            <a:chOff x="0" y="0"/>
            <a:chExt cx="11201400" cy="10134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01400" cy="10134600"/>
            </a:xfrm>
            <a:custGeom>
              <a:avLst/>
              <a:gdLst/>
              <a:ahLst/>
              <a:cxnLst/>
              <a:rect r="r" b="b" t="t" l="l"/>
              <a:pathLst>
                <a:path h="10134600" w="11201400">
                  <a:moveTo>
                    <a:pt x="228600" y="0"/>
                  </a:moveTo>
                  <a:lnTo>
                    <a:pt x="10972800" y="0"/>
                  </a:lnTo>
                  <a:cubicBezTo>
                    <a:pt x="11099038" y="0"/>
                    <a:pt x="11201400" y="102362"/>
                    <a:pt x="11201400" y="228600"/>
                  </a:cubicBezTo>
                  <a:lnTo>
                    <a:pt x="11201400" y="9906000"/>
                  </a:lnTo>
                  <a:cubicBezTo>
                    <a:pt x="11201400" y="10032238"/>
                    <a:pt x="11099038" y="10134600"/>
                    <a:pt x="10972800" y="10134600"/>
                  </a:cubicBezTo>
                  <a:lnTo>
                    <a:pt x="228600" y="10134600"/>
                  </a:lnTo>
                  <a:cubicBezTo>
                    <a:pt x="102362" y="10134600"/>
                    <a:pt x="0" y="10032238"/>
                    <a:pt x="0" y="9906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29762" y="2400300"/>
            <a:ext cx="7972425" cy="400050"/>
            <a:chOff x="0" y="0"/>
            <a:chExt cx="10629900" cy="533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6299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629900">
                  <a:moveTo>
                    <a:pt x="0" y="0"/>
                  </a:moveTo>
                  <a:lnTo>
                    <a:pt x="10629900" y="0"/>
                  </a:lnTo>
                  <a:lnTo>
                    <a:pt x="10629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8308" r="0" b="-33830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106299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Mercado de Telefonía Móvil Venezuela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1200" y="3028950"/>
            <a:ext cx="7829550" cy="4572000"/>
            <a:chOff x="0" y="0"/>
            <a:chExt cx="10439400" cy="6096000"/>
          </a:xfrm>
        </p:grpSpPr>
        <p:sp>
          <p:nvSpPr>
            <p:cNvPr name="Freeform 55" id="55" descr="https://kimi-img.moonshot.cn/pub/slides/26-03-18-11:20:44-d6t1k35qip67sdovn9e0.png"/>
            <p:cNvSpPr/>
            <p:nvPr/>
          </p:nvSpPr>
          <p:spPr>
            <a:xfrm flipH="false" flipV="false" rot="0">
              <a:off x="0" y="0"/>
              <a:ext cx="104394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551194" y="7772400"/>
            <a:ext cx="7929562" cy="285750"/>
            <a:chOff x="0" y="0"/>
            <a:chExt cx="10572750" cy="381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572750" cy="381000"/>
            </a:xfrm>
            <a:custGeom>
              <a:avLst/>
              <a:gdLst/>
              <a:ahLst/>
              <a:cxnLst/>
              <a:rect r="r" b="b" t="t" l="l"/>
              <a:pathLst>
                <a:path h="381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0709" r="0" b="-49070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5727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Fuente: CONATEL, diciembre 2024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4295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571500"/>
            <a:ext cx="6086475" cy="342900"/>
            <a:chOff x="0" y="0"/>
            <a:chExt cx="81153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15300" cy="457200"/>
            </a:xfrm>
            <a:custGeom>
              <a:avLst/>
              <a:gdLst/>
              <a:ahLst/>
              <a:cxnLst/>
              <a:rect r="r" b="b" t="t" l="l"/>
              <a:pathLst>
                <a:path h="457200" w="8115300">
                  <a:moveTo>
                    <a:pt x="0" y="0"/>
                  </a:moveTo>
                  <a:lnTo>
                    <a:pt x="8115300" y="0"/>
                  </a:lnTo>
                  <a:lnTo>
                    <a:pt x="81153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81153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PROBLEMA 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914400"/>
            <a:ext cx="6315075" cy="685800"/>
            <a:chOff x="0" y="0"/>
            <a:chExt cx="84201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20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420100">
                  <a:moveTo>
                    <a:pt x="0" y="0"/>
                  </a:moveTo>
                  <a:lnTo>
                    <a:pt x="8420100" y="0"/>
                  </a:lnTo>
                  <a:lnTo>
                    <a:pt x="84201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24" r="0" b="-12942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84201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Sistemas Aislados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2114550"/>
            <a:ext cx="9244012" cy="7600950"/>
            <a:chOff x="0" y="0"/>
            <a:chExt cx="12325350" cy="1013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25350" cy="10134600"/>
            </a:xfrm>
            <a:custGeom>
              <a:avLst/>
              <a:gdLst/>
              <a:ahLst/>
              <a:cxnLst/>
              <a:rect r="r" b="b" t="t" l="l"/>
              <a:pathLst>
                <a:path h="10134600" w="12325350">
                  <a:moveTo>
                    <a:pt x="228600" y="0"/>
                  </a:moveTo>
                  <a:lnTo>
                    <a:pt x="12096750" y="0"/>
                  </a:lnTo>
                  <a:cubicBezTo>
                    <a:pt x="12222988" y="0"/>
                    <a:pt x="12325350" y="102362"/>
                    <a:pt x="12325350" y="228600"/>
                  </a:cubicBezTo>
                  <a:lnTo>
                    <a:pt x="12325350" y="9906000"/>
                  </a:lnTo>
                  <a:cubicBezTo>
                    <a:pt x="12325350" y="10032238"/>
                    <a:pt x="12222988" y="10134600"/>
                    <a:pt x="12096750" y="10134600"/>
                  </a:cubicBezTo>
                  <a:lnTo>
                    <a:pt x="228600" y="10134600"/>
                  </a:lnTo>
                  <a:cubicBezTo>
                    <a:pt x="102362" y="10134600"/>
                    <a:pt x="0" y="10032238"/>
                    <a:pt x="0" y="9906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8675" y="2457450"/>
            <a:ext cx="8729662" cy="457200"/>
            <a:chOff x="0" y="0"/>
            <a:chExt cx="1163955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39550" cy="609600"/>
            </a:xfrm>
            <a:custGeom>
              <a:avLst/>
              <a:gdLst/>
              <a:ahLst/>
              <a:cxnLst/>
              <a:rect r="r" b="b" t="t" l="l"/>
              <a:pathLst>
                <a:path h="609600" w="11639550">
                  <a:moveTo>
                    <a:pt x="0" y="0"/>
                  </a:moveTo>
                  <a:lnTo>
                    <a:pt x="11639550" y="0"/>
                  </a:lnTo>
                  <a:lnTo>
                    <a:pt x="116395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042" r="0" b="-32204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6395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Fragmentación de Sistemas Empresariales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200219"/>
            <a:ext cx="8558212" cy="6172200"/>
            <a:chOff x="0" y="0"/>
            <a:chExt cx="11410950" cy="8229600"/>
          </a:xfrm>
        </p:grpSpPr>
        <p:sp>
          <p:nvSpPr>
            <p:cNvPr name="Freeform 16" id="16" descr="https://kimi-img.moonshot.cn/pub/slides/26-03-18-11:20:48-d6t1k47vg7e2bv0d8h20.png"/>
            <p:cNvSpPr/>
            <p:nvPr/>
          </p:nvSpPr>
          <p:spPr>
            <a:xfrm flipH="false" flipV="false" rot="0">
              <a:off x="0" y="0"/>
              <a:ext cx="11410950" cy="8229600"/>
            </a:xfrm>
            <a:custGeom>
              <a:avLst/>
              <a:gdLst/>
              <a:ahLst/>
              <a:cxnLst/>
              <a:rect r="r" b="b" t="t" l="l"/>
              <a:pathLst>
                <a:path h="8229600" w="11410950">
                  <a:moveTo>
                    <a:pt x="0" y="0"/>
                  </a:moveTo>
                  <a:lnTo>
                    <a:pt x="11410950" y="0"/>
                  </a:lnTo>
                  <a:lnTo>
                    <a:pt x="11410950" y="8229600"/>
                  </a:lnTo>
                  <a:lnTo>
                    <a:pt x="0" y="822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" r="0" b="-5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186988" y="2360295"/>
            <a:ext cx="7529512" cy="2057400"/>
            <a:chOff x="0" y="0"/>
            <a:chExt cx="10039350" cy="274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3935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039350">
                  <a:moveTo>
                    <a:pt x="0" y="0"/>
                  </a:moveTo>
                  <a:lnTo>
                    <a:pt x="9886950" y="0"/>
                  </a:lnTo>
                  <a:cubicBezTo>
                    <a:pt x="9971151" y="0"/>
                    <a:pt x="10039350" y="68199"/>
                    <a:pt x="10039350" y="152400"/>
                  </a:cubicBezTo>
                  <a:lnTo>
                    <a:pt x="10039350" y="2590800"/>
                  </a:lnTo>
                  <a:cubicBezTo>
                    <a:pt x="10039350" y="2675001"/>
                    <a:pt x="9971151" y="2743200"/>
                    <a:pt x="9886950" y="2743200"/>
                  </a:cubicBez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186988" y="2360295"/>
            <a:ext cx="57150" cy="2057400"/>
            <a:chOff x="0" y="0"/>
            <a:chExt cx="76200" cy="274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501312" y="2646045"/>
            <a:ext cx="571500" cy="571500"/>
            <a:chOff x="0" y="0"/>
            <a:chExt cx="762000" cy="76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563463" y="2731770"/>
            <a:ext cx="585788" cy="400050"/>
            <a:chOff x="0" y="0"/>
            <a:chExt cx="781050" cy="533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1050" cy="533400"/>
            </a:xfrm>
            <a:custGeom>
              <a:avLst/>
              <a:gdLst/>
              <a:ahLst/>
              <a:cxnLst/>
              <a:rect r="r" b="b" t="t" l="l"/>
              <a:pathLst>
                <a:path h="5334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621" t="0" r="-3762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7810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5-7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44262" y="2731770"/>
            <a:ext cx="2857500" cy="400050"/>
            <a:chOff x="0" y="0"/>
            <a:chExt cx="3810000" cy="533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38100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Plataformas Aisladas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01312" y="3388995"/>
            <a:ext cx="7043738" cy="742950"/>
            <a:chOff x="0" y="0"/>
            <a:chExt cx="9391650" cy="990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91650" cy="990600"/>
            </a:xfrm>
            <a:custGeom>
              <a:avLst/>
              <a:gdLst/>
              <a:ahLst/>
              <a:cxnLst/>
              <a:rect r="r" b="b" t="t" l="l"/>
              <a:pathLst>
                <a:path h="990600" w="9391650">
                  <a:moveTo>
                    <a:pt x="0" y="0"/>
                  </a:moveTo>
                  <a:lnTo>
                    <a:pt x="9391650" y="0"/>
                  </a:lnTo>
                  <a:lnTo>
                    <a:pt x="93916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733" r="0" b="-13473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9391650" cy="10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Las empresas utilizan entre </a:t>
              </a:r>
              <a:r>
                <a:rPr lang="en-US" sz="1800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 y 7 plataformas diferentes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que no se comunican entre sí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58412" y="4646295"/>
            <a:ext cx="7558088" cy="2743200"/>
            <a:chOff x="0" y="0"/>
            <a:chExt cx="10077450" cy="3657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7745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077450">
                  <a:moveTo>
                    <a:pt x="152400" y="0"/>
                  </a:moveTo>
                  <a:lnTo>
                    <a:pt x="9925050" y="0"/>
                  </a:lnTo>
                  <a:cubicBezTo>
                    <a:pt x="10009251" y="0"/>
                    <a:pt x="10077450" y="68199"/>
                    <a:pt x="10077450" y="152400"/>
                  </a:cubicBezTo>
                  <a:lnTo>
                    <a:pt x="10077450" y="3505200"/>
                  </a:lnTo>
                  <a:cubicBezTo>
                    <a:pt x="10077450" y="3589401"/>
                    <a:pt x="10009251" y="3657600"/>
                    <a:pt x="9925050" y="3657600"/>
                  </a:cubicBezTo>
                  <a:lnTo>
                    <a:pt x="152400" y="3657600"/>
                  </a:lnTo>
                  <a:cubicBezTo>
                    <a:pt x="68199" y="3657600"/>
                    <a:pt x="0" y="3589401"/>
                    <a:pt x="0" y="3505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387012" y="4874895"/>
            <a:ext cx="2286000" cy="1085850"/>
            <a:chOff x="0" y="0"/>
            <a:chExt cx="3048000" cy="1447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480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674" y="0"/>
                    <a:pt x="3048000" y="68326"/>
                    <a:pt x="3048000" y="152400"/>
                  </a:cubicBezTo>
                  <a:lnTo>
                    <a:pt x="3048000" y="1295400"/>
                  </a:lnTo>
                  <a:cubicBezTo>
                    <a:pt x="3048000" y="1379474"/>
                    <a:pt x="2979674" y="1447800"/>
                    <a:pt x="28956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1403749" y="5046345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508456" y="5503545"/>
            <a:ext cx="2043112" cy="285750"/>
            <a:chOff x="0" y="0"/>
            <a:chExt cx="2724150" cy="381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24150" cy="381000"/>
            </a:xfrm>
            <a:custGeom>
              <a:avLst/>
              <a:gdLst/>
              <a:ahLst/>
              <a:cxnLst/>
              <a:rect r="r" b="b" t="t" l="l"/>
              <a:pathLst>
                <a:path h="38100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318" r="0" b="-8931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724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Contabilidad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791961" y="4874895"/>
            <a:ext cx="2286000" cy="1085850"/>
            <a:chOff x="0" y="0"/>
            <a:chExt cx="3048000" cy="1447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480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674" y="0"/>
                    <a:pt x="3048000" y="68326"/>
                    <a:pt x="3048000" y="152400"/>
                  </a:cubicBezTo>
                  <a:lnTo>
                    <a:pt x="3048000" y="1295400"/>
                  </a:lnTo>
                  <a:cubicBezTo>
                    <a:pt x="3048000" y="1379474"/>
                    <a:pt x="2979674" y="1447800"/>
                    <a:pt x="28956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13808688" y="5046345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2913395" y="5503545"/>
            <a:ext cx="2043112" cy="285750"/>
            <a:chOff x="0" y="0"/>
            <a:chExt cx="2724150" cy="381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24150" cy="381000"/>
            </a:xfrm>
            <a:custGeom>
              <a:avLst/>
              <a:gdLst/>
              <a:ahLst/>
              <a:cxnLst/>
              <a:rect r="r" b="b" t="t" l="l"/>
              <a:pathLst>
                <a:path h="38100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318" r="0" b="-8931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724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Facturación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197080" y="4874895"/>
            <a:ext cx="2286000" cy="1085850"/>
            <a:chOff x="0" y="0"/>
            <a:chExt cx="3048000" cy="1447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480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674" y="0"/>
                    <a:pt x="3048000" y="68326"/>
                    <a:pt x="3048000" y="152400"/>
                  </a:cubicBezTo>
                  <a:lnTo>
                    <a:pt x="3048000" y="1295400"/>
                  </a:lnTo>
                  <a:cubicBezTo>
                    <a:pt x="3048000" y="1379474"/>
                    <a:pt x="2979674" y="1447800"/>
                    <a:pt x="28956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6128092" y="5046345"/>
            <a:ext cx="428625" cy="342900"/>
          </a:xfrm>
          <a:custGeom>
            <a:avLst/>
            <a:gdLst/>
            <a:ahLst/>
            <a:cxnLst/>
            <a:rect r="r" b="b" t="t" l="l"/>
            <a:pathLst>
              <a:path h="342900" w="428625">
                <a:moveTo>
                  <a:pt x="0" y="0"/>
                </a:moveTo>
                <a:lnTo>
                  <a:pt x="428625" y="0"/>
                </a:lnTo>
                <a:lnTo>
                  <a:pt x="4286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5318524" y="5503545"/>
            <a:ext cx="2043112" cy="285750"/>
            <a:chOff x="0" y="0"/>
            <a:chExt cx="2724150" cy="381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24150" cy="381000"/>
            </a:xfrm>
            <a:custGeom>
              <a:avLst/>
              <a:gdLst/>
              <a:ahLst/>
              <a:cxnLst/>
              <a:rect r="r" b="b" t="t" l="l"/>
              <a:pathLst>
                <a:path h="38100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318" r="0" b="-8931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724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Nómina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387012" y="6075045"/>
            <a:ext cx="2286000" cy="1085850"/>
            <a:chOff x="0" y="0"/>
            <a:chExt cx="3048000" cy="1447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480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674" y="0"/>
                    <a:pt x="3048000" y="68326"/>
                    <a:pt x="3048000" y="152400"/>
                  </a:cubicBezTo>
                  <a:lnTo>
                    <a:pt x="3048000" y="1295400"/>
                  </a:lnTo>
                  <a:cubicBezTo>
                    <a:pt x="3048000" y="1379474"/>
                    <a:pt x="2979674" y="1447800"/>
                    <a:pt x="28956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11318024" y="6246495"/>
            <a:ext cx="428625" cy="342900"/>
          </a:xfrm>
          <a:custGeom>
            <a:avLst/>
            <a:gdLst/>
            <a:ahLst/>
            <a:cxnLst/>
            <a:rect r="r" b="b" t="t" l="l"/>
            <a:pathLst>
              <a:path h="342900" w="428625">
                <a:moveTo>
                  <a:pt x="0" y="0"/>
                </a:moveTo>
                <a:lnTo>
                  <a:pt x="428625" y="0"/>
                </a:lnTo>
                <a:lnTo>
                  <a:pt x="4286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0508456" y="6703695"/>
            <a:ext cx="2043112" cy="285750"/>
            <a:chOff x="0" y="0"/>
            <a:chExt cx="2724150" cy="381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24150" cy="381000"/>
            </a:xfrm>
            <a:custGeom>
              <a:avLst/>
              <a:gdLst/>
              <a:ahLst/>
              <a:cxnLst/>
              <a:rect r="r" b="b" t="t" l="l"/>
              <a:pathLst>
                <a:path h="38100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318" r="0" b="-8931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724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Legal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791961" y="6075045"/>
            <a:ext cx="2286000" cy="1085850"/>
            <a:chOff x="0" y="0"/>
            <a:chExt cx="3048000" cy="1447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480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674" y="0"/>
                    <a:pt x="3048000" y="68326"/>
                    <a:pt x="3048000" y="152400"/>
                  </a:cubicBezTo>
                  <a:lnTo>
                    <a:pt x="3048000" y="1295400"/>
                  </a:lnTo>
                  <a:cubicBezTo>
                    <a:pt x="3048000" y="1379474"/>
                    <a:pt x="2979674" y="1447800"/>
                    <a:pt x="28956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0">
            <a:off x="13744394" y="6246495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3" y="0"/>
                </a:lnTo>
                <a:lnTo>
                  <a:pt x="385763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2913395" y="6703695"/>
            <a:ext cx="2043112" cy="285750"/>
            <a:chOff x="0" y="0"/>
            <a:chExt cx="2724150" cy="381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24150" cy="381000"/>
            </a:xfrm>
            <a:custGeom>
              <a:avLst/>
              <a:gdLst/>
              <a:ahLst/>
              <a:cxnLst/>
              <a:rect r="r" b="b" t="t" l="l"/>
              <a:pathLst>
                <a:path h="38100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318" r="0" b="-8931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724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Inventario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197080" y="6075045"/>
            <a:ext cx="2286000" cy="1085850"/>
            <a:chOff x="0" y="0"/>
            <a:chExt cx="3048000" cy="1447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0480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0">
                  <a:moveTo>
                    <a:pt x="152400" y="0"/>
                  </a:moveTo>
                  <a:lnTo>
                    <a:pt x="2895600" y="0"/>
                  </a:lnTo>
                  <a:cubicBezTo>
                    <a:pt x="2979674" y="0"/>
                    <a:pt x="3048000" y="68326"/>
                    <a:pt x="3048000" y="152400"/>
                  </a:cubicBezTo>
                  <a:lnTo>
                    <a:pt x="3048000" y="1295400"/>
                  </a:lnTo>
                  <a:cubicBezTo>
                    <a:pt x="3048000" y="1379474"/>
                    <a:pt x="2979674" y="1447800"/>
                    <a:pt x="28956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16170954" y="6246495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5318524" y="6703695"/>
            <a:ext cx="2043112" cy="285750"/>
            <a:chOff x="0" y="0"/>
            <a:chExt cx="2724150" cy="381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724150" cy="381000"/>
            </a:xfrm>
            <a:custGeom>
              <a:avLst/>
              <a:gdLst/>
              <a:ahLst/>
              <a:cxnLst/>
              <a:rect r="r" b="b" t="t" l="l"/>
              <a:pathLst>
                <a:path h="38100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318" r="0" b="-8931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2724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Reportes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10156507" y="7616190"/>
            <a:ext cx="7556182" cy="1855470"/>
          </a:xfrm>
          <a:custGeom>
            <a:avLst/>
            <a:gdLst/>
            <a:ahLst/>
            <a:cxnLst/>
            <a:rect r="r" b="b" t="t" l="l"/>
            <a:pathLst>
              <a:path h="1855470" w="7556182">
                <a:moveTo>
                  <a:pt x="0" y="0"/>
                </a:moveTo>
                <a:lnTo>
                  <a:pt x="7556183" y="0"/>
                </a:lnTo>
                <a:lnTo>
                  <a:pt x="7556183" y="1855470"/>
                </a:lnTo>
                <a:lnTo>
                  <a:pt x="0" y="18554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0427018" y="797242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0849394" y="7915275"/>
            <a:ext cx="6700838" cy="400050"/>
            <a:chOff x="0" y="0"/>
            <a:chExt cx="8934450" cy="533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934450" cy="533400"/>
            </a:xfrm>
            <a:custGeom>
              <a:avLst/>
              <a:gdLst/>
              <a:ahLst/>
              <a:cxnLst/>
              <a:rect r="r" b="b" t="t" l="l"/>
              <a:pathLst>
                <a:path h="533400" w="8934450">
                  <a:moveTo>
                    <a:pt x="0" y="0"/>
                  </a:moveTo>
                  <a:lnTo>
                    <a:pt x="8934450" y="0"/>
                  </a:lnTo>
                  <a:lnTo>
                    <a:pt x="89344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6374" r="0" b="-27637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76200"/>
              <a:ext cx="89344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Impacto del Problema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849394" y="8429625"/>
            <a:ext cx="6686550" cy="742950"/>
            <a:chOff x="0" y="0"/>
            <a:chExt cx="8915400" cy="990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915400" cy="990600"/>
            </a:xfrm>
            <a:custGeom>
              <a:avLst/>
              <a:gdLst/>
              <a:ahLst/>
              <a:cxnLst/>
              <a:rect r="r" b="b" t="t" l="l"/>
              <a:pathLst>
                <a:path h="990600" w="8915400">
                  <a:moveTo>
                    <a:pt x="0" y="0"/>
                  </a:moveTo>
                  <a:lnTo>
                    <a:pt x="8915400" y="0"/>
                  </a:lnTo>
                  <a:lnTo>
                    <a:pt x="89154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04775"/>
              <a:ext cx="8915400" cy="10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Duplicidad de esfuerzos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, errores costosos, pérdida de tiempo y datos inconsistentes entre departamentos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4295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571500"/>
            <a:ext cx="9444038" cy="342900"/>
            <a:chOff x="0" y="0"/>
            <a:chExt cx="1259205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92050" cy="457200"/>
            </a:xfrm>
            <a:custGeom>
              <a:avLst/>
              <a:gdLst/>
              <a:ahLst/>
              <a:cxnLst/>
              <a:rect r="r" b="b" t="t" l="l"/>
              <a:pathLst>
                <a:path h="457200" w="12592050">
                  <a:moveTo>
                    <a:pt x="0" y="0"/>
                  </a:moveTo>
                  <a:lnTo>
                    <a:pt x="12592050" y="0"/>
                  </a:lnTo>
                  <a:lnTo>
                    <a:pt x="125920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6650" r="0" b="-4866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259205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PROBLEMA 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914400"/>
            <a:ext cx="9672638" cy="685800"/>
            <a:chOff x="0" y="0"/>
            <a:chExt cx="1289685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9685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96850">
                  <a:moveTo>
                    <a:pt x="0" y="0"/>
                  </a:moveTo>
                  <a:lnTo>
                    <a:pt x="12896850" y="0"/>
                  </a:lnTo>
                  <a:lnTo>
                    <a:pt x="128968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820" r="0" b="-2248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1289685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Riesgo Regulatorio Extremo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2114550"/>
            <a:ext cx="5529262" cy="5457825"/>
            <a:chOff x="0" y="0"/>
            <a:chExt cx="7372350" cy="727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72350" cy="7277100"/>
            </a:xfrm>
            <a:custGeom>
              <a:avLst/>
              <a:gdLst/>
              <a:ahLst/>
              <a:cxnLst/>
              <a:rect r="r" b="b" t="t" l="l"/>
              <a:pathLst>
                <a:path h="7277100" w="7372350">
                  <a:moveTo>
                    <a:pt x="2286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7048500"/>
                  </a:lnTo>
                  <a:cubicBezTo>
                    <a:pt x="7372350" y="7174738"/>
                    <a:pt x="7269988" y="7277100"/>
                    <a:pt x="7143750" y="7277100"/>
                  </a:cubicBezTo>
                  <a:lnTo>
                    <a:pt x="228600" y="7277100"/>
                  </a:lnTo>
                  <a:cubicBezTo>
                    <a:pt x="102489" y="7277100"/>
                    <a:pt x="0" y="7174738"/>
                    <a:pt x="0" y="70485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457450"/>
            <a:ext cx="800100" cy="800100"/>
            <a:chOff x="0" y="0"/>
            <a:chExt cx="1066800" cy="1066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3709" y="2643188"/>
            <a:ext cx="428625" cy="428625"/>
            <a:chOff x="0" y="0"/>
            <a:chExt cx="571500" cy="571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85950" y="2628900"/>
            <a:ext cx="3157538" cy="457200"/>
            <a:chOff x="0" y="0"/>
            <a:chExt cx="421005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1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210050">
                  <a:moveTo>
                    <a:pt x="0" y="0"/>
                  </a:moveTo>
                  <a:lnTo>
                    <a:pt x="4210050" y="0"/>
                  </a:lnTo>
                  <a:lnTo>
                    <a:pt x="42100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68" r="0" b="-845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2100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Pérdida de Tiempo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16160" y="3965496"/>
            <a:ext cx="2943225" cy="1028700"/>
            <a:chOff x="0" y="0"/>
            <a:chExt cx="39243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243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48" r="0" b="-574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61925"/>
              <a:ext cx="392430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134h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0106" y="5165646"/>
            <a:ext cx="4972050" cy="842962"/>
            <a:chOff x="0" y="0"/>
            <a:chExt cx="6629400" cy="11239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294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123950"/>
                  </a:lnTo>
                  <a:lnTo>
                    <a:pt x="0" y="1123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28" r="0" b="-6492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66294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01"/>
                </a:lnSpc>
              </a:pPr>
              <a:r>
                <a:rPr lang="en-US" sz="202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horas por año en papeleo tributario y cumplimiento normativo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6715125"/>
            <a:ext cx="4843462" cy="11430"/>
            <a:chOff x="0" y="0"/>
            <a:chExt cx="6457950" cy="15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57950" cy="15240"/>
            </a:xfrm>
            <a:custGeom>
              <a:avLst/>
              <a:gdLst/>
              <a:ahLst/>
              <a:cxnLst/>
              <a:rect r="r" b="b" t="t" l="l"/>
              <a:pathLst>
                <a:path h="15240" w="6457950">
                  <a:moveTo>
                    <a:pt x="0" y="0"/>
                  </a:moveTo>
                  <a:lnTo>
                    <a:pt x="6457950" y="0"/>
                  </a:lnTo>
                  <a:lnTo>
                    <a:pt x="6457950" y="15240"/>
                  </a:lnTo>
                  <a:lnTo>
                    <a:pt x="0" y="15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64394" y="6949440"/>
            <a:ext cx="4943475" cy="285750"/>
            <a:chOff x="0" y="0"/>
            <a:chExt cx="6591300" cy="381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91300" cy="381000"/>
            </a:xfrm>
            <a:custGeom>
              <a:avLst/>
              <a:gdLst/>
              <a:ahLst/>
              <a:cxnLst/>
              <a:rect r="r" b="b" t="t" l="l"/>
              <a:pathLst>
                <a:path h="381000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091" r="0" b="-28709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591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Fuente: OCDE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81693" y="2114550"/>
            <a:ext cx="5529262" cy="5457825"/>
            <a:chOff x="0" y="0"/>
            <a:chExt cx="7372350" cy="7277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72350" cy="7277100"/>
            </a:xfrm>
            <a:custGeom>
              <a:avLst/>
              <a:gdLst/>
              <a:ahLst/>
              <a:cxnLst/>
              <a:rect r="r" b="b" t="t" l="l"/>
              <a:pathLst>
                <a:path h="7277100" w="7372350">
                  <a:moveTo>
                    <a:pt x="2286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7048500"/>
                  </a:lnTo>
                  <a:cubicBezTo>
                    <a:pt x="7372350" y="7174738"/>
                    <a:pt x="7269988" y="7277100"/>
                    <a:pt x="7143750" y="7277100"/>
                  </a:cubicBezTo>
                  <a:lnTo>
                    <a:pt x="228600" y="7277100"/>
                  </a:lnTo>
                  <a:cubicBezTo>
                    <a:pt x="102489" y="7277100"/>
                    <a:pt x="0" y="7174738"/>
                    <a:pt x="0" y="70485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24593" y="2457450"/>
            <a:ext cx="800100" cy="800100"/>
            <a:chOff x="0" y="0"/>
            <a:chExt cx="1066800" cy="1066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DC2626">
                <a:alpha val="3922"/>
              </a:srgbClr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6887108" y="2643188"/>
            <a:ext cx="482203" cy="428625"/>
          </a:xfrm>
          <a:custGeom>
            <a:avLst/>
            <a:gdLst/>
            <a:ahLst/>
            <a:cxnLst/>
            <a:rect r="r" b="b" t="t" l="l"/>
            <a:pathLst>
              <a:path h="428625" w="482203">
                <a:moveTo>
                  <a:pt x="0" y="0"/>
                </a:moveTo>
                <a:lnTo>
                  <a:pt x="482204" y="0"/>
                </a:lnTo>
                <a:lnTo>
                  <a:pt x="482204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7696143" y="2628900"/>
            <a:ext cx="2557462" cy="457200"/>
            <a:chOff x="0" y="0"/>
            <a:chExt cx="340995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09950" cy="609600"/>
            </a:xfrm>
            <a:custGeom>
              <a:avLst/>
              <a:gdLst/>
              <a:ahLst/>
              <a:cxnLst/>
              <a:rect r="r" b="b" t="t" l="l"/>
              <a:pathLst>
                <a:path h="6096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994" r="0" b="-589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4099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Multas Severas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48969" y="3965496"/>
            <a:ext cx="3900488" cy="1028700"/>
            <a:chOff x="0" y="0"/>
            <a:chExt cx="520065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006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200650">
                  <a:moveTo>
                    <a:pt x="0" y="0"/>
                  </a:moveTo>
                  <a:lnTo>
                    <a:pt x="5200650" y="0"/>
                  </a:lnTo>
                  <a:lnTo>
                    <a:pt x="520065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80" r="0" b="-238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61925"/>
              <a:ext cx="520065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b="true">
                  <a:solidFill>
                    <a:srgbClr val="DC26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1.000x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60299" y="5165646"/>
            <a:ext cx="4972050" cy="842962"/>
            <a:chOff x="0" y="0"/>
            <a:chExt cx="6629400" cy="11239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294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123950"/>
                  </a:lnTo>
                  <a:lnTo>
                    <a:pt x="0" y="1123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28" r="0" b="-6492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66294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01"/>
                </a:lnSpc>
              </a:pPr>
              <a:r>
                <a:rPr lang="en-US" sz="202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tipo de cambio oficial del BCV por incumplimientos fiscales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724593" y="6715125"/>
            <a:ext cx="4843462" cy="11430"/>
            <a:chOff x="0" y="0"/>
            <a:chExt cx="6457950" cy="152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57950" cy="15240"/>
            </a:xfrm>
            <a:custGeom>
              <a:avLst/>
              <a:gdLst/>
              <a:ahLst/>
              <a:cxnLst/>
              <a:rect r="r" b="b" t="t" l="l"/>
              <a:pathLst>
                <a:path h="15240" w="6457950">
                  <a:moveTo>
                    <a:pt x="0" y="0"/>
                  </a:moveTo>
                  <a:lnTo>
                    <a:pt x="6457950" y="0"/>
                  </a:lnTo>
                  <a:lnTo>
                    <a:pt x="6457950" y="15240"/>
                  </a:lnTo>
                  <a:lnTo>
                    <a:pt x="0" y="15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674587" y="6949440"/>
            <a:ext cx="4943475" cy="285750"/>
            <a:chOff x="0" y="0"/>
            <a:chExt cx="6591300" cy="381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91300" cy="381000"/>
            </a:xfrm>
            <a:custGeom>
              <a:avLst/>
              <a:gdLst/>
              <a:ahLst/>
              <a:cxnLst/>
              <a:rect r="r" b="b" t="t" l="l"/>
              <a:pathLst>
                <a:path h="381000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091" r="0" b="-28709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591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Fuente: SENIAT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191886" y="2114550"/>
            <a:ext cx="5529262" cy="5457825"/>
            <a:chOff x="0" y="0"/>
            <a:chExt cx="7372350" cy="72771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72350" cy="7277100"/>
            </a:xfrm>
            <a:custGeom>
              <a:avLst/>
              <a:gdLst/>
              <a:ahLst/>
              <a:cxnLst/>
              <a:rect r="r" b="b" t="t" l="l"/>
              <a:pathLst>
                <a:path h="7277100" w="7372350">
                  <a:moveTo>
                    <a:pt x="2286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7048500"/>
                  </a:lnTo>
                  <a:cubicBezTo>
                    <a:pt x="7372350" y="7174738"/>
                    <a:pt x="7269988" y="7277100"/>
                    <a:pt x="7143750" y="7277100"/>
                  </a:cubicBezTo>
                  <a:lnTo>
                    <a:pt x="228600" y="7277100"/>
                  </a:lnTo>
                  <a:cubicBezTo>
                    <a:pt x="102489" y="7277100"/>
                    <a:pt x="0" y="7174738"/>
                    <a:pt x="0" y="70485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534786" y="2457450"/>
            <a:ext cx="800100" cy="800100"/>
            <a:chOff x="0" y="0"/>
            <a:chExt cx="1066800" cy="1066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2724095" y="264318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3506336" y="2628900"/>
            <a:ext cx="3871912" cy="457200"/>
            <a:chOff x="0" y="0"/>
            <a:chExt cx="516255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62550" cy="609600"/>
            </a:xfrm>
            <a:custGeom>
              <a:avLst/>
              <a:gdLst/>
              <a:ahLst/>
              <a:cxnLst/>
              <a:rect r="r" b="b" t="t" l="l"/>
              <a:pathLst>
                <a:path h="609600" w="5162550">
                  <a:moveTo>
                    <a:pt x="0" y="0"/>
                  </a:moveTo>
                  <a:lnTo>
                    <a:pt x="5162550" y="0"/>
                  </a:lnTo>
                  <a:lnTo>
                    <a:pt x="51625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013" r="0" b="-11501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51625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Incumplimiento Laboral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919235" y="3965496"/>
            <a:ext cx="2586038" cy="1028700"/>
            <a:chOff x="0" y="0"/>
            <a:chExt cx="3448050" cy="1371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480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37" t="0" r="-103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161925"/>
              <a:ext cx="344805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61%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470482" y="5165646"/>
            <a:ext cx="4972050" cy="842962"/>
            <a:chOff x="0" y="0"/>
            <a:chExt cx="6629400" cy="11239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6294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123950"/>
                  </a:lnTo>
                  <a:lnTo>
                    <a:pt x="0" y="1123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28" r="0" b="-6492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04775"/>
              <a:ext cx="66294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01"/>
                </a:lnSpc>
              </a:pPr>
              <a:r>
                <a:rPr lang="en-US" sz="202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de empresas incumple la normativa laboral vigente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534786" y="6715125"/>
            <a:ext cx="4843462" cy="11430"/>
            <a:chOff x="0" y="0"/>
            <a:chExt cx="6457950" cy="152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457950" cy="15240"/>
            </a:xfrm>
            <a:custGeom>
              <a:avLst/>
              <a:gdLst/>
              <a:ahLst/>
              <a:cxnLst/>
              <a:rect r="r" b="b" t="t" l="l"/>
              <a:pathLst>
                <a:path h="15240" w="6457950">
                  <a:moveTo>
                    <a:pt x="0" y="0"/>
                  </a:moveTo>
                  <a:lnTo>
                    <a:pt x="6457950" y="0"/>
                  </a:lnTo>
                  <a:lnTo>
                    <a:pt x="6457950" y="15240"/>
                  </a:lnTo>
                  <a:lnTo>
                    <a:pt x="0" y="15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484770" y="6949440"/>
            <a:ext cx="4943475" cy="285750"/>
            <a:chOff x="0" y="0"/>
            <a:chExt cx="6591300" cy="381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91300" cy="381000"/>
            </a:xfrm>
            <a:custGeom>
              <a:avLst/>
              <a:gdLst/>
              <a:ahLst/>
              <a:cxnLst/>
              <a:rect r="r" b="b" t="t" l="l"/>
              <a:pathLst>
                <a:path h="381000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091" r="0" b="-28709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591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Fuente: MINPPTRASS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569595" y="7861935"/>
            <a:ext cx="17143095" cy="1855470"/>
          </a:xfrm>
          <a:custGeom>
            <a:avLst/>
            <a:gdLst/>
            <a:ahLst/>
            <a:cxnLst/>
            <a:rect r="r" b="b" t="t" l="l"/>
            <a:pathLst>
              <a:path h="1855470" w="17143095">
                <a:moveTo>
                  <a:pt x="0" y="0"/>
                </a:moveTo>
                <a:lnTo>
                  <a:pt x="17143095" y="0"/>
                </a:lnTo>
                <a:lnTo>
                  <a:pt x="17143095" y="1855470"/>
                </a:lnTo>
                <a:lnTo>
                  <a:pt x="0" y="18554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875824" y="8575357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533411" y="8161020"/>
            <a:ext cx="16030575" cy="400050"/>
            <a:chOff x="0" y="0"/>
            <a:chExt cx="21374100" cy="533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374100" cy="533400"/>
            </a:xfrm>
            <a:custGeom>
              <a:avLst/>
              <a:gdLst/>
              <a:ahLst/>
              <a:cxnLst/>
              <a:rect r="r" b="b" t="t" l="l"/>
              <a:pathLst>
                <a:path h="533400" w="21374100">
                  <a:moveTo>
                    <a:pt x="0" y="0"/>
                  </a:moveTo>
                  <a:lnTo>
                    <a:pt x="21374100" y="0"/>
                  </a:lnTo>
                  <a:lnTo>
                    <a:pt x="21374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0793" r="0" b="-73079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213741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El Costo Real del Riesgo Regulatorio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33411" y="8675370"/>
            <a:ext cx="16002000" cy="742950"/>
            <a:chOff x="0" y="0"/>
            <a:chExt cx="21336000" cy="990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336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677" r="0" b="-36967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04775"/>
              <a:ext cx="21336000" cy="10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Las empresas venezolanas enfrentan un entorno regulatorio complejo donde el incumplimiento puede significar </a:t>
              </a:r>
              <a:r>
                <a:rPr lang="en-US" sz="1800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sanciones severas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, </a:t>
              </a:r>
              <a:r>
                <a:rPr lang="en-US" sz="1800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pérdida de tiempo valioso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y </a:t>
              </a:r>
              <a:r>
                <a:rPr lang="en-US" sz="1800" b="true">
                  <a:solidFill>
                    <a:srgbClr val="DC26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riesgo de cierre operativo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4295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571500"/>
            <a:ext cx="7772400" cy="342900"/>
            <a:chOff x="0" y="0"/>
            <a:chExt cx="103632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632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1660" r="0" b="-3916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03632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PROBLEMA 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914400"/>
            <a:ext cx="8001000" cy="685800"/>
            <a:chOff x="0" y="0"/>
            <a:chExt cx="106680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6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106680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Sostenibilidad Ausente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0075" y="2385832"/>
            <a:ext cx="8372475" cy="1828800"/>
            <a:chOff x="0" y="0"/>
            <a:chExt cx="11163300" cy="243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633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163300">
                  <a:moveTo>
                    <a:pt x="0" y="0"/>
                  </a:moveTo>
                  <a:lnTo>
                    <a:pt x="11010900" y="0"/>
                  </a:lnTo>
                  <a:cubicBezTo>
                    <a:pt x="11094974" y="0"/>
                    <a:pt x="11163300" y="68326"/>
                    <a:pt x="11163300" y="152400"/>
                  </a:cubicBezTo>
                  <a:lnTo>
                    <a:pt x="11163300" y="2286000"/>
                  </a:lnTo>
                  <a:cubicBezTo>
                    <a:pt x="11163300" y="2370074"/>
                    <a:pt x="11094974" y="2438400"/>
                    <a:pt x="11010900" y="2438400"/>
                  </a:cubicBez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0075" y="2385832"/>
            <a:ext cx="57150" cy="1828800"/>
            <a:chOff x="0" y="0"/>
            <a:chExt cx="76200" cy="243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671582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85850" y="2843032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828800" y="2671582"/>
            <a:ext cx="7000875" cy="400050"/>
            <a:chOff x="0" y="0"/>
            <a:chExt cx="933450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34500" cy="533400"/>
            </a:xfrm>
            <a:custGeom>
              <a:avLst/>
              <a:gdLst/>
              <a:ahLst/>
              <a:cxnLst/>
              <a:rect r="r" b="b" t="t" l="l"/>
              <a:pathLst>
                <a:path h="5334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3345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Cero Incentivos para Reciclar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3185932"/>
            <a:ext cx="6972300" cy="742950"/>
            <a:chOff x="0" y="0"/>
            <a:chExt cx="9296400" cy="990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96400" cy="990600"/>
            </a:xfrm>
            <a:custGeom>
              <a:avLst/>
              <a:gdLst/>
              <a:ahLst/>
              <a:cxnLst/>
              <a:rect r="r" b="b" t="t" l="l"/>
              <a:pathLst>
                <a:path h="9906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859" r="0" b="-1328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9296400" cy="10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No existen programas de </a:t>
              </a:r>
              <a:r>
                <a:rPr lang="en-US" sz="1800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recompensas ni beneficios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para empresas que implementan prácticas de reciclaje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00075" y="4500382"/>
            <a:ext cx="8372475" cy="1828800"/>
            <a:chOff x="0" y="0"/>
            <a:chExt cx="11163300" cy="243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633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163300">
                  <a:moveTo>
                    <a:pt x="0" y="0"/>
                  </a:moveTo>
                  <a:lnTo>
                    <a:pt x="11010900" y="0"/>
                  </a:lnTo>
                  <a:cubicBezTo>
                    <a:pt x="11094974" y="0"/>
                    <a:pt x="11163300" y="68326"/>
                    <a:pt x="11163300" y="152400"/>
                  </a:cubicBezTo>
                  <a:lnTo>
                    <a:pt x="11163300" y="2286000"/>
                  </a:lnTo>
                  <a:cubicBezTo>
                    <a:pt x="11163300" y="2370074"/>
                    <a:pt x="11094974" y="2438400"/>
                    <a:pt x="11010900" y="2438400"/>
                  </a:cubicBez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00075" y="4500382"/>
            <a:ext cx="57150" cy="1828800"/>
            <a:chOff x="0" y="0"/>
            <a:chExt cx="76200" cy="243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4786132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064419" y="4957582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828800" y="4786132"/>
            <a:ext cx="7000875" cy="400050"/>
            <a:chOff x="0" y="0"/>
            <a:chExt cx="9334500" cy="533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34500" cy="533400"/>
            </a:xfrm>
            <a:custGeom>
              <a:avLst/>
              <a:gdLst/>
              <a:ahLst/>
              <a:cxnLst/>
              <a:rect r="r" b="b" t="t" l="l"/>
              <a:pathLst>
                <a:path h="5334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3345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Huella de Carbono Invisible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28800" y="5300482"/>
            <a:ext cx="6972300" cy="742950"/>
            <a:chOff x="0" y="0"/>
            <a:chExt cx="9296400" cy="990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96400" cy="990600"/>
            </a:xfrm>
            <a:custGeom>
              <a:avLst/>
              <a:gdLst/>
              <a:ahLst/>
              <a:cxnLst/>
              <a:rect r="r" b="b" t="t" l="l"/>
              <a:pathLst>
                <a:path h="9906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859" r="0" b="-13285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9296400" cy="10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La mayoría de empresas </a:t>
              </a:r>
              <a:r>
                <a:rPr lang="en-US" sz="1800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 miden ni compensan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su impacto ambiental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00075" y="6614932"/>
            <a:ext cx="8372475" cy="1457325"/>
            <a:chOff x="0" y="0"/>
            <a:chExt cx="11163300" cy="19431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633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11163300">
                  <a:moveTo>
                    <a:pt x="0" y="0"/>
                  </a:moveTo>
                  <a:lnTo>
                    <a:pt x="11010900" y="0"/>
                  </a:lnTo>
                  <a:cubicBezTo>
                    <a:pt x="11095101" y="0"/>
                    <a:pt x="11163300" y="68199"/>
                    <a:pt x="11163300" y="152400"/>
                  </a:cubicBezTo>
                  <a:lnTo>
                    <a:pt x="11163300" y="1790700"/>
                  </a:lnTo>
                  <a:cubicBezTo>
                    <a:pt x="11163300" y="1874901"/>
                    <a:pt x="11095101" y="1943100"/>
                    <a:pt x="11010900" y="1943100"/>
                  </a:cubicBez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00075" y="6614932"/>
            <a:ext cx="57150" cy="1457325"/>
            <a:chOff x="0" y="0"/>
            <a:chExt cx="76200" cy="1943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43100"/>
                  </a:ln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6900682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8F8F8F">
                <a:alpha val="3922"/>
              </a:srgbClr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1107281" y="7072132"/>
            <a:ext cx="300038" cy="342900"/>
          </a:xfrm>
          <a:custGeom>
            <a:avLst/>
            <a:gdLst/>
            <a:ahLst/>
            <a:cxnLst/>
            <a:rect r="r" b="b" t="t" l="l"/>
            <a:pathLst>
              <a:path h="342900" w="300038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828800" y="6900682"/>
            <a:ext cx="5857875" cy="400050"/>
            <a:chOff x="0" y="0"/>
            <a:chExt cx="7810500" cy="533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810500" cy="533400"/>
            </a:xfrm>
            <a:custGeom>
              <a:avLst/>
              <a:gdLst/>
              <a:ahLst/>
              <a:cxnLst/>
              <a:rect r="r" b="b" t="t" l="l"/>
              <a:pathLst>
                <a:path h="533400" w="7810500">
                  <a:moveTo>
                    <a:pt x="0" y="0"/>
                  </a:moveTo>
                  <a:lnTo>
                    <a:pt x="7810500" y="0"/>
                  </a:lnTo>
                  <a:lnTo>
                    <a:pt x="7810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78105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Baja Tasa de Reciclaje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28800" y="7415032"/>
            <a:ext cx="5829300" cy="371475"/>
            <a:chOff x="0" y="0"/>
            <a:chExt cx="7772400" cy="4953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72400" cy="495300"/>
            </a:xfrm>
            <a:custGeom>
              <a:avLst/>
              <a:gdLst/>
              <a:ahLst/>
              <a:cxnLst/>
              <a:rect r="r" b="b" t="t" l="l"/>
              <a:pathLst>
                <a:path h="4953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765" r="0" b="-25576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04775"/>
              <a:ext cx="77724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Solo </a:t>
              </a:r>
              <a:r>
                <a:rPr lang="en-US" sz="1800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2%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de envases plásticos se reciclan en Venezuela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15450" y="2114550"/>
            <a:ext cx="8401050" cy="6229350"/>
            <a:chOff x="0" y="0"/>
            <a:chExt cx="11201400" cy="8305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01400" cy="8305800"/>
            </a:xfrm>
            <a:custGeom>
              <a:avLst/>
              <a:gdLst/>
              <a:ahLst/>
              <a:cxnLst/>
              <a:rect r="r" b="b" t="t" l="l"/>
              <a:pathLst>
                <a:path h="8305800" w="11201400">
                  <a:moveTo>
                    <a:pt x="228600" y="0"/>
                  </a:moveTo>
                  <a:lnTo>
                    <a:pt x="10972800" y="0"/>
                  </a:lnTo>
                  <a:cubicBezTo>
                    <a:pt x="11099038" y="0"/>
                    <a:pt x="11201400" y="102362"/>
                    <a:pt x="11201400" y="228600"/>
                  </a:cubicBezTo>
                  <a:lnTo>
                    <a:pt x="11201400" y="8077200"/>
                  </a:lnTo>
                  <a:cubicBezTo>
                    <a:pt x="11201400" y="8203438"/>
                    <a:pt x="11099038" y="8305800"/>
                    <a:pt x="10972800" y="8305800"/>
                  </a:cubicBezTo>
                  <a:lnTo>
                    <a:pt x="228600" y="8305800"/>
                  </a:lnTo>
                  <a:cubicBezTo>
                    <a:pt x="102362" y="8305800"/>
                    <a:pt x="0" y="8203438"/>
                    <a:pt x="0" y="80772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72625" y="2457450"/>
            <a:ext cx="7886700" cy="457200"/>
            <a:chOff x="0" y="0"/>
            <a:chExt cx="1051560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1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515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Tasa de Reciclaje en Venezuela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58350" y="3200219"/>
            <a:ext cx="7715250" cy="4286250"/>
            <a:chOff x="0" y="0"/>
            <a:chExt cx="10287000" cy="5715000"/>
          </a:xfrm>
        </p:grpSpPr>
        <p:sp>
          <p:nvSpPr>
            <p:cNvPr name="Freeform 55" id="55" descr="https://kimi-img.moonshot.cn/pub/slides/26-03-18-11:20:44-d6t1k31n4ejl1qie34t0.png"/>
            <p:cNvSpPr/>
            <p:nvPr/>
          </p:nvSpPr>
          <p:spPr>
            <a:xfrm flipH="false" flipV="false" rot="0">
              <a:off x="0" y="0"/>
              <a:ext cx="10287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08344" y="7715069"/>
            <a:ext cx="7815262" cy="285750"/>
            <a:chOff x="0" y="0"/>
            <a:chExt cx="10420350" cy="381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420350" cy="381000"/>
            </a:xfrm>
            <a:custGeom>
              <a:avLst/>
              <a:gdLst/>
              <a:ahLst/>
              <a:cxnLst/>
              <a:rect r="r" b="b" t="t" l="l"/>
              <a:pathLst>
                <a:path h="381000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2915" r="0" b="-48291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4203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Fuente: APROPACAs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71500" y="8629469"/>
            <a:ext cx="5557838" cy="1428750"/>
            <a:chOff x="0" y="0"/>
            <a:chExt cx="7410450" cy="1905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1045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410450">
                  <a:moveTo>
                    <a:pt x="152400" y="0"/>
                  </a:moveTo>
                  <a:lnTo>
                    <a:pt x="7258050" y="0"/>
                  </a:lnTo>
                  <a:cubicBezTo>
                    <a:pt x="7342124" y="0"/>
                    <a:pt x="7410450" y="68326"/>
                    <a:pt x="7410450" y="152400"/>
                  </a:cubicBezTo>
                  <a:lnTo>
                    <a:pt x="7410450" y="1752600"/>
                  </a:lnTo>
                  <a:cubicBezTo>
                    <a:pt x="7410450" y="1836674"/>
                    <a:pt x="7342124" y="1905000"/>
                    <a:pt x="7258050" y="1905000"/>
                  </a:cubicBezTo>
                  <a:lnTo>
                    <a:pt x="152400" y="1905000"/>
                  </a:lnTo>
                  <a:cubicBezTo>
                    <a:pt x="68326" y="1905000"/>
                    <a:pt x="0" y="1836674"/>
                    <a:pt x="0" y="1752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71512" y="8858069"/>
            <a:ext cx="5357812" cy="571500"/>
            <a:chOff x="0" y="0"/>
            <a:chExt cx="7143750" cy="762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43750" cy="762000"/>
            </a:xfrm>
            <a:custGeom>
              <a:avLst/>
              <a:gdLst/>
              <a:ahLst/>
              <a:cxnLst/>
              <a:rect r="r" b="b" t="t" l="l"/>
              <a:pathLst>
                <a:path h="762000" w="7143750">
                  <a:moveTo>
                    <a:pt x="0" y="0"/>
                  </a:moveTo>
                  <a:lnTo>
                    <a:pt x="7143750" y="0"/>
                  </a:lnTo>
                  <a:lnTo>
                    <a:pt x="71437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28575"/>
              <a:ext cx="71437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0%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50094" y="9543869"/>
            <a:ext cx="5200650" cy="285750"/>
            <a:chOff x="0" y="0"/>
            <a:chExt cx="6934200" cy="381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934200" cy="381000"/>
            </a:xfrm>
            <a:custGeom>
              <a:avLst/>
              <a:gdLst/>
              <a:ahLst/>
              <a:cxnLst/>
              <a:rect r="r" b="b" t="t" l="l"/>
              <a:pathLst>
                <a:path h="381000" w="6934200">
                  <a:moveTo>
                    <a:pt x="0" y="0"/>
                  </a:moveTo>
                  <a:lnTo>
                    <a:pt x="6934200" y="0"/>
                  </a:lnTo>
                  <a:lnTo>
                    <a:pt x="6934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69342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Incentivos empresariales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362586" y="8629469"/>
            <a:ext cx="5557838" cy="1428750"/>
            <a:chOff x="0" y="0"/>
            <a:chExt cx="7410450" cy="1905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41045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410450">
                  <a:moveTo>
                    <a:pt x="152400" y="0"/>
                  </a:moveTo>
                  <a:lnTo>
                    <a:pt x="7258050" y="0"/>
                  </a:lnTo>
                  <a:cubicBezTo>
                    <a:pt x="7342124" y="0"/>
                    <a:pt x="7410450" y="68326"/>
                    <a:pt x="7410450" y="152400"/>
                  </a:cubicBezTo>
                  <a:lnTo>
                    <a:pt x="7410450" y="1752600"/>
                  </a:lnTo>
                  <a:cubicBezTo>
                    <a:pt x="7410450" y="1836674"/>
                    <a:pt x="7342124" y="1905000"/>
                    <a:pt x="7258050" y="1905000"/>
                  </a:cubicBezTo>
                  <a:lnTo>
                    <a:pt x="152400" y="1905000"/>
                  </a:lnTo>
                  <a:cubicBezTo>
                    <a:pt x="68326" y="1905000"/>
                    <a:pt x="0" y="1836674"/>
                    <a:pt x="0" y="1752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462598" y="8858069"/>
            <a:ext cx="5357812" cy="571500"/>
            <a:chOff x="0" y="0"/>
            <a:chExt cx="7143750" cy="762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43750" cy="762000"/>
            </a:xfrm>
            <a:custGeom>
              <a:avLst/>
              <a:gdLst/>
              <a:ahLst/>
              <a:cxnLst/>
              <a:rect r="r" b="b" t="t" l="l"/>
              <a:pathLst>
                <a:path h="762000" w="7143750">
                  <a:moveTo>
                    <a:pt x="0" y="0"/>
                  </a:moveTo>
                  <a:lnTo>
                    <a:pt x="7143750" y="0"/>
                  </a:lnTo>
                  <a:lnTo>
                    <a:pt x="71437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28575"/>
              <a:ext cx="71437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2%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541170" y="9543869"/>
            <a:ext cx="5200650" cy="285750"/>
            <a:chOff x="0" y="0"/>
            <a:chExt cx="6934200" cy="381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934200" cy="381000"/>
            </a:xfrm>
            <a:custGeom>
              <a:avLst/>
              <a:gdLst/>
              <a:ahLst/>
              <a:cxnLst/>
              <a:rect r="r" b="b" t="t" l="l"/>
              <a:pathLst>
                <a:path h="381000" w="6934200">
                  <a:moveTo>
                    <a:pt x="0" y="0"/>
                  </a:moveTo>
                  <a:lnTo>
                    <a:pt x="6934200" y="0"/>
                  </a:lnTo>
                  <a:lnTo>
                    <a:pt x="6934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9342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Reciclaje plástico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153843" y="8629469"/>
            <a:ext cx="5557838" cy="1428750"/>
            <a:chOff x="0" y="0"/>
            <a:chExt cx="7410450" cy="1905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41045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410450">
                  <a:moveTo>
                    <a:pt x="152400" y="0"/>
                  </a:moveTo>
                  <a:lnTo>
                    <a:pt x="7258050" y="0"/>
                  </a:lnTo>
                  <a:cubicBezTo>
                    <a:pt x="7342124" y="0"/>
                    <a:pt x="7410450" y="68326"/>
                    <a:pt x="7410450" y="152400"/>
                  </a:cubicBezTo>
                  <a:lnTo>
                    <a:pt x="7410450" y="1752600"/>
                  </a:lnTo>
                  <a:cubicBezTo>
                    <a:pt x="7410450" y="1836674"/>
                    <a:pt x="7342124" y="1905000"/>
                    <a:pt x="7258050" y="1905000"/>
                  </a:cubicBezTo>
                  <a:lnTo>
                    <a:pt x="152400" y="1905000"/>
                  </a:lnTo>
                  <a:cubicBezTo>
                    <a:pt x="68326" y="1905000"/>
                    <a:pt x="0" y="1836674"/>
                    <a:pt x="0" y="1752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253855" y="8858069"/>
            <a:ext cx="5357812" cy="571500"/>
            <a:chOff x="0" y="0"/>
            <a:chExt cx="7143750" cy="762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43750" cy="762000"/>
            </a:xfrm>
            <a:custGeom>
              <a:avLst/>
              <a:gdLst/>
              <a:ahLst/>
              <a:cxnLst/>
              <a:rect r="r" b="b" t="t" l="l"/>
              <a:pathLst>
                <a:path h="762000" w="7143750">
                  <a:moveTo>
                    <a:pt x="0" y="0"/>
                  </a:moveTo>
                  <a:lnTo>
                    <a:pt x="7143750" y="0"/>
                  </a:lnTo>
                  <a:lnTo>
                    <a:pt x="71437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28575"/>
              <a:ext cx="71437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b="true" sz="4050">
                  <a:solidFill>
                    <a:srgbClr val="EFEFE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$0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332437" y="9543869"/>
            <a:ext cx="5200650" cy="285750"/>
            <a:chOff x="0" y="0"/>
            <a:chExt cx="6934200" cy="381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934200" cy="381000"/>
            </a:xfrm>
            <a:custGeom>
              <a:avLst/>
              <a:gdLst/>
              <a:ahLst/>
              <a:cxnLst/>
              <a:rect r="r" b="b" t="t" l="l"/>
              <a:pathLst>
                <a:path h="381000" w="6934200">
                  <a:moveTo>
                    <a:pt x="0" y="0"/>
                  </a:moveTo>
                  <a:lnTo>
                    <a:pt x="6934200" y="0"/>
                  </a:lnTo>
                  <a:lnTo>
                    <a:pt x="6934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9342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Ingresos verdes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4295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571500"/>
            <a:ext cx="10944225" cy="342900"/>
            <a:chOff x="0" y="0"/>
            <a:chExt cx="145923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923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592300">
                  <a:moveTo>
                    <a:pt x="0" y="0"/>
                  </a:moveTo>
                  <a:lnTo>
                    <a:pt x="14592300" y="0"/>
                  </a:lnTo>
                  <a:lnTo>
                    <a:pt x="145923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897" r="0" b="-5718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45923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SOLUCIÓN INTEGRAL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914400"/>
            <a:ext cx="11172825" cy="685800"/>
            <a:chOff x="0" y="0"/>
            <a:chExt cx="148971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971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897100">
                  <a:moveTo>
                    <a:pt x="0" y="0"/>
                  </a:moveTo>
                  <a:lnTo>
                    <a:pt x="14897100" y="0"/>
                  </a:lnTo>
                  <a:lnTo>
                    <a:pt x="148971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443" r="0" b="-2674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148971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Una Plataforma, Todo Integrado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2114550"/>
            <a:ext cx="7558088" cy="7600950"/>
            <a:chOff x="0" y="0"/>
            <a:chExt cx="10077450" cy="1013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77450" cy="10134600"/>
            </a:xfrm>
            <a:custGeom>
              <a:avLst/>
              <a:gdLst/>
              <a:ahLst/>
              <a:cxnLst/>
              <a:rect r="r" b="b" t="t" l="l"/>
              <a:pathLst>
                <a:path h="10134600" w="10077450">
                  <a:moveTo>
                    <a:pt x="228600" y="0"/>
                  </a:moveTo>
                  <a:lnTo>
                    <a:pt x="9848850" y="0"/>
                  </a:lnTo>
                  <a:cubicBezTo>
                    <a:pt x="9975088" y="0"/>
                    <a:pt x="10077450" y="102362"/>
                    <a:pt x="10077450" y="228600"/>
                  </a:cubicBezTo>
                  <a:lnTo>
                    <a:pt x="10077450" y="9906000"/>
                  </a:lnTo>
                  <a:cubicBezTo>
                    <a:pt x="10077450" y="10032238"/>
                    <a:pt x="9975088" y="10134600"/>
                    <a:pt x="9848850" y="10134600"/>
                  </a:cubicBezTo>
                  <a:lnTo>
                    <a:pt x="228600" y="10134600"/>
                  </a:lnTo>
                  <a:cubicBezTo>
                    <a:pt x="102362" y="10134600"/>
                    <a:pt x="0" y="10032238"/>
                    <a:pt x="0" y="99060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530441" y="2714625"/>
            <a:ext cx="1643062" cy="1428750"/>
            <a:chOff x="0" y="0"/>
            <a:chExt cx="219075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075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90750">
                  <a:moveTo>
                    <a:pt x="304800" y="0"/>
                  </a:moveTo>
                  <a:lnTo>
                    <a:pt x="1885950" y="0"/>
                  </a:lnTo>
                  <a:cubicBezTo>
                    <a:pt x="2054225" y="0"/>
                    <a:pt x="2190750" y="136525"/>
                    <a:pt x="2190750" y="304800"/>
                  </a:cubicBezTo>
                  <a:lnTo>
                    <a:pt x="2190750" y="1600200"/>
                  </a:lnTo>
                  <a:cubicBezTo>
                    <a:pt x="2190750" y="1768475"/>
                    <a:pt x="2054225" y="1905000"/>
                    <a:pt x="1885950" y="1905000"/>
                  </a:cubicBezTo>
                  <a:lnTo>
                    <a:pt x="304800" y="1905000"/>
                  </a:lnTo>
                  <a:cubicBezTo>
                    <a:pt x="136525" y="1905000"/>
                    <a:pt x="0" y="1768475"/>
                    <a:pt x="0" y="1600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869769" y="3000375"/>
            <a:ext cx="964406" cy="857250"/>
          </a:xfrm>
          <a:custGeom>
            <a:avLst/>
            <a:gdLst/>
            <a:ahLst/>
            <a:cxnLst/>
            <a:rect r="r" b="b" t="t" l="l"/>
            <a:pathLst>
              <a:path h="857250" w="964406">
                <a:moveTo>
                  <a:pt x="0" y="0"/>
                </a:moveTo>
                <a:lnTo>
                  <a:pt x="964407" y="0"/>
                </a:lnTo>
                <a:lnTo>
                  <a:pt x="964407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85812" y="4371975"/>
            <a:ext cx="7129462" cy="571500"/>
            <a:chOff x="0" y="0"/>
            <a:chExt cx="9505950" cy="76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5950" cy="762000"/>
            </a:xfrm>
            <a:custGeom>
              <a:avLst/>
              <a:gdLst/>
              <a:ahLst/>
              <a:cxnLst/>
              <a:rect r="r" b="b" t="t" l="l"/>
              <a:pathLst>
                <a:path h="762000" w="9505950">
                  <a:moveTo>
                    <a:pt x="0" y="0"/>
                  </a:moveTo>
                  <a:lnTo>
                    <a:pt x="9505950" y="0"/>
                  </a:lnTo>
                  <a:lnTo>
                    <a:pt x="9505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075" r="0" b="-1930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9505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KYRON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66172" y="5057775"/>
            <a:ext cx="1371600" cy="57150"/>
            <a:chOff x="0" y="0"/>
            <a:chExt cx="18288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2962" y="5286375"/>
            <a:ext cx="7015162" cy="400050"/>
            <a:chOff x="0" y="0"/>
            <a:chExt cx="935355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53550" cy="533400"/>
            </a:xfrm>
            <a:custGeom>
              <a:avLst/>
              <a:gdLst/>
              <a:ahLst/>
              <a:cxnLst/>
              <a:rect r="r" b="b" t="t" l="l"/>
              <a:pathLst>
                <a:path h="533400" w="9353550">
                  <a:moveTo>
                    <a:pt x="0" y="0"/>
                  </a:moveTo>
                  <a:lnTo>
                    <a:pt x="9353550" y="0"/>
                  </a:lnTo>
                  <a:lnTo>
                    <a:pt x="9353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684" r="0" b="-2916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93535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Ecosistema Integral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6029325"/>
            <a:ext cx="6872288" cy="914400"/>
            <a:chOff x="0" y="0"/>
            <a:chExt cx="916305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6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63050">
                  <a:moveTo>
                    <a:pt x="152400" y="0"/>
                  </a:moveTo>
                  <a:lnTo>
                    <a:pt x="9010650" y="0"/>
                  </a:lnTo>
                  <a:cubicBezTo>
                    <a:pt x="9094724" y="0"/>
                    <a:pt x="9163050" y="68326"/>
                    <a:pt x="9163050" y="152400"/>
                  </a:cubicBezTo>
                  <a:lnTo>
                    <a:pt x="9163050" y="1066800"/>
                  </a:lnTo>
                  <a:cubicBezTo>
                    <a:pt x="9163050" y="1150874"/>
                    <a:pt x="9094724" y="1219200"/>
                    <a:pt x="9010650" y="1219200"/>
                  </a:cubicBezTo>
                  <a:lnTo>
                    <a:pt x="152400" y="1219200"/>
                  </a:lnTo>
                  <a:cubicBezTo>
                    <a:pt x="68326" y="1219200"/>
                    <a:pt x="0" y="1150874"/>
                    <a:pt x="0" y="1066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85850" y="6200775"/>
            <a:ext cx="571500" cy="571500"/>
            <a:chOff x="0" y="0"/>
            <a:chExt cx="762000" cy="762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40336" y="6286500"/>
            <a:ext cx="385762" cy="400050"/>
            <a:chOff x="0" y="0"/>
            <a:chExt cx="51435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4350" cy="533400"/>
            </a:xfrm>
            <a:custGeom>
              <a:avLst/>
              <a:gdLst/>
              <a:ahLst/>
              <a:cxnLst/>
              <a:rect r="r" b="b" t="t" l="l"/>
              <a:pathLst>
                <a:path h="5334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055" t="0" r="-8305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5143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0A19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28800" y="6286500"/>
            <a:ext cx="2457450" cy="400050"/>
            <a:chOff x="0" y="0"/>
            <a:chExt cx="3276600" cy="533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76600" cy="533400"/>
            </a:xfrm>
            <a:custGeom>
              <a:avLst/>
              <a:gdLst/>
              <a:ahLst/>
              <a:cxnLst/>
              <a:rect r="r" b="b" t="t" l="l"/>
              <a:pathLst>
                <a:path h="5334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32766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Módulos Integrados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7115175"/>
            <a:ext cx="6872288" cy="914400"/>
            <a:chOff x="0" y="0"/>
            <a:chExt cx="916305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6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63050">
                  <a:moveTo>
                    <a:pt x="152400" y="0"/>
                  </a:moveTo>
                  <a:lnTo>
                    <a:pt x="9010650" y="0"/>
                  </a:lnTo>
                  <a:cubicBezTo>
                    <a:pt x="9094724" y="0"/>
                    <a:pt x="9163050" y="68326"/>
                    <a:pt x="9163050" y="152400"/>
                  </a:cubicBezTo>
                  <a:lnTo>
                    <a:pt x="9163050" y="1066800"/>
                  </a:lnTo>
                  <a:cubicBezTo>
                    <a:pt x="9163050" y="1150874"/>
                    <a:pt x="9094724" y="1219200"/>
                    <a:pt x="9010650" y="1219200"/>
                  </a:cubicBezTo>
                  <a:lnTo>
                    <a:pt x="152400" y="1219200"/>
                  </a:lnTo>
                  <a:cubicBezTo>
                    <a:pt x="68326" y="1219200"/>
                    <a:pt x="0" y="1150874"/>
                    <a:pt x="0" y="1066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85850" y="7286625"/>
            <a:ext cx="571500" cy="571500"/>
            <a:chOff x="0" y="0"/>
            <a:chExt cx="762000" cy="76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41209" y="7372350"/>
            <a:ext cx="585788" cy="400050"/>
            <a:chOff x="0" y="0"/>
            <a:chExt cx="78105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1050" cy="533400"/>
            </a:xfrm>
            <a:custGeom>
              <a:avLst/>
              <a:gdLst/>
              <a:ahLst/>
              <a:cxnLst/>
              <a:rect r="r" b="b" t="t" l="l"/>
              <a:pathLst>
                <a:path h="5334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621" t="0" r="-3762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7810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0A19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20+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828800" y="7372350"/>
            <a:ext cx="2521744" cy="433183"/>
            <a:chOff x="0" y="0"/>
            <a:chExt cx="3105150" cy="533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05150" cy="533400"/>
            </a:xfrm>
            <a:custGeom>
              <a:avLst/>
              <a:gdLst/>
              <a:ahLst/>
              <a:cxnLst/>
              <a:rect r="r" b="b" t="t" l="l"/>
              <a:pathLst>
                <a:path h="533400" w="3105150">
                  <a:moveTo>
                    <a:pt x="0" y="0"/>
                  </a:moveTo>
                  <a:lnTo>
                    <a:pt x="3105150" y="0"/>
                  </a:lnTo>
                  <a:lnTo>
                    <a:pt x="31051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30" r="0" b="-634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31051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Entes Regulatorios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" y="8201025"/>
            <a:ext cx="6872288" cy="914400"/>
            <a:chOff x="0" y="0"/>
            <a:chExt cx="916305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6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63050">
                  <a:moveTo>
                    <a:pt x="152400" y="0"/>
                  </a:moveTo>
                  <a:lnTo>
                    <a:pt x="9010650" y="0"/>
                  </a:lnTo>
                  <a:cubicBezTo>
                    <a:pt x="9094724" y="0"/>
                    <a:pt x="9163050" y="68326"/>
                    <a:pt x="9163050" y="152400"/>
                  </a:cubicBezTo>
                  <a:lnTo>
                    <a:pt x="9163050" y="1066800"/>
                  </a:lnTo>
                  <a:cubicBezTo>
                    <a:pt x="9163050" y="1150874"/>
                    <a:pt x="9094724" y="1219200"/>
                    <a:pt x="9010650" y="1219200"/>
                  </a:cubicBezTo>
                  <a:lnTo>
                    <a:pt x="152400" y="1219200"/>
                  </a:lnTo>
                  <a:cubicBezTo>
                    <a:pt x="68326" y="1219200"/>
                    <a:pt x="0" y="1150874"/>
                    <a:pt x="0" y="1066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85850" y="8372475"/>
            <a:ext cx="571500" cy="571500"/>
            <a:chOff x="0" y="0"/>
            <a:chExt cx="762000" cy="762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1193006" y="8515350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8" y="0"/>
                </a:lnTo>
                <a:lnTo>
                  <a:pt x="35718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828800" y="8458200"/>
            <a:ext cx="2523172" cy="433428"/>
            <a:chOff x="0" y="0"/>
            <a:chExt cx="3105150" cy="533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05150" cy="533400"/>
            </a:xfrm>
            <a:custGeom>
              <a:avLst/>
              <a:gdLst/>
              <a:ahLst/>
              <a:cxnLst/>
              <a:rect r="r" b="b" t="t" l="l"/>
              <a:pathLst>
                <a:path h="533400" w="3105150">
                  <a:moveTo>
                    <a:pt x="0" y="0"/>
                  </a:moveTo>
                  <a:lnTo>
                    <a:pt x="3105150" y="0"/>
                  </a:lnTo>
                  <a:lnTo>
                    <a:pt x="31051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430" r="0" b="-6343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31051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Escalabilidad Total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475345" y="2611936"/>
            <a:ext cx="9244012" cy="3429000"/>
            <a:chOff x="0" y="0"/>
            <a:chExt cx="12325350" cy="4572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32535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2325350">
                  <a:moveTo>
                    <a:pt x="228600" y="0"/>
                  </a:moveTo>
                  <a:lnTo>
                    <a:pt x="12096750" y="0"/>
                  </a:lnTo>
                  <a:cubicBezTo>
                    <a:pt x="12222861" y="0"/>
                    <a:pt x="12325350" y="102489"/>
                    <a:pt x="12325350" y="228600"/>
                  </a:cubicBezTo>
                  <a:lnTo>
                    <a:pt x="12325350" y="4343400"/>
                  </a:lnTo>
                  <a:cubicBezTo>
                    <a:pt x="12325350" y="4469511"/>
                    <a:pt x="12222861" y="4572000"/>
                    <a:pt x="12096750" y="4572000"/>
                  </a:cubicBezTo>
                  <a:lnTo>
                    <a:pt x="228600" y="4572000"/>
                  </a:lnTo>
                  <a:cubicBezTo>
                    <a:pt x="102489" y="4572000"/>
                    <a:pt x="0" y="4469511"/>
                    <a:pt x="0" y="4343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8846820" y="2926261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9189720" y="2897686"/>
            <a:ext cx="8386762" cy="400050"/>
            <a:chOff x="0" y="0"/>
            <a:chExt cx="11182350" cy="533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82350" cy="533400"/>
            </a:xfrm>
            <a:custGeom>
              <a:avLst/>
              <a:gdLst/>
              <a:ahLst/>
              <a:cxnLst/>
              <a:rect r="r" b="b" t="t" l="l"/>
              <a:pathLst>
                <a:path h="533400" w="11182350">
                  <a:moveTo>
                    <a:pt x="0" y="0"/>
                  </a:moveTo>
                  <a:lnTo>
                    <a:pt x="11182350" y="0"/>
                  </a:lnTo>
                  <a:lnTo>
                    <a:pt x="11182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8489" r="0" b="-35848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11823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Entes Regulatorios Conectados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761095" y="3526336"/>
            <a:ext cx="2043112" cy="628650"/>
            <a:chOff x="0" y="0"/>
            <a:chExt cx="2724150" cy="838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882539" y="3697786"/>
            <a:ext cx="1800225" cy="285750"/>
            <a:chOff x="0" y="0"/>
            <a:chExt cx="2400300" cy="381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SENIAT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71371" y="3526336"/>
            <a:ext cx="2043112" cy="628650"/>
            <a:chOff x="0" y="0"/>
            <a:chExt cx="2724150" cy="838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092815" y="3697786"/>
            <a:ext cx="1800225" cy="285750"/>
            <a:chOff x="0" y="0"/>
            <a:chExt cx="2400300" cy="381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CONATEL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181648" y="3526336"/>
            <a:ext cx="2043112" cy="628650"/>
            <a:chOff x="0" y="0"/>
            <a:chExt cx="2724150" cy="838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303091" y="3697786"/>
            <a:ext cx="1800225" cy="285750"/>
            <a:chOff x="0" y="0"/>
            <a:chExt cx="2400300" cy="381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0891B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IVSS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391924" y="3526336"/>
            <a:ext cx="2043112" cy="628650"/>
            <a:chOff x="0" y="0"/>
            <a:chExt cx="2724150" cy="838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5513368" y="3697786"/>
            <a:ext cx="1800225" cy="285750"/>
            <a:chOff x="0" y="0"/>
            <a:chExt cx="2400300" cy="381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FAOV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761095" y="4326436"/>
            <a:ext cx="2043112" cy="628650"/>
            <a:chOff x="0" y="0"/>
            <a:chExt cx="2724150" cy="838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882539" y="4497886"/>
            <a:ext cx="1800225" cy="285750"/>
            <a:chOff x="0" y="0"/>
            <a:chExt cx="2400300" cy="381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INCES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971371" y="4326436"/>
            <a:ext cx="2043112" cy="628650"/>
            <a:chOff x="0" y="0"/>
            <a:chExt cx="2724150" cy="8382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092815" y="4497886"/>
            <a:ext cx="1800225" cy="285750"/>
            <a:chOff x="0" y="0"/>
            <a:chExt cx="2400300" cy="381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0891B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SAREN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181648" y="4326436"/>
            <a:ext cx="2043112" cy="628650"/>
            <a:chOff x="0" y="0"/>
            <a:chExt cx="2724150" cy="838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303091" y="4497886"/>
            <a:ext cx="1800225" cy="285750"/>
            <a:chOff x="0" y="0"/>
            <a:chExt cx="2400300" cy="3810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SAPI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391924" y="4326436"/>
            <a:ext cx="2043112" cy="628650"/>
            <a:chOff x="0" y="0"/>
            <a:chExt cx="2724150" cy="838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5513368" y="4497886"/>
            <a:ext cx="1800225" cy="285750"/>
            <a:chOff x="0" y="0"/>
            <a:chExt cx="2400300" cy="3810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BCV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761095" y="5126536"/>
            <a:ext cx="2043112" cy="628650"/>
            <a:chOff x="0" y="0"/>
            <a:chExt cx="2724150" cy="838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882539" y="5297986"/>
            <a:ext cx="1800225" cy="285750"/>
            <a:chOff x="0" y="0"/>
            <a:chExt cx="2400300" cy="381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0891B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LOTTT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971371" y="5126536"/>
            <a:ext cx="2043112" cy="628650"/>
            <a:chOff x="0" y="0"/>
            <a:chExt cx="2724150" cy="8382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092815" y="5297986"/>
            <a:ext cx="1800225" cy="285750"/>
            <a:chOff x="0" y="0"/>
            <a:chExt cx="2400300" cy="3810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LOPNNA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181648" y="5126536"/>
            <a:ext cx="2043112" cy="628650"/>
            <a:chOff x="0" y="0"/>
            <a:chExt cx="2724150" cy="8382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303091" y="5297986"/>
            <a:ext cx="1800225" cy="285750"/>
            <a:chOff x="0" y="0"/>
            <a:chExt cx="2400300" cy="3810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SAIME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5391924" y="5126536"/>
            <a:ext cx="2043112" cy="628650"/>
            <a:chOff x="0" y="0"/>
            <a:chExt cx="2724150" cy="8382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724150" cy="838200"/>
            </a:xfrm>
            <a:custGeom>
              <a:avLst/>
              <a:gdLst/>
              <a:ahLst/>
              <a:cxnLst/>
              <a:rect r="r" b="b" t="t" l="l"/>
              <a:pathLst>
                <a:path h="838200" w="2724150">
                  <a:moveTo>
                    <a:pt x="152400" y="0"/>
                  </a:moveTo>
                  <a:lnTo>
                    <a:pt x="2571750" y="0"/>
                  </a:lnTo>
                  <a:cubicBezTo>
                    <a:pt x="2655951" y="0"/>
                    <a:pt x="2724150" y="68199"/>
                    <a:pt x="2724150" y="152400"/>
                  </a:cubicBezTo>
                  <a:lnTo>
                    <a:pt x="2724150" y="685800"/>
                  </a:lnTo>
                  <a:cubicBezTo>
                    <a:pt x="2724150" y="770001"/>
                    <a:pt x="2655951" y="838200"/>
                    <a:pt x="257175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5513368" y="5297986"/>
            <a:ext cx="1800225" cy="285750"/>
            <a:chOff x="0" y="0"/>
            <a:chExt cx="2400300" cy="3810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00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2400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b="true" sz="1575">
                  <a:solidFill>
                    <a:srgbClr val="EFEFE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+9 más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8475345" y="6269536"/>
            <a:ext cx="9244012" cy="2943225"/>
            <a:chOff x="0" y="0"/>
            <a:chExt cx="12325350" cy="39243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2325350" cy="3924300"/>
            </a:xfrm>
            <a:custGeom>
              <a:avLst/>
              <a:gdLst/>
              <a:ahLst/>
              <a:cxnLst/>
              <a:rect r="r" b="b" t="t" l="l"/>
              <a:pathLst>
                <a:path h="3924300" w="12325350">
                  <a:moveTo>
                    <a:pt x="228600" y="0"/>
                  </a:moveTo>
                  <a:lnTo>
                    <a:pt x="12096750" y="0"/>
                  </a:lnTo>
                  <a:cubicBezTo>
                    <a:pt x="12222988" y="0"/>
                    <a:pt x="12325350" y="102362"/>
                    <a:pt x="12325350" y="228600"/>
                  </a:cubicBezTo>
                  <a:lnTo>
                    <a:pt x="12325350" y="3695700"/>
                  </a:lnTo>
                  <a:cubicBezTo>
                    <a:pt x="12325350" y="3821938"/>
                    <a:pt x="12222988" y="3924300"/>
                    <a:pt x="12096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Freeform 119" id="119"/>
          <p:cNvSpPr/>
          <p:nvPr/>
        </p:nvSpPr>
        <p:spPr>
          <a:xfrm flipH="false" flipV="false" rot="0">
            <a:off x="8803957" y="6583861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0" id="120"/>
          <p:cNvGrpSpPr/>
          <p:nvPr/>
        </p:nvGrpSpPr>
        <p:grpSpPr>
          <a:xfrm rot="0">
            <a:off x="9189720" y="6555286"/>
            <a:ext cx="8386762" cy="400050"/>
            <a:chOff x="0" y="0"/>
            <a:chExt cx="11182350" cy="5334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182350" cy="533400"/>
            </a:xfrm>
            <a:custGeom>
              <a:avLst/>
              <a:gdLst/>
              <a:ahLst/>
              <a:cxnLst/>
              <a:rect r="r" b="b" t="t" l="l"/>
              <a:pathLst>
                <a:path h="533400" w="11182350">
                  <a:moveTo>
                    <a:pt x="0" y="0"/>
                  </a:moveTo>
                  <a:lnTo>
                    <a:pt x="11182350" y="0"/>
                  </a:lnTo>
                  <a:lnTo>
                    <a:pt x="11182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8489" r="0" b="-35848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66675"/>
              <a:ext cx="111823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Módulos del Ecosistema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8761095" y="7183936"/>
            <a:ext cx="1643062" cy="814388"/>
            <a:chOff x="0" y="0"/>
            <a:chExt cx="2190750" cy="108585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1907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2190750">
                  <a:moveTo>
                    <a:pt x="76200" y="0"/>
                  </a:moveTo>
                  <a:lnTo>
                    <a:pt x="2114550" y="0"/>
                  </a:lnTo>
                  <a:cubicBezTo>
                    <a:pt x="2156587" y="0"/>
                    <a:pt x="2190750" y="34163"/>
                    <a:pt x="2190750" y="76200"/>
                  </a:cubicBezTo>
                  <a:lnTo>
                    <a:pt x="2190750" y="1009650"/>
                  </a:lnTo>
                  <a:cubicBezTo>
                    <a:pt x="2190750" y="1051687"/>
                    <a:pt x="2156587" y="1085850"/>
                    <a:pt x="2114550" y="1085850"/>
                  </a:cubicBezTo>
                  <a:lnTo>
                    <a:pt x="76200" y="1085850"/>
                  </a:lnTo>
                  <a:cubicBezTo>
                    <a:pt x="34163" y="1085850"/>
                    <a:pt x="0" y="1051687"/>
                    <a:pt x="0" y="10096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125" id="125"/>
          <p:cNvSpPr/>
          <p:nvPr/>
        </p:nvSpPr>
        <p:spPr>
          <a:xfrm flipH="false" flipV="false" rot="0">
            <a:off x="9489405" y="7343956"/>
            <a:ext cx="192881" cy="257175"/>
          </a:xfrm>
          <a:custGeom>
            <a:avLst/>
            <a:gdLst/>
            <a:ahLst/>
            <a:cxnLst/>
            <a:rect r="r" b="b" t="t" l="l"/>
            <a:pathLst>
              <a:path h="257175" w="192881">
                <a:moveTo>
                  <a:pt x="0" y="0"/>
                </a:moveTo>
                <a:lnTo>
                  <a:pt x="192881" y="0"/>
                </a:lnTo>
                <a:lnTo>
                  <a:pt x="192881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6" id="126"/>
          <p:cNvGrpSpPr/>
          <p:nvPr/>
        </p:nvGrpSpPr>
        <p:grpSpPr>
          <a:xfrm rot="0">
            <a:off x="10517743" y="7183936"/>
            <a:ext cx="1643062" cy="814388"/>
            <a:chOff x="0" y="0"/>
            <a:chExt cx="2190750" cy="108585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1907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2190750">
                  <a:moveTo>
                    <a:pt x="76200" y="0"/>
                  </a:moveTo>
                  <a:lnTo>
                    <a:pt x="2114550" y="0"/>
                  </a:lnTo>
                  <a:cubicBezTo>
                    <a:pt x="2156587" y="0"/>
                    <a:pt x="2190750" y="34163"/>
                    <a:pt x="2190750" y="76200"/>
                  </a:cubicBezTo>
                  <a:lnTo>
                    <a:pt x="2190750" y="1009650"/>
                  </a:lnTo>
                  <a:cubicBezTo>
                    <a:pt x="2190750" y="1051687"/>
                    <a:pt x="2156587" y="1085850"/>
                    <a:pt x="2114550" y="1085850"/>
                  </a:cubicBezTo>
                  <a:lnTo>
                    <a:pt x="76200" y="1085850"/>
                  </a:lnTo>
                  <a:cubicBezTo>
                    <a:pt x="34163" y="1085850"/>
                    <a:pt x="0" y="1051687"/>
                    <a:pt x="0" y="10096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0589181" y="7658281"/>
            <a:ext cx="1500188" cy="268739"/>
            <a:chOff x="0" y="0"/>
            <a:chExt cx="2000250" cy="35831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000250" cy="358318"/>
            </a:xfrm>
            <a:custGeom>
              <a:avLst/>
              <a:gdLst/>
              <a:ahLst/>
              <a:cxnLst/>
              <a:rect r="r" b="b" t="t" l="l"/>
              <a:pathLst>
                <a:path h="358318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358318"/>
                  </a:lnTo>
                  <a:lnTo>
                    <a:pt x="0" y="3583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39" r="0" b="-51303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28575"/>
              <a:ext cx="2000250" cy="386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274572" y="7183936"/>
            <a:ext cx="1643062" cy="814388"/>
            <a:chOff x="0" y="0"/>
            <a:chExt cx="2190750" cy="108585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1907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2190750">
                  <a:moveTo>
                    <a:pt x="76200" y="0"/>
                  </a:moveTo>
                  <a:lnTo>
                    <a:pt x="2114550" y="0"/>
                  </a:lnTo>
                  <a:cubicBezTo>
                    <a:pt x="2156587" y="0"/>
                    <a:pt x="2190750" y="34163"/>
                    <a:pt x="2190750" y="76200"/>
                  </a:cubicBezTo>
                  <a:lnTo>
                    <a:pt x="2190750" y="1009650"/>
                  </a:lnTo>
                  <a:cubicBezTo>
                    <a:pt x="2190750" y="1051687"/>
                    <a:pt x="2156587" y="1085850"/>
                    <a:pt x="2114550" y="1085850"/>
                  </a:cubicBezTo>
                  <a:lnTo>
                    <a:pt x="76200" y="1085850"/>
                  </a:lnTo>
                  <a:cubicBezTo>
                    <a:pt x="34163" y="1085850"/>
                    <a:pt x="0" y="1051687"/>
                    <a:pt x="0" y="10096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133" id="133"/>
          <p:cNvSpPr/>
          <p:nvPr/>
        </p:nvSpPr>
        <p:spPr>
          <a:xfrm flipH="false" flipV="false" rot="0">
            <a:off x="13002873" y="7343956"/>
            <a:ext cx="192881" cy="257175"/>
          </a:xfrm>
          <a:custGeom>
            <a:avLst/>
            <a:gdLst/>
            <a:ahLst/>
            <a:cxnLst/>
            <a:rect r="r" b="b" t="t" l="l"/>
            <a:pathLst>
              <a:path h="257175" w="192881">
                <a:moveTo>
                  <a:pt x="0" y="0"/>
                </a:moveTo>
                <a:lnTo>
                  <a:pt x="192881" y="0"/>
                </a:lnTo>
                <a:lnTo>
                  <a:pt x="192881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4" id="134"/>
          <p:cNvGrpSpPr/>
          <p:nvPr/>
        </p:nvGrpSpPr>
        <p:grpSpPr>
          <a:xfrm rot="0">
            <a:off x="12346010" y="7658281"/>
            <a:ext cx="1500188" cy="315300"/>
            <a:chOff x="0" y="0"/>
            <a:chExt cx="2000250" cy="4204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000250" cy="420400"/>
            </a:xfrm>
            <a:custGeom>
              <a:avLst/>
              <a:gdLst/>
              <a:ahLst/>
              <a:cxnLst/>
              <a:rect r="r" b="b" t="t" l="l"/>
              <a:pathLst>
                <a:path h="420400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420400"/>
                  </a:lnTo>
                  <a:lnTo>
                    <a:pt x="0" y="42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458" r="0" b="-2896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2000250" cy="448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85"/>
                </a:lnSpc>
              </a:pPr>
              <a:r>
                <a:rPr lang="en-US" sz="158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Contab</a:t>
              </a:r>
              <a:r>
                <a:rPr lang="en-US" sz="1580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031392" y="7183936"/>
            <a:ext cx="1643062" cy="814388"/>
            <a:chOff x="0" y="0"/>
            <a:chExt cx="2190750" cy="108585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1907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2190750">
                  <a:moveTo>
                    <a:pt x="76200" y="0"/>
                  </a:moveTo>
                  <a:lnTo>
                    <a:pt x="2114550" y="0"/>
                  </a:lnTo>
                  <a:cubicBezTo>
                    <a:pt x="2156587" y="0"/>
                    <a:pt x="2190750" y="34163"/>
                    <a:pt x="2190750" y="76200"/>
                  </a:cubicBezTo>
                  <a:lnTo>
                    <a:pt x="2190750" y="1009650"/>
                  </a:lnTo>
                  <a:cubicBezTo>
                    <a:pt x="2190750" y="1051687"/>
                    <a:pt x="2156587" y="1085850"/>
                    <a:pt x="2114550" y="1085850"/>
                  </a:cubicBezTo>
                  <a:lnTo>
                    <a:pt x="76200" y="1085850"/>
                  </a:lnTo>
                  <a:cubicBezTo>
                    <a:pt x="34163" y="1085850"/>
                    <a:pt x="0" y="1051687"/>
                    <a:pt x="0" y="10096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4102829" y="7658281"/>
            <a:ext cx="1500188" cy="268739"/>
            <a:chOff x="0" y="0"/>
            <a:chExt cx="2000250" cy="358318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000250" cy="358318"/>
            </a:xfrm>
            <a:custGeom>
              <a:avLst/>
              <a:gdLst/>
              <a:ahLst/>
              <a:cxnLst/>
              <a:rect r="r" b="b" t="t" l="l"/>
              <a:pathLst>
                <a:path h="358318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358318"/>
                  </a:lnTo>
                  <a:lnTo>
                    <a:pt x="0" y="3583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39" r="0" b="-51303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2000250" cy="386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Legal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5788221" y="7183936"/>
            <a:ext cx="1643062" cy="1760039"/>
            <a:chOff x="0" y="0"/>
            <a:chExt cx="2190750" cy="2346719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190750" cy="2346719"/>
            </a:xfrm>
            <a:custGeom>
              <a:avLst/>
              <a:gdLst/>
              <a:ahLst/>
              <a:cxnLst/>
              <a:rect r="r" b="b" t="t" l="l"/>
              <a:pathLst>
                <a:path h="2346719" w="2190750">
                  <a:moveTo>
                    <a:pt x="76200" y="0"/>
                  </a:moveTo>
                  <a:lnTo>
                    <a:pt x="2114550" y="0"/>
                  </a:lnTo>
                  <a:cubicBezTo>
                    <a:pt x="2156587" y="0"/>
                    <a:pt x="2190750" y="73832"/>
                    <a:pt x="2190750" y="164682"/>
                  </a:cubicBezTo>
                  <a:lnTo>
                    <a:pt x="2190750" y="2182037"/>
                  </a:lnTo>
                  <a:cubicBezTo>
                    <a:pt x="2190750" y="2272886"/>
                    <a:pt x="2156587" y="2346719"/>
                    <a:pt x="2114550" y="2346719"/>
                  </a:cubicBezTo>
                  <a:lnTo>
                    <a:pt x="76200" y="2346719"/>
                  </a:lnTo>
                  <a:cubicBezTo>
                    <a:pt x="34163" y="2346719"/>
                    <a:pt x="0" y="2272886"/>
                    <a:pt x="0" y="2182037"/>
                  </a:cubicBezTo>
                  <a:lnTo>
                    <a:pt x="0" y="164682"/>
                  </a:lnTo>
                  <a:cubicBezTo>
                    <a:pt x="0" y="73832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144" id="144"/>
          <p:cNvSpPr/>
          <p:nvPr/>
        </p:nvSpPr>
        <p:spPr>
          <a:xfrm flipH="false" flipV="false" rot="0">
            <a:off x="11207772" y="7333955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5" id="145"/>
          <p:cNvGrpSpPr/>
          <p:nvPr/>
        </p:nvGrpSpPr>
        <p:grpSpPr>
          <a:xfrm rot="0">
            <a:off x="15788221" y="8137745"/>
            <a:ext cx="1646815" cy="471969"/>
            <a:chOff x="0" y="0"/>
            <a:chExt cx="2000250" cy="57326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000250" cy="573262"/>
            </a:xfrm>
            <a:custGeom>
              <a:avLst/>
              <a:gdLst/>
              <a:ahLst/>
              <a:cxnLst/>
              <a:rect r="r" b="b" t="t" l="l"/>
              <a:pathLst>
                <a:path h="573262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573262"/>
                  </a:lnTo>
                  <a:lnTo>
                    <a:pt x="0" y="5732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403" r="0" b="5427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2000250" cy="611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44"/>
                </a:lnSpc>
              </a:pPr>
              <a:r>
                <a:rPr lang="en-US" sz="17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Personal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8761095" y="8115300"/>
            <a:ext cx="1643062" cy="814388"/>
            <a:chOff x="0" y="0"/>
            <a:chExt cx="2190750" cy="108585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1907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2190750">
                  <a:moveTo>
                    <a:pt x="76200" y="0"/>
                  </a:moveTo>
                  <a:lnTo>
                    <a:pt x="2114550" y="0"/>
                  </a:lnTo>
                  <a:cubicBezTo>
                    <a:pt x="2156587" y="0"/>
                    <a:pt x="2190750" y="34163"/>
                    <a:pt x="2190750" y="76200"/>
                  </a:cubicBezTo>
                  <a:lnTo>
                    <a:pt x="2190750" y="1009650"/>
                  </a:lnTo>
                  <a:cubicBezTo>
                    <a:pt x="2190750" y="1051687"/>
                    <a:pt x="2156587" y="1085850"/>
                    <a:pt x="2114550" y="1085850"/>
                  </a:cubicBezTo>
                  <a:lnTo>
                    <a:pt x="76200" y="1085850"/>
                  </a:lnTo>
                  <a:cubicBezTo>
                    <a:pt x="34163" y="1085850"/>
                    <a:pt x="0" y="1051687"/>
                    <a:pt x="0" y="10096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150" id="150"/>
          <p:cNvSpPr/>
          <p:nvPr/>
        </p:nvSpPr>
        <p:spPr>
          <a:xfrm flipH="false" flipV="false" rot="0">
            <a:off x="9457258" y="8275320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1" id="151"/>
          <p:cNvGrpSpPr/>
          <p:nvPr/>
        </p:nvGrpSpPr>
        <p:grpSpPr>
          <a:xfrm rot="0">
            <a:off x="8832532" y="8589645"/>
            <a:ext cx="1500188" cy="268739"/>
            <a:chOff x="0" y="0"/>
            <a:chExt cx="2000250" cy="35831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000250" cy="358318"/>
            </a:xfrm>
            <a:custGeom>
              <a:avLst/>
              <a:gdLst/>
              <a:ahLst/>
              <a:cxnLst/>
              <a:rect r="r" b="b" t="t" l="l"/>
              <a:pathLst>
                <a:path h="358318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358318"/>
                  </a:lnTo>
                  <a:lnTo>
                    <a:pt x="0" y="3583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39" r="0" b="-51303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2000250" cy="386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Facturacion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0517743" y="8115300"/>
            <a:ext cx="1643062" cy="814388"/>
            <a:chOff x="0" y="0"/>
            <a:chExt cx="2190750" cy="108585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1907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2190750">
                  <a:moveTo>
                    <a:pt x="76200" y="0"/>
                  </a:moveTo>
                  <a:lnTo>
                    <a:pt x="2114550" y="0"/>
                  </a:lnTo>
                  <a:cubicBezTo>
                    <a:pt x="2156587" y="0"/>
                    <a:pt x="2190750" y="34163"/>
                    <a:pt x="2190750" y="76200"/>
                  </a:cubicBezTo>
                  <a:lnTo>
                    <a:pt x="2190750" y="1009650"/>
                  </a:lnTo>
                  <a:cubicBezTo>
                    <a:pt x="2190750" y="1051687"/>
                    <a:pt x="2156587" y="1085850"/>
                    <a:pt x="2114550" y="1085850"/>
                  </a:cubicBezTo>
                  <a:lnTo>
                    <a:pt x="76200" y="1085850"/>
                  </a:lnTo>
                  <a:cubicBezTo>
                    <a:pt x="34163" y="1085850"/>
                    <a:pt x="0" y="1051687"/>
                    <a:pt x="0" y="10096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156" id="156"/>
          <p:cNvSpPr/>
          <p:nvPr/>
        </p:nvSpPr>
        <p:spPr>
          <a:xfrm flipH="false" flipV="false" rot="0">
            <a:off x="11213897" y="8275320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7" id="157"/>
          <p:cNvGrpSpPr/>
          <p:nvPr/>
        </p:nvGrpSpPr>
        <p:grpSpPr>
          <a:xfrm rot="0">
            <a:off x="10589181" y="8589645"/>
            <a:ext cx="1500188" cy="268739"/>
            <a:chOff x="0" y="0"/>
            <a:chExt cx="2000250" cy="35831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000250" cy="358318"/>
            </a:xfrm>
            <a:custGeom>
              <a:avLst/>
              <a:gdLst/>
              <a:ahLst/>
              <a:cxnLst/>
              <a:rect r="r" b="b" t="t" l="l"/>
              <a:pathLst>
                <a:path h="358318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358318"/>
                  </a:lnTo>
                  <a:lnTo>
                    <a:pt x="0" y="3583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39" r="0" b="-51303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28575"/>
              <a:ext cx="2000250" cy="386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Sostenibilidad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2274572" y="8115300"/>
            <a:ext cx="1643062" cy="814388"/>
            <a:chOff x="0" y="0"/>
            <a:chExt cx="2190750" cy="108585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1907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2190750">
                  <a:moveTo>
                    <a:pt x="76200" y="0"/>
                  </a:moveTo>
                  <a:lnTo>
                    <a:pt x="2114550" y="0"/>
                  </a:lnTo>
                  <a:cubicBezTo>
                    <a:pt x="2156587" y="0"/>
                    <a:pt x="2190750" y="34163"/>
                    <a:pt x="2190750" y="76200"/>
                  </a:cubicBezTo>
                  <a:lnTo>
                    <a:pt x="2190750" y="1009650"/>
                  </a:lnTo>
                  <a:cubicBezTo>
                    <a:pt x="2190750" y="1051687"/>
                    <a:pt x="2156587" y="1085850"/>
                    <a:pt x="2114550" y="1085850"/>
                  </a:cubicBezTo>
                  <a:lnTo>
                    <a:pt x="76200" y="1085850"/>
                  </a:lnTo>
                  <a:cubicBezTo>
                    <a:pt x="34163" y="1085850"/>
                    <a:pt x="0" y="1051687"/>
                    <a:pt x="0" y="10096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4031392" y="8115300"/>
            <a:ext cx="1643062" cy="814388"/>
            <a:chOff x="0" y="0"/>
            <a:chExt cx="2190750" cy="108585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1907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2190750">
                  <a:moveTo>
                    <a:pt x="76200" y="0"/>
                  </a:moveTo>
                  <a:lnTo>
                    <a:pt x="2114550" y="0"/>
                  </a:lnTo>
                  <a:cubicBezTo>
                    <a:pt x="2156587" y="0"/>
                    <a:pt x="2190750" y="34163"/>
                    <a:pt x="2190750" y="76200"/>
                  </a:cubicBezTo>
                  <a:lnTo>
                    <a:pt x="2190750" y="1009650"/>
                  </a:lnTo>
                  <a:cubicBezTo>
                    <a:pt x="2190750" y="1051687"/>
                    <a:pt x="2156587" y="1085850"/>
                    <a:pt x="2114550" y="1085850"/>
                  </a:cubicBezTo>
                  <a:lnTo>
                    <a:pt x="76200" y="1085850"/>
                  </a:lnTo>
                  <a:cubicBezTo>
                    <a:pt x="34163" y="1085850"/>
                    <a:pt x="0" y="1051687"/>
                    <a:pt x="0" y="10096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164" id="164"/>
          <p:cNvSpPr/>
          <p:nvPr/>
        </p:nvSpPr>
        <p:spPr>
          <a:xfrm flipH="false" flipV="false" rot="0">
            <a:off x="12900298" y="8258175"/>
            <a:ext cx="321469" cy="257175"/>
          </a:xfrm>
          <a:custGeom>
            <a:avLst/>
            <a:gdLst/>
            <a:ahLst/>
            <a:cxnLst/>
            <a:rect r="r" b="b" t="t" l="l"/>
            <a:pathLst>
              <a:path h="257175" w="321469">
                <a:moveTo>
                  <a:pt x="0" y="0"/>
                </a:moveTo>
                <a:lnTo>
                  <a:pt x="321469" y="0"/>
                </a:lnTo>
                <a:lnTo>
                  <a:pt x="321469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5" id="165"/>
          <p:cNvGrpSpPr/>
          <p:nvPr/>
        </p:nvGrpSpPr>
        <p:grpSpPr>
          <a:xfrm rot="0">
            <a:off x="12310939" y="8609714"/>
            <a:ext cx="1500188" cy="228600"/>
            <a:chOff x="0" y="0"/>
            <a:chExt cx="2000250" cy="3048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000250" cy="304800"/>
            </a:xfrm>
            <a:custGeom>
              <a:avLst/>
              <a:gdLst/>
              <a:ahLst/>
              <a:cxnLst/>
              <a:rect r="r" b="b" t="t" l="l"/>
              <a:pathLst>
                <a:path h="304800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28575"/>
              <a:ext cx="20002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RRHH</a:t>
              </a:r>
            </a:p>
          </p:txBody>
        </p:sp>
      </p:grpSp>
      <p:sp>
        <p:nvSpPr>
          <p:cNvPr name="Freeform 168" id="168"/>
          <p:cNvSpPr/>
          <p:nvPr/>
        </p:nvSpPr>
        <p:spPr>
          <a:xfrm flipH="false" flipV="false" rot="0">
            <a:off x="14724336" y="824388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9" id="169"/>
          <p:cNvGrpSpPr/>
          <p:nvPr/>
        </p:nvGrpSpPr>
        <p:grpSpPr>
          <a:xfrm rot="0">
            <a:off x="14082054" y="8589645"/>
            <a:ext cx="1500188" cy="268739"/>
            <a:chOff x="0" y="0"/>
            <a:chExt cx="2000250" cy="35831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000250" cy="358318"/>
            </a:xfrm>
            <a:custGeom>
              <a:avLst/>
              <a:gdLst/>
              <a:ahLst/>
              <a:cxnLst/>
              <a:rect r="r" b="b" t="t" l="l"/>
              <a:pathLst>
                <a:path h="358318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358318"/>
                  </a:lnTo>
                  <a:lnTo>
                    <a:pt x="0" y="3583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239" r="0" b="-51303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28575"/>
              <a:ext cx="2000250" cy="386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Marketing</a:t>
              </a:r>
            </a:p>
          </p:txBody>
        </p:sp>
      </p:grpSp>
      <p:sp>
        <p:nvSpPr>
          <p:cNvPr name="TextBox 172" id="172"/>
          <p:cNvSpPr txBox="true"/>
          <p:nvPr/>
        </p:nvSpPr>
        <p:spPr>
          <a:xfrm rot="0">
            <a:off x="8760381" y="7610656"/>
            <a:ext cx="1643062" cy="2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"/>
              </a:lnSpc>
              <a:spcBef>
                <a:spcPct val="0"/>
              </a:spcBef>
            </a:pPr>
            <a:r>
              <a:rPr lang="en-US" sz="15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Mi línea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0589181" y="7626153"/>
            <a:ext cx="1500188" cy="2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"/>
              </a:lnSpc>
              <a:spcBef>
                <a:spcPct val="0"/>
              </a:spcBef>
            </a:pPr>
            <a:r>
              <a:rPr lang="en-US" sz="15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Ing. e IT</a:t>
            </a:r>
          </a:p>
        </p:txBody>
      </p:sp>
      <p:grpSp>
        <p:nvGrpSpPr>
          <p:cNvPr name="Group 174" id="174"/>
          <p:cNvGrpSpPr/>
          <p:nvPr/>
        </p:nvGrpSpPr>
        <p:grpSpPr>
          <a:xfrm rot="0">
            <a:off x="16361088" y="7454821"/>
            <a:ext cx="501082" cy="572656"/>
            <a:chOff x="0" y="0"/>
            <a:chExt cx="397878" cy="454711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14097" y="7112"/>
              <a:ext cx="369570" cy="447675"/>
            </a:xfrm>
            <a:custGeom>
              <a:avLst/>
              <a:gdLst/>
              <a:ahLst/>
              <a:cxnLst/>
              <a:rect r="r" b="b" t="t" l="l"/>
              <a:pathLst>
                <a:path h="447675" w="369570">
                  <a:moveTo>
                    <a:pt x="184785" y="213106"/>
                  </a:moveTo>
                  <a:cubicBezTo>
                    <a:pt x="243586" y="213106"/>
                    <a:pt x="291338" y="165354"/>
                    <a:pt x="291338" y="106553"/>
                  </a:cubicBezTo>
                  <a:cubicBezTo>
                    <a:pt x="291338" y="47752"/>
                    <a:pt x="243713" y="0"/>
                    <a:pt x="184785" y="0"/>
                  </a:cubicBezTo>
                  <a:cubicBezTo>
                    <a:pt x="125857" y="0"/>
                    <a:pt x="78232" y="47752"/>
                    <a:pt x="78232" y="106553"/>
                  </a:cubicBezTo>
                  <a:cubicBezTo>
                    <a:pt x="78232" y="165354"/>
                    <a:pt x="125984" y="213106"/>
                    <a:pt x="184785" y="213106"/>
                  </a:cubicBezTo>
                  <a:close/>
                  <a:moveTo>
                    <a:pt x="158369" y="262890"/>
                  </a:moveTo>
                  <a:cubicBezTo>
                    <a:pt x="70866" y="262890"/>
                    <a:pt x="0" y="333756"/>
                    <a:pt x="0" y="421259"/>
                  </a:cubicBezTo>
                  <a:cubicBezTo>
                    <a:pt x="0" y="435864"/>
                    <a:pt x="11811" y="447675"/>
                    <a:pt x="26416" y="447675"/>
                  </a:cubicBezTo>
                  <a:lnTo>
                    <a:pt x="343154" y="447675"/>
                  </a:lnTo>
                  <a:cubicBezTo>
                    <a:pt x="357759" y="447675"/>
                    <a:pt x="369570" y="435864"/>
                    <a:pt x="369570" y="421259"/>
                  </a:cubicBezTo>
                  <a:cubicBezTo>
                    <a:pt x="369570" y="333756"/>
                    <a:pt x="298704" y="262890"/>
                    <a:pt x="211201" y="262890"/>
                  </a:cubicBezTo>
                  <a:lnTo>
                    <a:pt x="158496" y="26289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Freeform 176" id="176"/>
          <p:cNvSpPr/>
          <p:nvPr/>
        </p:nvSpPr>
        <p:spPr>
          <a:xfrm flipH="false" flipV="false" rot="0">
            <a:off x="14689160" y="7372350"/>
            <a:ext cx="285976" cy="228781"/>
          </a:xfrm>
          <a:custGeom>
            <a:avLst/>
            <a:gdLst/>
            <a:ahLst/>
            <a:cxnLst/>
            <a:rect r="r" b="b" t="t" l="l"/>
            <a:pathLst>
              <a:path h="228781" w="285976">
                <a:moveTo>
                  <a:pt x="0" y="0"/>
                </a:moveTo>
                <a:lnTo>
                  <a:pt x="285976" y="0"/>
                </a:lnTo>
                <a:lnTo>
                  <a:pt x="285976" y="228781"/>
                </a:lnTo>
                <a:lnTo>
                  <a:pt x="0" y="22878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0012" y="715023"/>
            <a:ext cx="110004" cy="660016"/>
            <a:chOff x="0" y="0"/>
            <a:chExt cx="146672" cy="880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685" cy="879983"/>
            </a:xfrm>
            <a:custGeom>
              <a:avLst/>
              <a:gdLst/>
              <a:ahLst/>
              <a:cxnLst/>
              <a:rect r="r" b="b" t="t" l="l"/>
              <a:pathLst>
                <a:path h="879983" w="146685">
                  <a:moveTo>
                    <a:pt x="0" y="0"/>
                  </a:moveTo>
                  <a:lnTo>
                    <a:pt x="146685" y="0"/>
                  </a:lnTo>
                  <a:lnTo>
                    <a:pt x="146685" y="879983"/>
                  </a:lnTo>
                  <a:lnTo>
                    <a:pt x="0" y="879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5027" y="550012"/>
            <a:ext cx="11935330" cy="330013"/>
            <a:chOff x="0" y="0"/>
            <a:chExt cx="15913773" cy="4400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13768" cy="440012"/>
            </a:xfrm>
            <a:custGeom>
              <a:avLst/>
              <a:gdLst/>
              <a:ahLst/>
              <a:cxnLst/>
              <a:rect r="r" b="b" t="t" l="l"/>
              <a:pathLst>
                <a:path h="440012" w="15913768">
                  <a:moveTo>
                    <a:pt x="0" y="0"/>
                  </a:moveTo>
                  <a:lnTo>
                    <a:pt x="15913768" y="0"/>
                  </a:lnTo>
                  <a:lnTo>
                    <a:pt x="15913768" y="440012"/>
                  </a:lnTo>
                  <a:lnTo>
                    <a:pt x="0" y="440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4708" r="0" b="-6547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5913773" cy="525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b="true" sz="1732" spc="87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SOLUCIÓN 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5027" y="880024"/>
            <a:ext cx="12155329" cy="660016"/>
            <a:chOff x="0" y="0"/>
            <a:chExt cx="16207105" cy="880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07110" cy="880024"/>
            </a:xfrm>
            <a:custGeom>
              <a:avLst/>
              <a:gdLst/>
              <a:ahLst/>
              <a:cxnLst/>
              <a:rect r="r" b="b" t="t" l="l"/>
              <a:pathLst>
                <a:path h="880024" w="16207110">
                  <a:moveTo>
                    <a:pt x="0" y="0"/>
                  </a:moveTo>
                  <a:lnTo>
                    <a:pt x="16207110" y="0"/>
                  </a:lnTo>
                  <a:lnTo>
                    <a:pt x="16207110" y="880024"/>
                  </a:lnTo>
                  <a:lnTo>
                    <a:pt x="0" y="880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849" r="0" b="-30884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104775"/>
              <a:ext cx="16207105" cy="77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89"/>
                </a:lnSpc>
              </a:pPr>
              <a:r>
                <a:rPr lang="en-US" sz="519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Línea 5G Homologada + Kyron Shield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7520" y="2766403"/>
            <a:ext cx="8401479" cy="1760049"/>
            <a:chOff x="0" y="0"/>
            <a:chExt cx="11201972" cy="23467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02035" cy="2346706"/>
            </a:xfrm>
            <a:custGeom>
              <a:avLst/>
              <a:gdLst/>
              <a:ahLst/>
              <a:cxnLst/>
              <a:rect r="r" b="b" t="t" l="l"/>
              <a:pathLst>
                <a:path h="2346706" w="11202035">
                  <a:moveTo>
                    <a:pt x="0" y="0"/>
                  </a:moveTo>
                  <a:lnTo>
                    <a:pt x="11055350" y="0"/>
                  </a:lnTo>
                  <a:cubicBezTo>
                    <a:pt x="11136376" y="0"/>
                    <a:pt x="11202035" y="65659"/>
                    <a:pt x="11202035" y="146685"/>
                  </a:cubicBezTo>
                  <a:lnTo>
                    <a:pt x="11202035" y="2200021"/>
                  </a:lnTo>
                  <a:cubicBezTo>
                    <a:pt x="11202035" y="2281047"/>
                    <a:pt x="11136376" y="2346706"/>
                    <a:pt x="11055350" y="2346706"/>
                  </a:cubicBezTo>
                  <a:lnTo>
                    <a:pt x="0" y="2346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7520" y="2766403"/>
            <a:ext cx="54997" cy="1760049"/>
            <a:chOff x="0" y="0"/>
            <a:chExt cx="73330" cy="23467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79" cy="2346706"/>
            </a:xfrm>
            <a:custGeom>
              <a:avLst/>
              <a:gdLst/>
              <a:ahLst/>
              <a:cxnLst/>
              <a:rect r="r" b="b" t="t" l="l"/>
              <a:pathLst>
                <a:path h="2346706" w="73279">
                  <a:moveTo>
                    <a:pt x="0" y="0"/>
                  </a:moveTo>
                  <a:lnTo>
                    <a:pt x="73279" y="0"/>
                  </a:lnTo>
                  <a:lnTo>
                    <a:pt x="73279" y="2346706"/>
                  </a:lnTo>
                  <a:lnTo>
                    <a:pt x="0" y="2346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0024" y="3041409"/>
            <a:ext cx="660016" cy="660016"/>
            <a:chOff x="0" y="0"/>
            <a:chExt cx="880021" cy="8800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9983" cy="879983"/>
            </a:xfrm>
            <a:custGeom>
              <a:avLst/>
              <a:gdLst/>
              <a:ahLst/>
              <a:cxnLst/>
              <a:rect r="r" b="b" t="t" l="l"/>
              <a:pathLst>
                <a:path h="879983" w="879983">
                  <a:moveTo>
                    <a:pt x="146685" y="0"/>
                  </a:moveTo>
                  <a:lnTo>
                    <a:pt x="733298" y="0"/>
                  </a:lnTo>
                  <a:cubicBezTo>
                    <a:pt x="814197" y="0"/>
                    <a:pt x="879983" y="65659"/>
                    <a:pt x="879983" y="146685"/>
                  </a:cubicBezTo>
                  <a:lnTo>
                    <a:pt x="879983" y="733298"/>
                  </a:lnTo>
                  <a:cubicBezTo>
                    <a:pt x="879983" y="814324"/>
                    <a:pt x="814324" y="879983"/>
                    <a:pt x="733298" y="879983"/>
                  </a:cubicBezTo>
                  <a:lnTo>
                    <a:pt x="146685" y="879983"/>
                  </a:lnTo>
                  <a:cubicBezTo>
                    <a:pt x="65659" y="879983"/>
                    <a:pt x="0" y="814324"/>
                    <a:pt x="0" y="733298"/>
                  </a:cubicBezTo>
                  <a:lnTo>
                    <a:pt x="0" y="146685"/>
                  </a:lnTo>
                  <a:cubicBezTo>
                    <a:pt x="0" y="65659"/>
                    <a:pt x="65659" y="0"/>
                    <a:pt x="146685" y="0"/>
                  </a:cubicBez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45026" y="3206420"/>
            <a:ext cx="330013" cy="330013"/>
          </a:xfrm>
          <a:custGeom>
            <a:avLst/>
            <a:gdLst/>
            <a:ahLst/>
            <a:cxnLst/>
            <a:rect r="r" b="b" t="t" l="l"/>
            <a:pathLst>
              <a:path h="330013" w="330013">
                <a:moveTo>
                  <a:pt x="0" y="0"/>
                </a:moveTo>
                <a:lnTo>
                  <a:pt x="330013" y="0"/>
                </a:lnTo>
                <a:lnTo>
                  <a:pt x="330013" y="330012"/>
                </a:lnTo>
                <a:lnTo>
                  <a:pt x="0" y="330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760049" y="3041409"/>
            <a:ext cx="7081447" cy="385010"/>
            <a:chOff x="0" y="0"/>
            <a:chExt cx="9441929" cy="5133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41924" cy="513348"/>
            </a:xfrm>
            <a:custGeom>
              <a:avLst/>
              <a:gdLst/>
              <a:ahLst/>
              <a:cxnLst/>
              <a:rect r="r" b="b" t="t" l="l"/>
              <a:pathLst>
                <a:path h="513348" w="9441924">
                  <a:moveTo>
                    <a:pt x="0" y="0"/>
                  </a:moveTo>
                  <a:lnTo>
                    <a:pt x="9441924" y="0"/>
                  </a:lnTo>
                  <a:lnTo>
                    <a:pt x="9441924" y="513348"/>
                  </a:lnTo>
                  <a:lnTo>
                    <a:pt x="0" y="513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385" r="0" b="-3083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441929" cy="580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166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Homologación CONATEL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60049" y="3536423"/>
            <a:ext cx="7053939" cy="715023"/>
            <a:chOff x="0" y="0"/>
            <a:chExt cx="9405252" cy="9533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05258" cy="953360"/>
            </a:xfrm>
            <a:custGeom>
              <a:avLst/>
              <a:gdLst/>
              <a:ahLst/>
              <a:cxnLst/>
              <a:rect r="r" b="b" t="t" l="l"/>
              <a:pathLst>
                <a:path h="953360" w="9405258">
                  <a:moveTo>
                    <a:pt x="0" y="0"/>
                  </a:moveTo>
                  <a:lnTo>
                    <a:pt x="9405258" y="0"/>
                  </a:lnTo>
                  <a:lnTo>
                    <a:pt x="9405258" y="953360"/>
                  </a:lnTo>
                  <a:lnTo>
                    <a:pt x="0" y="95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226" r="0" b="-14222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9405252" cy="1058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0"/>
                </a:lnSpc>
              </a:pPr>
              <a:r>
                <a:rPr lang="en-US" sz="1732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Línea certificada oficialmente con </a:t>
              </a:r>
              <a:r>
                <a:rPr lang="en-US" sz="1732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biometría SAIME</a:t>
              </a:r>
              <a:r>
                <a:rPr lang="en-US" sz="1732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integrada para máxima seguridad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7520" y="4746460"/>
            <a:ext cx="8401479" cy="1760049"/>
            <a:chOff x="0" y="0"/>
            <a:chExt cx="11201972" cy="23467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02035" cy="2346706"/>
            </a:xfrm>
            <a:custGeom>
              <a:avLst/>
              <a:gdLst/>
              <a:ahLst/>
              <a:cxnLst/>
              <a:rect r="r" b="b" t="t" l="l"/>
              <a:pathLst>
                <a:path h="2346706" w="11202035">
                  <a:moveTo>
                    <a:pt x="0" y="0"/>
                  </a:moveTo>
                  <a:lnTo>
                    <a:pt x="11055350" y="0"/>
                  </a:lnTo>
                  <a:cubicBezTo>
                    <a:pt x="11136376" y="0"/>
                    <a:pt x="11202035" y="65659"/>
                    <a:pt x="11202035" y="146685"/>
                  </a:cubicBezTo>
                  <a:lnTo>
                    <a:pt x="11202035" y="2200021"/>
                  </a:lnTo>
                  <a:cubicBezTo>
                    <a:pt x="11202035" y="2281047"/>
                    <a:pt x="11136376" y="2346706"/>
                    <a:pt x="11055350" y="2346706"/>
                  </a:cubicBezTo>
                  <a:lnTo>
                    <a:pt x="0" y="2346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77520" y="4746460"/>
            <a:ext cx="54997" cy="1760049"/>
            <a:chOff x="0" y="0"/>
            <a:chExt cx="73330" cy="23467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279" cy="2346706"/>
            </a:xfrm>
            <a:custGeom>
              <a:avLst/>
              <a:gdLst/>
              <a:ahLst/>
              <a:cxnLst/>
              <a:rect r="r" b="b" t="t" l="l"/>
              <a:pathLst>
                <a:path h="2346706" w="73279">
                  <a:moveTo>
                    <a:pt x="0" y="0"/>
                  </a:moveTo>
                  <a:lnTo>
                    <a:pt x="73279" y="0"/>
                  </a:lnTo>
                  <a:lnTo>
                    <a:pt x="73279" y="2346706"/>
                  </a:lnTo>
                  <a:lnTo>
                    <a:pt x="0" y="2346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0024" y="5021466"/>
            <a:ext cx="660016" cy="660016"/>
            <a:chOff x="0" y="0"/>
            <a:chExt cx="880021" cy="8800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9983" cy="879983"/>
            </a:xfrm>
            <a:custGeom>
              <a:avLst/>
              <a:gdLst/>
              <a:ahLst/>
              <a:cxnLst/>
              <a:rect r="r" b="b" t="t" l="l"/>
              <a:pathLst>
                <a:path h="879983" w="879983">
                  <a:moveTo>
                    <a:pt x="146685" y="0"/>
                  </a:moveTo>
                  <a:lnTo>
                    <a:pt x="733298" y="0"/>
                  </a:lnTo>
                  <a:cubicBezTo>
                    <a:pt x="814197" y="0"/>
                    <a:pt x="879983" y="65659"/>
                    <a:pt x="879983" y="146685"/>
                  </a:cubicBezTo>
                  <a:lnTo>
                    <a:pt x="879983" y="733298"/>
                  </a:lnTo>
                  <a:cubicBezTo>
                    <a:pt x="879983" y="814324"/>
                    <a:pt x="814324" y="879983"/>
                    <a:pt x="733298" y="879983"/>
                  </a:cubicBezTo>
                  <a:lnTo>
                    <a:pt x="146685" y="879983"/>
                  </a:lnTo>
                  <a:cubicBezTo>
                    <a:pt x="65659" y="879983"/>
                    <a:pt x="0" y="814324"/>
                    <a:pt x="0" y="733298"/>
                  </a:cubicBezTo>
                  <a:lnTo>
                    <a:pt x="0" y="146685"/>
                  </a:lnTo>
                  <a:cubicBezTo>
                    <a:pt x="0" y="65659"/>
                    <a:pt x="65659" y="0"/>
                    <a:pt x="146685" y="0"/>
                  </a:cubicBezTo>
                  <a:close/>
                </a:path>
              </a:pathLst>
            </a:custGeom>
            <a:solidFill>
              <a:srgbClr val="22D3EE">
                <a:alpha val="3922"/>
              </a:srgbClr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045026" y="5186467"/>
            <a:ext cx="330013" cy="330013"/>
          </a:xfrm>
          <a:custGeom>
            <a:avLst/>
            <a:gdLst/>
            <a:ahLst/>
            <a:cxnLst/>
            <a:rect r="r" b="b" t="t" l="l"/>
            <a:pathLst>
              <a:path h="330013" w="330013">
                <a:moveTo>
                  <a:pt x="0" y="0"/>
                </a:moveTo>
                <a:lnTo>
                  <a:pt x="330013" y="0"/>
                </a:lnTo>
                <a:lnTo>
                  <a:pt x="330013" y="330013"/>
                </a:lnTo>
                <a:lnTo>
                  <a:pt x="0" y="330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760049" y="5021466"/>
            <a:ext cx="7081447" cy="385010"/>
            <a:chOff x="0" y="0"/>
            <a:chExt cx="9441929" cy="5133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41924" cy="513348"/>
            </a:xfrm>
            <a:custGeom>
              <a:avLst/>
              <a:gdLst/>
              <a:ahLst/>
              <a:cxnLst/>
              <a:rect r="r" b="b" t="t" l="l"/>
              <a:pathLst>
                <a:path h="513348" w="9441924">
                  <a:moveTo>
                    <a:pt x="0" y="0"/>
                  </a:moveTo>
                  <a:lnTo>
                    <a:pt x="9441924" y="0"/>
                  </a:lnTo>
                  <a:lnTo>
                    <a:pt x="9441924" y="513348"/>
                  </a:lnTo>
                  <a:lnTo>
                    <a:pt x="0" y="513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385" r="0" b="-30838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441929" cy="580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166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Anti-Phishing Activo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60049" y="5516480"/>
            <a:ext cx="7053939" cy="715023"/>
            <a:chOff x="0" y="0"/>
            <a:chExt cx="9405252" cy="9533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05258" cy="953360"/>
            </a:xfrm>
            <a:custGeom>
              <a:avLst/>
              <a:gdLst/>
              <a:ahLst/>
              <a:cxnLst/>
              <a:rect r="r" b="b" t="t" l="l"/>
              <a:pathLst>
                <a:path h="953360" w="9405258">
                  <a:moveTo>
                    <a:pt x="0" y="0"/>
                  </a:moveTo>
                  <a:lnTo>
                    <a:pt x="9405258" y="0"/>
                  </a:lnTo>
                  <a:lnTo>
                    <a:pt x="9405258" y="953360"/>
                  </a:lnTo>
                  <a:lnTo>
                    <a:pt x="0" y="95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226" r="0" b="-14222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9405252" cy="1058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0"/>
                </a:lnSpc>
              </a:pPr>
              <a:r>
                <a:rPr lang="en-US" sz="1732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Protección </a:t>
              </a:r>
              <a:r>
                <a:rPr lang="en-US" sz="1732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24/7 contra ataques</a:t>
              </a:r>
              <a:r>
                <a:rPr lang="en-US" sz="1732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de phishing y ciberamenazas en tiempo real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77520" y="6726507"/>
            <a:ext cx="8401479" cy="1760049"/>
            <a:chOff x="0" y="0"/>
            <a:chExt cx="11201972" cy="23467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02035" cy="2346706"/>
            </a:xfrm>
            <a:custGeom>
              <a:avLst/>
              <a:gdLst/>
              <a:ahLst/>
              <a:cxnLst/>
              <a:rect r="r" b="b" t="t" l="l"/>
              <a:pathLst>
                <a:path h="2346706" w="11202035">
                  <a:moveTo>
                    <a:pt x="0" y="0"/>
                  </a:moveTo>
                  <a:lnTo>
                    <a:pt x="11055350" y="0"/>
                  </a:lnTo>
                  <a:cubicBezTo>
                    <a:pt x="11136376" y="0"/>
                    <a:pt x="11202035" y="65659"/>
                    <a:pt x="11202035" y="146685"/>
                  </a:cubicBezTo>
                  <a:lnTo>
                    <a:pt x="11202035" y="2200021"/>
                  </a:lnTo>
                  <a:cubicBezTo>
                    <a:pt x="11202035" y="2281047"/>
                    <a:pt x="11136376" y="2346706"/>
                    <a:pt x="11055350" y="2346706"/>
                  </a:cubicBezTo>
                  <a:lnTo>
                    <a:pt x="0" y="2346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77520" y="6726507"/>
            <a:ext cx="54997" cy="1760049"/>
            <a:chOff x="0" y="0"/>
            <a:chExt cx="73330" cy="23467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279" cy="2346706"/>
            </a:xfrm>
            <a:custGeom>
              <a:avLst/>
              <a:gdLst/>
              <a:ahLst/>
              <a:cxnLst/>
              <a:rect r="r" b="b" t="t" l="l"/>
              <a:pathLst>
                <a:path h="2346706" w="73279">
                  <a:moveTo>
                    <a:pt x="0" y="0"/>
                  </a:moveTo>
                  <a:lnTo>
                    <a:pt x="73279" y="0"/>
                  </a:lnTo>
                  <a:lnTo>
                    <a:pt x="73279" y="2346706"/>
                  </a:lnTo>
                  <a:lnTo>
                    <a:pt x="0" y="2346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80024" y="7001523"/>
            <a:ext cx="660016" cy="660016"/>
            <a:chOff x="0" y="0"/>
            <a:chExt cx="880021" cy="88002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9983" cy="879983"/>
            </a:xfrm>
            <a:custGeom>
              <a:avLst/>
              <a:gdLst/>
              <a:ahLst/>
              <a:cxnLst/>
              <a:rect r="r" b="b" t="t" l="l"/>
              <a:pathLst>
                <a:path h="879983" w="879983">
                  <a:moveTo>
                    <a:pt x="146685" y="0"/>
                  </a:moveTo>
                  <a:lnTo>
                    <a:pt x="733298" y="0"/>
                  </a:lnTo>
                  <a:cubicBezTo>
                    <a:pt x="814197" y="0"/>
                    <a:pt x="879983" y="65659"/>
                    <a:pt x="879983" y="146685"/>
                  </a:cubicBezTo>
                  <a:lnTo>
                    <a:pt x="879983" y="733298"/>
                  </a:lnTo>
                  <a:cubicBezTo>
                    <a:pt x="879983" y="814324"/>
                    <a:pt x="814324" y="879983"/>
                    <a:pt x="733298" y="879983"/>
                  </a:cubicBezTo>
                  <a:lnTo>
                    <a:pt x="146685" y="879983"/>
                  </a:lnTo>
                  <a:cubicBezTo>
                    <a:pt x="65659" y="879983"/>
                    <a:pt x="0" y="814324"/>
                    <a:pt x="0" y="733298"/>
                  </a:cubicBezTo>
                  <a:lnTo>
                    <a:pt x="0" y="146685"/>
                  </a:lnTo>
                  <a:cubicBezTo>
                    <a:pt x="0" y="65659"/>
                    <a:pt x="65659" y="0"/>
                    <a:pt x="146685" y="0"/>
                  </a:cubicBezTo>
                  <a:close/>
                </a:path>
              </a:pathLst>
            </a:custGeom>
            <a:solidFill>
              <a:srgbClr val="0891B2">
                <a:alpha val="3922"/>
              </a:srgbClr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1024404" y="7166524"/>
            <a:ext cx="371256" cy="330013"/>
          </a:xfrm>
          <a:custGeom>
            <a:avLst/>
            <a:gdLst/>
            <a:ahLst/>
            <a:cxnLst/>
            <a:rect r="r" b="b" t="t" l="l"/>
            <a:pathLst>
              <a:path h="330013" w="371256">
                <a:moveTo>
                  <a:pt x="0" y="0"/>
                </a:moveTo>
                <a:lnTo>
                  <a:pt x="371256" y="0"/>
                </a:lnTo>
                <a:lnTo>
                  <a:pt x="371256" y="330013"/>
                </a:lnTo>
                <a:lnTo>
                  <a:pt x="0" y="3300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760049" y="7001523"/>
            <a:ext cx="7081447" cy="385010"/>
            <a:chOff x="0" y="0"/>
            <a:chExt cx="9441929" cy="51334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441924" cy="513348"/>
            </a:xfrm>
            <a:custGeom>
              <a:avLst/>
              <a:gdLst/>
              <a:ahLst/>
              <a:cxnLst/>
              <a:rect r="r" b="b" t="t" l="l"/>
              <a:pathLst>
                <a:path h="513348" w="9441924">
                  <a:moveTo>
                    <a:pt x="0" y="0"/>
                  </a:moveTo>
                  <a:lnTo>
                    <a:pt x="9441924" y="0"/>
                  </a:lnTo>
                  <a:lnTo>
                    <a:pt x="9441924" y="513348"/>
                  </a:lnTo>
                  <a:lnTo>
                    <a:pt x="0" y="513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385" r="0" b="-30838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441929" cy="580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166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Abogado + Reposición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60049" y="7496537"/>
            <a:ext cx="7053939" cy="715023"/>
            <a:chOff x="0" y="0"/>
            <a:chExt cx="9405252" cy="9533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405258" cy="953360"/>
            </a:xfrm>
            <a:custGeom>
              <a:avLst/>
              <a:gdLst/>
              <a:ahLst/>
              <a:cxnLst/>
              <a:rect r="r" b="b" t="t" l="l"/>
              <a:pathLst>
                <a:path h="953360" w="9405258">
                  <a:moveTo>
                    <a:pt x="0" y="0"/>
                  </a:moveTo>
                  <a:lnTo>
                    <a:pt x="9405258" y="0"/>
                  </a:lnTo>
                  <a:lnTo>
                    <a:pt x="9405258" y="953360"/>
                  </a:lnTo>
                  <a:lnTo>
                    <a:pt x="0" y="95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226" r="0" b="-14222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04775"/>
              <a:ext cx="9405252" cy="1058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0"/>
                </a:lnSpc>
              </a:pPr>
              <a:r>
                <a:rPr lang="en-US" sz="1732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Servicio legal especializado y </a:t>
              </a:r>
              <a:r>
                <a:rPr lang="en-US" sz="1732" b="true">
                  <a:solidFill>
                    <a:srgbClr val="0891B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reposición de equipo</a:t>
              </a:r>
              <a:r>
                <a:rPr lang="en-US" sz="1732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ante cualquier incidente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547897" y="8704450"/>
            <a:ext cx="8427720" cy="851259"/>
          </a:xfrm>
          <a:custGeom>
            <a:avLst/>
            <a:gdLst/>
            <a:ahLst/>
            <a:cxnLst/>
            <a:rect r="r" b="b" t="t" l="l"/>
            <a:pathLst>
              <a:path h="851259" w="8427720">
                <a:moveTo>
                  <a:pt x="0" y="0"/>
                </a:moveTo>
                <a:lnTo>
                  <a:pt x="8427720" y="0"/>
                </a:lnTo>
                <a:lnTo>
                  <a:pt x="8427720" y="851259"/>
                </a:lnTo>
                <a:lnTo>
                  <a:pt x="0" y="8512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63527" y="8965073"/>
            <a:ext cx="247507" cy="330013"/>
          </a:xfrm>
          <a:custGeom>
            <a:avLst/>
            <a:gdLst/>
            <a:ahLst/>
            <a:cxnLst/>
            <a:rect r="r" b="b" t="t" l="l"/>
            <a:pathLst>
              <a:path h="330013" w="247507">
                <a:moveTo>
                  <a:pt x="0" y="0"/>
                </a:moveTo>
                <a:lnTo>
                  <a:pt x="247507" y="0"/>
                </a:lnTo>
                <a:lnTo>
                  <a:pt x="247507" y="330013"/>
                </a:lnTo>
                <a:lnTo>
                  <a:pt x="0" y="3300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301937" y="8933135"/>
            <a:ext cx="4965484" cy="389450"/>
            <a:chOff x="0" y="0"/>
            <a:chExt cx="6545174" cy="51334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45178" cy="513348"/>
            </a:xfrm>
            <a:custGeom>
              <a:avLst/>
              <a:gdLst/>
              <a:ahLst/>
              <a:cxnLst/>
              <a:rect r="r" b="b" t="t" l="l"/>
              <a:pathLst>
                <a:path h="513348" w="6545178">
                  <a:moveTo>
                    <a:pt x="0" y="0"/>
                  </a:moveTo>
                  <a:lnTo>
                    <a:pt x="6545178" y="0"/>
                  </a:lnTo>
                  <a:lnTo>
                    <a:pt x="6545178" y="513348"/>
                  </a:lnTo>
                  <a:lnTo>
                    <a:pt x="0" y="513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433" r="0" b="-19843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6545174" cy="580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166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PROTECCIÓN ACTIVA GARANTIZADA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07459" y="2035054"/>
            <a:ext cx="8428977" cy="8250222"/>
            <a:chOff x="0" y="0"/>
            <a:chExt cx="11238636" cy="110002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38611" cy="11000233"/>
            </a:xfrm>
            <a:custGeom>
              <a:avLst/>
              <a:gdLst/>
              <a:ahLst/>
              <a:cxnLst/>
              <a:rect r="r" b="b" t="t" l="l"/>
              <a:pathLst>
                <a:path h="11000233" w="11238611">
                  <a:moveTo>
                    <a:pt x="219964" y="0"/>
                  </a:moveTo>
                  <a:lnTo>
                    <a:pt x="11018647" y="0"/>
                  </a:lnTo>
                  <a:cubicBezTo>
                    <a:pt x="11140186" y="0"/>
                    <a:pt x="11238611" y="98552"/>
                    <a:pt x="11238611" y="219964"/>
                  </a:cubicBezTo>
                  <a:lnTo>
                    <a:pt x="11238611" y="10780268"/>
                  </a:lnTo>
                  <a:cubicBezTo>
                    <a:pt x="11238611" y="10901807"/>
                    <a:pt x="11140059" y="11000232"/>
                    <a:pt x="11018647" y="11000232"/>
                  </a:cubicBezTo>
                  <a:lnTo>
                    <a:pt x="219964" y="11000232"/>
                  </a:lnTo>
                  <a:cubicBezTo>
                    <a:pt x="98552" y="11000359"/>
                    <a:pt x="0" y="10901807"/>
                    <a:pt x="0" y="10780268"/>
                  </a:cubicBezTo>
                  <a:lnTo>
                    <a:pt x="0" y="219964"/>
                  </a:lnTo>
                  <a:cubicBezTo>
                    <a:pt x="0" y="98552"/>
                    <a:pt x="98552" y="0"/>
                    <a:pt x="219964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201049" y="2365067"/>
            <a:ext cx="2640073" cy="2640073"/>
            <a:chOff x="0" y="0"/>
            <a:chExt cx="3520097" cy="3520097"/>
          </a:xfrm>
        </p:grpSpPr>
        <p:sp>
          <p:nvSpPr>
            <p:cNvPr name="Freeform 57" id="57" descr="https://kimi-web-img.moonshot.cn/img/static.vecteezy.com/77c4ab8558f8b81730d7413e9348fd8df89fbf1a.png"/>
            <p:cNvSpPr/>
            <p:nvPr/>
          </p:nvSpPr>
          <p:spPr>
            <a:xfrm flipH="false" flipV="false" rot="0">
              <a:off x="0" y="0"/>
              <a:ext cx="3520059" cy="3520059"/>
            </a:xfrm>
            <a:custGeom>
              <a:avLst/>
              <a:gdLst/>
              <a:ahLst/>
              <a:cxnLst/>
              <a:rect r="r" b="b" t="t" l="l"/>
              <a:pathLst>
                <a:path h="3520059" w="3520059">
                  <a:moveTo>
                    <a:pt x="0" y="0"/>
                  </a:moveTo>
                  <a:lnTo>
                    <a:pt x="3520059" y="0"/>
                  </a:lnTo>
                  <a:lnTo>
                    <a:pt x="3520059" y="3520059"/>
                  </a:lnTo>
                  <a:lnTo>
                    <a:pt x="0" y="3520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5000" t="0" r="-25002" b="-2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554966" y="5225139"/>
            <a:ext cx="7933963" cy="440007"/>
            <a:chOff x="0" y="0"/>
            <a:chExt cx="10578617" cy="5866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578622" cy="586682"/>
            </a:xfrm>
            <a:custGeom>
              <a:avLst/>
              <a:gdLst/>
              <a:ahLst/>
              <a:cxnLst/>
              <a:rect r="r" b="b" t="t" l="l"/>
              <a:pathLst>
                <a:path h="586682" w="10578622">
                  <a:moveTo>
                    <a:pt x="0" y="0"/>
                  </a:moveTo>
                  <a:lnTo>
                    <a:pt x="10578622" y="0"/>
                  </a:lnTo>
                  <a:lnTo>
                    <a:pt x="10578622" y="586682"/>
                  </a:lnTo>
                  <a:lnTo>
                    <a:pt x="0" y="5866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340" r="0" b="-30133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578617" cy="634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9"/>
                </a:lnSpc>
              </a:pPr>
              <a:r>
                <a:rPr lang="en-US" sz="259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Kyron Shield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75587" y="5774988"/>
            <a:ext cx="7892720" cy="385010"/>
            <a:chOff x="0" y="0"/>
            <a:chExt cx="10523626" cy="51334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523622" cy="513348"/>
            </a:xfrm>
            <a:custGeom>
              <a:avLst/>
              <a:gdLst/>
              <a:ahLst/>
              <a:cxnLst/>
              <a:rect r="r" b="b" t="t" l="l"/>
              <a:pathLst>
                <a:path h="513348" w="10523622">
                  <a:moveTo>
                    <a:pt x="0" y="0"/>
                  </a:moveTo>
                  <a:lnTo>
                    <a:pt x="10523622" y="0"/>
                  </a:lnTo>
                  <a:lnTo>
                    <a:pt x="10523622" y="513348"/>
                  </a:lnTo>
                  <a:lnTo>
                    <a:pt x="0" y="513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85725"/>
              <a:ext cx="10523626" cy="59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9"/>
                </a:lnSpc>
              </a:pPr>
              <a:r>
                <a:rPr lang="en-US" sz="1948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Seguridad Empresarial Total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37471" y="6435004"/>
            <a:ext cx="3795103" cy="1677543"/>
            <a:chOff x="0" y="0"/>
            <a:chExt cx="5060137" cy="22367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060188" cy="2236724"/>
            </a:xfrm>
            <a:custGeom>
              <a:avLst/>
              <a:gdLst/>
              <a:ahLst/>
              <a:cxnLst/>
              <a:rect r="r" b="b" t="t" l="l"/>
              <a:pathLst>
                <a:path h="2236724" w="5060188">
                  <a:moveTo>
                    <a:pt x="146685" y="0"/>
                  </a:moveTo>
                  <a:lnTo>
                    <a:pt x="4913503" y="0"/>
                  </a:lnTo>
                  <a:cubicBezTo>
                    <a:pt x="4994529" y="0"/>
                    <a:pt x="5060188" y="65659"/>
                    <a:pt x="5060188" y="146685"/>
                  </a:cubicBezTo>
                  <a:lnTo>
                    <a:pt x="5060188" y="2090039"/>
                  </a:lnTo>
                  <a:cubicBezTo>
                    <a:pt x="5060188" y="2171065"/>
                    <a:pt x="4994529" y="2236724"/>
                    <a:pt x="4913503" y="2236724"/>
                  </a:cubicBezTo>
                  <a:lnTo>
                    <a:pt x="146685" y="2236724"/>
                  </a:lnTo>
                  <a:cubicBezTo>
                    <a:pt x="65659" y="2236724"/>
                    <a:pt x="0" y="2171065"/>
                    <a:pt x="0" y="2090039"/>
                  </a:cubicBezTo>
                  <a:lnTo>
                    <a:pt x="0" y="146685"/>
                  </a:lnTo>
                  <a:cubicBezTo>
                    <a:pt x="0" y="65659"/>
                    <a:pt x="65659" y="0"/>
                    <a:pt x="146685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11335121" y="6655013"/>
            <a:ext cx="412509" cy="412509"/>
          </a:xfrm>
          <a:custGeom>
            <a:avLst/>
            <a:gdLst/>
            <a:ahLst/>
            <a:cxnLst/>
            <a:rect r="r" b="b" t="t" l="l"/>
            <a:pathLst>
              <a:path h="412509" w="412509">
                <a:moveTo>
                  <a:pt x="0" y="0"/>
                </a:moveTo>
                <a:lnTo>
                  <a:pt x="412509" y="0"/>
                </a:lnTo>
                <a:lnTo>
                  <a:pt x="412509" y="412508"/>
                </a:lnTo>
                <a:lnTo>
                  <a:pt x="0" y="4125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9809350" y="7177526"/>
            <a:ext cx="3451346" cy="275006"/>
            <a:chOff x="0" y="0"/>
            <a:chExt cx="4601794" cy="36667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01792" cy="366676"/>
            </a:xfrm>
            <a:custGeom>
              <a:avLst/>
              <a:gdLst/>
              <a:ahLst/>
              <a:cxnLst/>
              <a:rect r="r" b="b" t="t" l="l"/>
              <a:pathLst>
                <a:path h="366676" w="4601792">
                  <a:moveTo>
                    <a:pt x="0" y="0"/>
                  </a:moveTo>
                  <a:lnTo>
                    <a:pt x="4601792" y="0"/>
                  </a:lnTo>
                  <a:lnTo>
                    <a:pt x="4601792" y="366676"/>
                  </a:lnTo>
                  <a:lnTo>
                    <a:pt x="0" y="3666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538" r="0" b="-19453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4601794" cy="41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83"/>
                </a:lnSpc>
              </a:pPr>
              <a:r>
                <a:rPr lang="en-US" sz="151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Biometría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95596" y="7507538"/>
            <a:ext cx="3478844" cy="385010"/>
            <a:chOff x="0" y="0"/>
            <a:chExt cx="4638459" cy="51334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638460" cy="513348"/>
            </a:xfrm>
            <a:custGeom>
              <a:avLst/>
              <a:gdLst/>
              <a:ahLst/>
              <a:cxnLst/>
              <a:rect r="r" b="b" t="t" l="l"/>
              <a:pathLst>
                <a:path h="513348" w="4638460">
                  <a:moveTo>
                    <a:pt x="0" y="0"/>
                  </a:moveTo>
                  <a:lnTo>
                    <a:pt x="4638460" y="0"/>
                  </a:lnTo>
                  <a:lnTo>
                    <a:pt x="4638460" y="513348"/>
                  </a:lnTo>
                  <a:lnTo>
                    <a:pt x="0" y="513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061" r="0" b="-12606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85725"/>
              <a:ext cx="4638459" cy="59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9"/>
                </a:lnSpc>
              </a:pPr>
              <a:r>
                <a:rPr lang="en-US" sz="194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SAIME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603595" y="6435004"/>
            <a:ext cx="3795103" cy="1677543"/>
            <a:chOff x="0" y="0"/>
            <a:chExt cx="5060137" cy="223672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060188" cy="2236724"/>
            </a:xfrm>
            <a:custGeom>
              <a:avLst/>
              <a:gdLst/>
              <a:ahLst/>
              <a:cxnLst/>
              <a:rect r="r" b="b" t="t" l="l"/>
              <a:pathLst>
                <a:path h="2236724" w="5060188">
                  <a:moveTo>
                    <a:pt x="146685" y="0"/>
                  </a:moveTo>
                  <a:lnTo>
                    <a:pt x="4913503" y="0"/>
                  </a:lnTo>
                  <a:cubicBezTo>
                    <a:pt x="4994529" y="0"/>
                    <a:pt x="5060188" y="65659"/>
                    <a:pt x="5060188" y="146685"/>
                  </a:cubicBezTo>
                  <a:lnTo>
                    <a:pt x="5060188" y="2090039"/>
                  </a:lnTo>
                  <a:cubicBezTo>
                    <a:pt x="5060188" y="2171065"/>
                    <a:pt x="4994529" y="2236724"/>
                    <a:pt x="4913503" y="2236724"/>
                  </a:cubicBezTo>
                  <a:lnTo>
                    <a:pt x="146685" y="2236724"/>
                  </a:lnTo>
                  <a:cubicBezTo>
                    <a:pt x="65659" y="2236724"/>
                    <a:pt x="0" y="2171065"/>
                    <a:pt x="0" y="2090039"/>
                  </a:cubicBezTo>
                  <a:lnTo>
                    <a:pt x="0" y="146685"/>
                  </a:lnTo>
                  <a:cubicBezTo>
                    <a:pt x="0" y="65659"/>
                    <a:pt x="65659" y="0"/>
                    <a:pt x="146685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5327201" y="6655013"/>
            <a:ext cx="360950" cy="412509"/>
            <a:chOff x="0" y="0"/>
            <a:chExt cx="481267" cy="5500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-28" y="-17274"/>
              <a:ext cx="481386" cy="584584"/>
            </a:xfrm>
            <a:custGeom>
              <a:avLst/>
              <a:gdLst/>
              <a:ahLst/>
              <a:cxnLst/>
              <a:rect r="r" b="b" t="t" l="l"/>
              <a:pathLst>
                <a:path h="584584" w="481386">
                  <a:moveTo>
                    <a:pt x="364010" y="6606"/>
                  </a:moveTo>
                  <a:cubicBezTo>
                    <a:pt x="376837" y="15877"/>
                    <a:pt x="381536" y="32641"/>
                    <a:pt x="375694" y="47246"/>
                  </a:cubicBezTo>
                  <a:lnTo>
                    <a:pt x="291493" y="257939"/>
                  </a:lnTo>
                  <a:lnTo>
                    <a:pt x="446941" y="257939"/>
                  </a:lnTo>
                  <a:cubicBezTo>
                    <a:pt x="461419" y="257939"/>
                    <a:pt x="474373" y="266956"/>
                    <a:pt x="479326" y="280545"/>
                  </a:cubicBezTo>
                  <a:cubicBezTo>
                    <a:pt x="484279" y="294134"/>
                    <a:pt x="480088" y="309501"/>
                    <a:pt x="469039" y="318645"/>
                  </a:cubicBezTo>
                  <a:lnTo>
                    <a:pt x="159540" y="576582"/>
                  </a:lnTo>
                  <a:cubicBezTo>
                    <a:pt x="147348" y="586742"/>
                    <a:pt x="130076" y="587250"/>
                    <a:pt x="117376" y="577979"/>
                  </a:cubicBezTo>
                  <a:cubicBezTo>
                    <a:pt x="104676" y="568708"/>
                    <a:pt x="99850" y="551944"/>
                    <a:pt x="105692" y="537339"/>
                  </a:cubicBezTo>
                  <a:lnTo>
                    <a:pt x="189893" y="326646"/>
                  </a:lnTo>
                  <a:lnTo>
                    <a:pt x="34445" y="326646"/>
                  </a:lnTo>
                  <a:cubicBezTo>
                    <a:pt x="19967" y="326646"/>
                    <a:pt x="7013" y="317629"/>
                    <a:pt x="2060" y="304040"/>
                  </a:cubicBezTo>
                  <a:cubicBezTo>
                    <a:pt x="-2893" y="290451"/>
                    <a:pt x="1298" y="275084"/>
                    <a:pt x="12347" y="265940"/>
                  </a:cubicBezTo>
                  <a:lnTo>
                    <a:pt x="321719" y="8003"/>
                  </a:lnTo>
                  <a:cubicBezTo>
                    <a:pt x="333911" y="-2157"/>
                    <a:pt x="351183" y="-2665"/>
                    <a:pt x="363883" y="660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775474" y="7177526"/>
            <a:ext cx="3451346" cy="275006"/>
            <a:chOff x="0" y="0"/>
            <a:chExt cx="4601794" cy="36667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601792" cy="366676"/>
            </a:xfrm>
            <a:custGeom>
              <a:avLst/>
              <a:gdLst/>
              <a:ahLst/>
              <a:cxnLst/>
              <a:rect r="r" b="b" t="t" l="l"/>
              <a:pathLst>
                <a:path h="366676" w="4601792">
                  <a:moveTo>
                    <a:pt x="0" y="0"/>
                  </a:moveTo>
                  <a:lnTo>
                    <a:pt x="4601792" y="0"/>
                  </a:lnTo>
                  <a:lnTo>
                    <a:pt x="4601792" y="366676"/>
                  </a:lnTo>
                  <a:lnTo>
                    <a:pt x="0" y="3666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538" r="0" b="-19453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601794" cy="41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83"/>
                </a:lnSpc>
              </a:pPr>
              <a:r>
                <a:rPr lang="en-US" sz="151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Detección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761720" y="7507538"/>
            <a:ext cx="3478844" cy="385010"/>
            <a:chOff x="0" y="0"/>
            <a:chExt cx="4638459" cy="51334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638460" cy="513348"/>
            </a:xfrm>
            <a:custGeom>
              <a:avLst/>
              <a:gdLst/>
              <a:ahLst/>
              <a:cxnLst/>
              <a:rect r="r" b="b" t="t" l="l"/>
              <a:pathLst>
                <a:path h="513348" w="4638460">
                  <a:moveTo>
                    <a:pt x="0" y="0"/>
                  </a:moveTo>
                  <a:lnTo>
                    <a:pt x="4638460" y="0"/>
                  </a:lnTo>
                  <a:lnTo>
                    <a:pt x="4638460" y="513348"/>
                  </a:lnTo>
                  <a:lnTo>
                    <a:pt x="0" y="513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061" r="0" b="-12606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85725"/>
              <a:ext cx="4638459" cy="59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9"/>
                </a:lnSpc>
              </a:pPr>
              <a:r>
                <a:rPr lang="en-US" sz="194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Tiempo Real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37471" y="8277558"/>
            <a:ext cx="3795103" cy="1677543"/>
            <a:chOff x="0" y="0"/>
            <a:chExt cx="5060137" cy="223672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060188" cy="2236724"/>
            </a:xfrm>
            <a:custGeom>
              <a:avLst/>
              <a:gdLst/>
              <a:ahLst/>
              <a:cxnLst/>
              <a:rect r="r" b="b" t="t" l="l"/>
              <a:pathLst>
                <a:path h="2236724" w="5060188">
                  <a:moveTo>
                    <a:pt x="146685" y="0"/>
                  </a:moveTo>
                  <a:lnTo>
                    <a:pt x="4913503" y="0"/>
                  </a:lnTo>
                  <a:cubicBezTo>
                    <a:pt x="4994529" y="0"/>
                    <a:pt x="5060188" y="65659"/>
                    <a:pt x="5060188" y="146685"/>
                  </a:cubicBezTo>
                  <a:lnTo>
                    <a:pt x="5060188" y="2090039"/>
                  </a:lnTo>
                  <a:cubicBezTo>
                    <a:pt x="5060188" y="2171065"/>
                    <a:pt x="4994529" y="2236724"/>
                    <a:pt x="4913503" y="2236724"/>
                  </a:cubicBezTo>
                  <a:lnTo>
                    <a:pt x="146685" y="2236724"/>
                  </a:lnTo>
                  <a:cubicBezTo>
                    <a:pt x="65659" y="2236724"/>
                    <a:pt x="0" y="2171065"/>
                    <a:pt x="0" y="2090039"/>
                  </a:cubicBezTo>
                  <a:lnTo>
                    <a:pt x="0" y="146685"/>
                  </a:lnTo>
                  <a:cubicBezTo>
                    <a:pt x="0" y="65659"/>
                    <a:pt x="65659" y="0"/>
                    <a:pt x="146685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11309337" y="8497567"/>
            <a:ext cx="464077" cy="412509"/>
          </a:xfrm>
          <a:custGeom>
            <a:avLst/>
            <a:gdLst/>
            <a:ahLst/>
            <a:cxnLst/>
            <a:rect r="r" b="b" t="t" l="l"/>
            <a:pathLst>
              <a:path h="412509" w="464077">
                <a:moveTo>
                  <a:pt x="0" y="0"/>
                </a:moveTo>
                <a:lnTo>
                  <a:pt x="464077" y="0"/>
                </a:lnTo>
                <a:lnTo>
                  <a:pt x="464077" y="412509"/>
                </a:lnTo>
                <a:lnTo>
                  <a:pt x="0" y="4125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9809350" y="9020080"/>
            <a:ext cx="3451346" cy="275006"/>
            <a:chOff x="0" y="0"/>
            <a:chExt cx="4601794" cy="36667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601792" cy="366676"/>
            </a:xfrm>
            <a:custGeom>
              <a:avLst/>
              <a:gdLst/>
              <a:ahLst/>
              <a:cxnLst/>
              <a:rect r="r" b="b" t="t" l="l"/>
              <a:pathLst>
                <a:path h="366676" w="4601792">
                  <a:moveTo>
                    <a:pt x="0" y="0"/>
                  </a:moveTo>
                  <a:lnTo>
                    <a:pt x="4601792" y="0"/>
                  </a:lnTo>
                  <a:lnTo>
                    <a:pt x="4601792" y="366676"/>
                  </a:lnTo>
                  <a:lnTo>
                    <a:pt x="0" y="3666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538" r="0" b="-19453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4601794" cy="41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83"/>
                </a:lnSpc>
              </a:pPr>
              <a:r>
                <a:rPr lang="en-US" sz="151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Soporte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95596" y="9350092"/>
            <a:ext cx="3478844" cy="385010"/>
            <a:chOff x="0" y="0"/>
            <a:chExt cx="4638459" cy="51334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638460" cy="513348"/>
            </a:xfrm>
            <a:custGeom>
              <a:avLst/>
              <a:gdLst/>
              <a:ahLst/>
              <a:cxnLst/>
              <a:rect r="r" b="b" t="t" l="l"/>
              <a:pathLst>
                <a:path h="513348" w="4638460">
                  <a:moveTo>
                    <a:pt x="0" y="0"/>
                  </a:moveTo>
                  <a:lnTo>
                    <a:pt x="4638460" y="0"/>
                  </a:lnTo>
                  <a:lnTo>
                    <a:pt x="4638460" y="513348"/>
                  </a:lnTo>
                  <a:lnTo>
                    <a:pt x="0" y="513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061" r="0" b="-12606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85725"/>
              <a:ext cx="4638459" cy="59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9"/>
                </a:lnSpc>
              </a:pPr>
              <a:r>
                <a:rPr lang="en-US" sz="194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Legal 24/7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603595" y="8277558"/>
            <a:ext cx="3795103" cy="1677543"/>
            <a:chOff x="0" y="0"/>
            <a:chExt cx="5060137" cy="22367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060188" cy="2236724"/>
            </a:xfrm>
            <a:custGeom>
              <a:avLst/>
              <a:gdLst/>
              <a:ahLst/>
              <a:cxnLst/>
              <a:rect r="r" b="b" t="t" l="l"/>
              <a:pathLst>
                <a:path h="2236724" w="5060188">
                  <a:moveTo>
                    <a:pt x="146685" y="0"/>
                  </a:moveTo>
                  <a:lnTo>
                    <a:pt x="4913503" y="0"/>
                  </a:lnTo>
                  <a:cubicBezTo>
                    <a:pt x="4994529" y="0"/>
                    <a:pt x="5060188" y="65659"/>
                    <a:pt x="5060188" y="146685"/>
                  </a:cubicBezTo>
                  <a:lnTo>
                    <a:pt x="5060188" y="2090039"/>
                  </a:lnTo>
                  <a:cubicBezTo>
                    <a:pt x="5060188" y="2171065"/>
                    <a:pt x="4994529" y="2236724"/>
                    <a:pt x="4913503" y="2236724"/>
                  </a:cubicBezTo>
                  <a:lnTo>
                    <a:pt x="146685" y="2236724"/>
                  </a:lnTo>
                  <a:cubicBezTo>
                    <a:pt x="65659" y="2236724"/>
                    <a:pt x="0" y="2171065"/>
                    <a:pt x="0" y="2090039"/>
                  </a:cubicBezTo>
                  <a:lnTo>
                    <a:pt x="0" y="146685"/>
                  </a:lnTo>
                  <a:cubicBezTo>
                    <a:pt x="0" y="65659"/>
                    <a:pt x="65659" y="0"/>
                    <a:pt x="146685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94" id="94"/>
          <p:cNvSpPr/>
          <p:nvPr/>
        </p:nvSpPr>
        <p:spPr>
          <a:xfrm flipH="false" flipV="false" rot="0">
            <a:off x="15352986" y="8497567"/>
            <a:ext cx="309382" cy="412509"/>
          </a:xfrm>
          <a:custGeom>
            <a:avLst/>
            <a:gdLst/>
            <a:ahLst/>
            <a:cxnLst/>
            <a:rect r="r" b="b" t="t" l="l"/>
            <a:pathLst>
              <a:path h="412509" w="309382">
                <a:moveTo>
                  <a:pt x="0" y="0"/>
                </a:moveTo>
                <a:lnTo>
                  <a:pt x="309381" y="0"/>
                </a:lnTo>
                <a:lnTo>
                  <a:pt x="309381" y="412509"/>
                </a:lnTo>
                <a:lnTo>
                  <a:pt x="0" y="41250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3775474" y="9020080"/>
            <a:ext cx="3451346" cy="275006"/>
            <a:chOff x="0" y="0"/>
            <a:chExt cx="4601794" cy="36667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601792" cy="366676"/>
            </a:xfrm>
            <a:custGeom>
              <a:avLst/>
              <a:gdLst/>
              <a:ahLst/>
              <a:cxnLst/>
              <a:rect r="r" b="b" t="t" l="l"/>
              <a:pathLst>
                <a:path h="366676" w="4601792">
                  <a:moveTo>
                    <a:pt x="0" y="0"/>
                  </a:moveTo>
                  <a:lnTo>
                    <a:pt x="4601792" y="0"/>
                  </a:lnTo>
                  <a:lnTo>
                    <a:pt x="4601792" y="366676"/>
                  </a:lnTo>
                  <a:lnTo>
                    <a:pt x="0" y="3666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538" r="0" b="-19453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4601794" cy="41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83"/>
                </a:lnSpc>
              </a:pPr>
              <a:r>
                <a:rPr lang="en-US" sz="151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Reposición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761720" y="9350092"/>
            <a:ext cx="3478844" cy="385010"/>
            <a:chOff x="0" y="0"/>
            <a:chExt cx="4638459" cy="51334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638460" cy="513348"/>
            </a:xfrm>
            <a:custGeom>
              <a:avLst/>
              <a:gdLst/>
              <a:ahLst/>
              <a:cxnLst/>
              <a:rect r="r" b="b" t="t" l="l"/>
              <a:pathLst>
                <a:path h="513348" w="4638460">
                  <a:moveTo>
                    <a:pt x="0" y="0"/>
                  </a:moveTo>
                  <a:lnTo>
                    <a:pt x="4638460" y="0"/>
                  </a:lnTo>
                  <a:lnTo>
                    <a:pt x="4638460" y="513348"/>
                  </a:lnTo>
                  <a:lnTo>
                    <a:pt x="0" y="513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061" r="0" b="-12606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85725"/>
              <a:ext cx="4638459" cy="59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9"/>
                </a:lnSpc>
              </a:pPr>
              <a:r>
                <a:rPr lang="en-US" sz="194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Inmediata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678" y="717175"/>
            <a:ext cx="110338" cy="662007"/>
            <a:chOff x="0" y="0"/>
            <a:chExt cx="147117" cy="882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066" cy="882650"/>
            </a:xfrm>
            <a:custGeom>
              <a:avLst/>
              <a:gdLst/>
              <a:ahLst/>
              <a:cxnLst/>
              <a:rect r="r" b="b" t="t" l="l"/>
              <a:pathLst>
                <a:path h="882650" w="147066">
                  <a:moveTo>
                    <a:pt x="0" y="0"/>
                  </a:moveTo>
                  <a:lnTo>
                    <a:pt x="147066" y="0"/>
                  </a:lnTo>
                  <a:lnTo>
                    <a:pt x="147066" y="882650"/>
                  </a:lnTo>
                  <a:lnTo>
                    <a:pt x="0" y="882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7513" y="551678"/>
            <a:ext cx="12729886" cy="331003"/>
            <a:chOff x="0" y="0"/>
            <a:chExt cx="16973182" cy="4413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73176" cy="441340"/>
            </a:xfrm>
            <a:custGeom>
              <a:avLst/>
              <a:gdLst/>
              <a:ahLst/>
              <a:cxnLst/>
              <a:rect r="r" b="b" t="t" l="l"/>
              <a:pathLst>
                <a:path h="441340" w="16973176">
                  <a:moveTo>
                    <a:pt x="0" y="0"/>
                  </a:moveTo>
                  <a:lnTo>
                    <a:pt x="16973176" y="0"/>
                  </a:lnTo>
                  <a:lnTo>
                    <a:pt x="16973176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9361" r="0" b="-6993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6973182" cy="50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b="true" sz="1737" spc="87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SOLUCIÓN 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7513" y="882682"/>
            <a:ext cx="12950552" cy="662007"/>
            <a:chOff x="0" y="0"/>
            <a:chExt cx="17267403" cy="882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267402" cy="882678"/>
            </a:xfrm>
            <a:custGeom>
              <a:avLst/>
              <a:gdLst/>
              <a:ahLst/>
              <a:cxnLst/>
              <a:rect r="r" b="b" t="t" l="l"/>
              <a:pathLst>
                <a:path h="882678" w="17267402">
                  <a:moveTo>
                    <a:pt x="0" y="0"/>
                  </a:moveTo>
                  <a:lnTo>
                    <a:pt x="17267402" y="0"/>
                  </a:lnTo>
                  <a:lnTo>
                    <a:pt x="17267402" y="882678"/>
                  </a:lnTo>
                  <a:lnTo>
                    <a:pt x="0" y="882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1176" r="0" b="-3311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17267403" cy="787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04"/>
                </a:lnSpc>
              </a:pPr>
              <a:r>
                <a:rPr lang="en-US" sz="52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Contabilidad IA con Alertas Predictivas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51678" y="2041198"/>
            <a:ext cx="8426825" cy="6344250"/>
            <a:chOff x="0" y="0"/>
            <a:chExt cx="11235766" cy="84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35817" cy="8459089"/>
            </a:xfrm>
            <a:custGeom>
              <a:avLst/>
              <a:gdLst/>
              <a:ahLst/>
              <a:cxnLst/>
              <a:rect r="r" b="b" t="t" l="l"/>
              <a:pathLst>
                <a:path h="8459089" w="11235817">
                  <a:moveTo>
                    <a:pt x="220726" y="0"/>
                  </a:moveTo>
                  <a:lnTo>
                    <a:pt x="11015091" y="0"/>
                  </a:lnTo>
                  <a:cubicBezTo>
                    <a:pt x="11137011" y="0"/>
                    <a:pt x="11235817" y="98806"/>
                    <a:pt x="11235817" y="220726"/>
                  </a:cubicBezTo>
                  <a:lnTo>
                    <a:pt x="11235817" y="8238363"/>
                  </a:lnTo>
                  <a:cubicBezTo>
                    <a:pt x="11235817" y="8360283"/>
                    <a:pt x="11137011" y="8459089"/>
                    <a:pt x="11015091" y="8459089"/>
                  </a:cubicBezTo>
                  <a:lnTo>
                    <a:pt x="220726" y="8459089"/>
                  </a:lnTo>
                  <a:cubicBezTo>
                    <a:pt x="98806" y="8458962"/>
                    <a:pt x="0" y="8360156"/>
                    <a:pt x="0" y="8238363"/>
                  </a:cubicBezTo>
                  <a:lnTo>
                    <a:pt x="0" y="220726"/>
                  </a:lnTo>
                  <a:cubicBezTo>
                    <a:pt x="0" y="98933"/>
                    <a:pt x="98933" y="0"/>
                    <a:pt x="220726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9929" y="2372201"/>
            <a:ext cx="7930315" cy="441341"/>
            <a:chOff x="0" y="0"/>
            <a:chExt cx="10573753" cy="588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73756" cy="588452"/>
            </a:xfrm>
            <a:custGeom>
              <a:avLst/>
              <a:gdLst/>
              <a:ahLst/>
              <a:cxnLst/>
              <a:rect r="r" b="b" t="t" l="l"/>
              <a:pathLst>
                <a:path h="588452" w="10573756">
                  <a:moveTo>
                    <a:pt x="0" y="0"/>
                  </a:moveTo>
                  <a:lnTo>
                    <a:pt x="10573756" y="0"/>
                  </a:lnTo>
                  <a:lnTo>
                    <a:pt x="10573756" y="588452"/>
                  </a:lnTo>
                  <a:lnTo>
                    <a:pt x="0" y="5884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121" r="0" b="-30012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573753" cy="636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41"/>
                </a:lnSpc>
              </a:pPr>
              <a:r>
                <a:rPr lang="en-US" sz="260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Sistema de Alertas Predictivas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2682" y="3116790"/>
            <a:ext cx="7447597" cy="4413390"/>
            <a:chOff x="0" y="0"/>
            <a:chExt cx="9930130" cy="5884520"/>
          </a:xfrm>
        </p:grpSpPr>
        <p:sp>
          <p:nvSpPr>
            <p:cNvPr name="Freeform 16" id="16" descr="https://kimi-img.moonshot.cn/pub/slides/26-03-18-11:20:44-d6t1k307dlc7kbn54eo0.png"/>
            <p:cNvSpPr/>
            <p:nvPr/>
          </p:nvSpPr>
          <p:spPr>
            <a:xfrm flipH="false" flipV="false" rot="0">
              <a:off x="0" y="0"/>
              <a:ext cx="9930130" cy="5884545"/>
            </a:xfrm>
            <a:custGeom>
              <a:avLst/>
              <a:gdLst/>
              <a:ahLst/>
              <a:cxnLst/>
              <a:rect r="r" b="b" t="t" l="l"/>
              <a:pathLst>
                <a:path h="5884545" w="9930130">
                  <a:moveTo>
                    <a:pt x="0" y="0"/>
                  </a:moveTo>
                  <a:lnTo>
                    <a:pt x="9930130" y="0"/>
                  </a:lnTo>
                  <a:lnTo>
                    <a:pt x="9930130" y="5884545"/>
                  </a:lnTo>
                  <a:lnTo>
                    <a:pt x="0" y="5884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34409" y="7778610"/>
            <a:ext cx="7861354" cy="275834"/>
            <a:chOff x="0" y="0"/>
            <a:chExt cx="10481805" cy="3677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1810" cy="367782"/>
            </a:xfrm>
            <a:custGeom>
              <a:avLst/>
              <a:gdLst/>
              <a:ahLst/>
              <a:cxnLst/>
              <a:rect r="r" b="b" t="t" l="l"/>
              <a:pathLst>
                <a:path h="367782" w="10481810">
                  <a:moveTo>
                    <a:pt x="0" y="0"/>
                  </a:moveTo>
                  <a:lnTo>
                    <a:pt x="10481810" y="0"/>
                  </a:lnTo>
                  <a:lnTo>
                    <a:pt x="10481810" y="367782"/>
                  </a:lnTo>
                  <a:lnTo>
                    <a:pt x="0" y="3677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4" r="0" b="-5053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481805" cy="415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0"/>
                </a:lnSpc>
              </a:pPr>
              <a:r>
                <a:rPr lang="en-US" sz="1521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Pre-alertas automáticas de impuestos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38462" y="2041198"/>
            <a:ext cx="8399240" cy="1848107"/>
            <a:chOff x="0" y="0"/>
            <a:chExt cx="11198987" cy="24641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98987" cy="2464054"/>
            </a:xfrm>
            <a:custGeom>
              <a:avLst/>
              <a:gdLst/>
              <a:ahLst/>
              <a:cxnLst/>
              <a:rect r="r" b="b" t="t" l="l"/>
              <a:pathLst>
                <a:path h="2464054" w="11198987">
                  <a:moveTo>
                    <a:pt x="0" y="0"/>
                  </a:moveTo>
                  <a:lnTo>
                    <a:pt x="11051921" y="0"/>
                  </a:lnTo>
                  <a:cubicBezTo>
                    <a:pt x="11133201" y="0"/>
                    <a:pt x="11198987" y="65913"/>
                    <a:pt x="11198987" y="147066"/>
                  </a:cubicBezTo>
                  <a:lnTo>
                    <a:pt x="11198987" y="2316988"/>
                  </a:lnTo>
                  <a:cubicBezTo>
                    <a:pt x="11198987" y="2398268"/>
                    <a:pt x="11133074" y="2464054"/>
                    <a:pt x="11051921" y="2464054"/>
                  </a:cubicBezTo>
                  <a:lnTo>
                    <a:pt x="0" y="24640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38462" y="2041198"/>
            <a:ext cx="55169" cy="1848107"/>
            <a:chOff x="0" y="0"/>
            <a:chExt cx="73558" cy="24641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533" cy="2464181"/>
            </a:xfrm>
            <a:custGeom>
              <a:avLst/>
              <a:gdLst/>
              <a:ahLst/>
              <a:cxnLst/>
              <a:rect r="r" b="b" t="t" l="l"/>
              <a:pathLst>
                <a:path h="2464181" w="73533">
                  <a:moveTo>
                    <a:pt x="0" y="0"/>
                  </a:moveTo>
                  <a:lnTo>
                    <a:pt x="73533" y="0"/>
                  </a:lnTo>
                  <a:lnTo>
                    <a:pt x="73533" y="2464181"/>
                  </a:lnTo>
                  <a:lnTo>
                    <a:pt x="0" y="2464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41881" y="2317032"/>
            <a:ext cx="772344" cy="772344"/>
            <a:chOff x="0" y="0"/>
            <a:chExt cx="1029792" cy="10297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9843" cy="1029843"/>
            </a:xfrm>
            <a:custGeom>
              <a:avLst/>
              <a:gdLst/>
              <a:ahLst/>
              <a:cxnLst/>
              <a:rect r="r" b="b" t="t" l="l"/>
              <a:pathLst>
                <a:path h="1029843" w="1029843">
                  <a:moveTo>
                    <a:pt x="220726" y="0"/>
                  </a:moveTo>
                  <a:lnTo>
                    <a:pt x="809117" y="0"/>
                  </a:lnTo>
                  <a:cubicBezTo>
                    <a:pt x="930910" y="0"/>
                    <a:pt x="1029843" y="98933"/>
                    <a:pt x="1029843" y="220726"/>
                  </a:cubicBezTo>
                  <a:lnTo>
                    <a:pt x="1029843" y="809117"/>
                  </a:lnTo>
                  <a:cubicBezTo>
                    <a:pt x="1029843" y="930910"/>
                    <a:pt x="930910" y="1029843"/>
                    <a:pt x="809117" y="1029843"/>
                  </a:cubicBezTo>
                  <a:lnTo>
                    <a:pt x="220726" y="1029843"/>
                  </a:lnTo>
                  <a:cubicBezTo>
                    <a:pt x="98933" y="1029843"/>
                    <a:pt x="0" y="930910"/>
                    <a:pt x="0" y="809117"/>
                  </a:cubicBezTo>
                  <a:lnTo>
                    <a:pt x="0" y="220726"/>
                  </a:lnTo>
                  <a:cubicBezTo>
                    <a:pt x="0" y="98933"/>
                    <a:pt x="98933" y="0"/>
                    <a:pt x="220726" y="0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64109" y="2482539"/>
            <a:ext cx="496510" cy="441341"/>
            <a:chOff x="0" y="0"/>
            <a:chExt cx="662013" cy="5884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2010" cy="588452"/>
            </a:xfrm>
            <a:custGeom>
              <a:avLst/>
              <a:gdLst/>
              <a:ahLst/>
              <a:cxnLst/>
              <a:rect r="r" b="b" t="t" l="l"/>
              <a:pathLst>
                <a:path h="588452" w="662010">
                  <a:moveTo>
                    <a:pt x="0" y="0"/>
                  </a:moveTo>
                  <a:lnTo>
                    <a:pt x="662010" y="0"/>
                  </a:lnTo>
                  <a:lnTo>
                    <a:pt x="662010" y="588452"/>
                  </a:lnTo>
                  <a:lnTo>
                    <a:pt x="0" y="5884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047" t="0" r="-6404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62013" cy="636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1"/>
                </a:lnSpc>
              </a:pPr>
              <a:r>
                <a:rPr lang="en-US" sz="2607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634901" y="2344617"/>
            <a:ext cx="2510114" cy="386172"/>
            <a:chOff x="0" y="0"/>
            <a:chExt cx="3346818" cy="5148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46824" cy="514896"/>
            </a:xfrm>
            <a:custGeom>
              <a:avLst/>
              <a:gdLst/>
              <a:ahLst/>
              <a:cxnLst/>
              <a:rect r="r" b="b" t="t" l="l"/>
              <a:pathLst>
                <a:path h="514896" w="3346824">
                  <a:moveTo>
                    <a:pt x="0" y="0"/>
                  </a:moveTo>
                  <a:lnTo>
                    <a:pt x="3346824" y="0"/>
                  </a:lnTo>
                  <a:lnTo>
                    <a:pt x="3346824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3346818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7"/>
                </a:lnSpc>
              </a:pPr>
              <a:r>
                <a:rPr lang="en-US" sz="217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Días de Pre-Alerta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34901" y="2730789"/>
            <a:ext cx="2482539" cy="331003"/>
            <a:chOff x="0" y="0"/>
            <a:chExt cx="3310052" cy="4413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10046" cy="441340"/>
            </a:xfrm>
            <a:custGeom>
              <a:avLst/>
              <a:gdLst/>
              <a:ahLst/>
              <a:cxnLst/>
              <a:rect r="r" b="b" t="t" l="l"/>
              <a:pathLst>
                <a:path h="441340" w="3310046">
                  <a:moveTo>
                    <a:pt x="0" y="0"/>
                  </a:moveTo>
                  <a:lnTo>
                    <a:pt x="3310046" y="0"/>
                  </a:lnTo>
                  <a:lnTo>
                    <a:pt x="3310046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8" r="0" b="-9613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3310052" cy="50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Primer aviso anticipado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41881" y="3254883"/>
            <a:ext cx="7930315" cy="358588"/>
            <a:chOff x="0" y="0"/>
            <a:chExt cx="10573753" cy="4781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73756" cy="478118"/>
            </a:xfrm>
            <a:custGeom>
              <a:avLst/>
              <a:gdLst/>
              <a:ahLst/>
              <a:cxnLst/>
              <a:rect r="r" b="b" t="t" l="l"/>
              <a:pathLst>
                <a:path h="478118" w="10573756">
                  <a:moveTo>
                    <a:pt x="0" y="0"/>
                  </a:moveTo>
                  <a:lnTo>
                    <a:pt x="10573756" y="0"/>
                  </a:lnTo>
                  <a:lnTo>
                    <a:pt x="10573756" y="478118"/>
                  </a:lnTo>
                  <a:lnTo>
                    <a:pt x="0" y="478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0918" r="0" b="-38091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10573753" cy="58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8"/>
                </a:lnSpc>
              </a:pPr>
              <a:r>
                <a:rPr lang="en-US" sz="1737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Notificación inicial con </a:t>
              </a:r>
              <a:r>
                <a:rPr lang="en-US" sz="1737" b="true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15 días de anticipación</a:t>
              </a:r>
              <a:r>
                <a:rPr lang="en-US" sz="1737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para planificación fiscal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38462" y="4109971"/>
            <a:ext cx="8399240" cy="2206695"/>
            <a:chOff x="0" y="0"/>
            <a:chExt cx="11198987" cy="29422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98987" cy="2942209"/>
            </a:xfrm>
            <a:custGeom>
              <a:avLst/>
              <a:gdLst/>
              <a:ahLst/>
              <a:cxnLst/>
              <a:rect r="r" b="b" t="t" l="l"/>
              <a:pathLst>
                <a:path h="2942209" w="11198987">
                  <a:moveTo>
                    <a:pt x="0" y="0"/>
                  </a:moveTo>
                  <a:lnTo>
                    <a:pt x="11051921" y="0"/>
                  </a:lnTo>
                  <a:cubicBezTo>
                    <a:pt x="11133201" y="0"/>
                    <a:pt x="11198987" y="65913"/>
                    <a:pt x="11198987" y="147066"/>
                  </a:cubicBezTo>
                  <a:lnTo>
                    <a:pt x="11198987" y="2795143"/>
                  </a:lnTo>
                  <a:cubicBezTo>
                    <a:pt x="11198987" y="2876423"/>
                    <a:pt x="11133074" y="2942209"/>
                    <a:pt x="11051921" y="2942209"/>
                  </a:cubicBezTo>
                  <a:lnTo>
                    <a:pt x="0" y="2942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38462" y="4109971"/>
            <a:ext cx="55169" cy="2206695"/>
            <a:chOff x="0" y="0"/>
            <a:chExt cx="73558" cy="29422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533" cy="2942209"/>
            </a:xfrm>
            <a:custGeom>
              <a:avLst/>
              <a:gdLst/>
              <a:ahLst/>
              <a:cxnLst/>
              <a:rect r="r" b="b" t="t" l="l"/>
              <a:pathLst>
                <a:path h="2942209" w="73533">
                  <a:moveTo>
                    <a:pt x="0" y="0"/>
                  </a:moveTo>
                  <a:lnTo>
                    <a:pt x="73533" y="0"/>
                  </a:lnTo>
                  <a:lnTo>
                    <a:pt x="73533" y="2942209"/>
                  </a:lnTo>
                  <a:lnTo>
                    <a:pt x="0" y="2942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41881" y="4385805"/>
            <a:ext cx="772344" cy="772344"/>
            <a:chOff x="0" y="0"/>
            <a:chExt cx="1029792" cy="1029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9843" cy="1029843"/>
            </a:xfrm>
            <a:custGeom>
              <a:avLst/>
              <a:gdLst/>
              <a:ahLst/>
              <a:cxnLst/>
              <a:rect r="r" b="b" t="t" l="l"/>
              <a:pathLst>
                <a:path h="1029843" w="1029843">
                  <a:moveTo>
                    <a:pt x="220726" y="0"/>
                  </a:moveTo>
                  <a:lnTo>
                    <a:pt x="809117" y="0"/>
                  </a:lnTo>
                  <a:cubicBezTo>
                    <a:pt x="930910" y="0"/>
                    <a:pt x="1029843" y="98933"/>
                    <a:pt x="1029843" y="220726"/>
                  </a:cubicBezTo>
                  <a:lnTo>
                    <a:pt x="1029843" y="809117"/>
                  </a:lnTo>
                  <a:cubicBezTo>
                    <a:pt x="1029843" y="930910"/>
                    <a:pt x="930910" y="1029843"/>
                    <a:pt x="809117" y="1029843"/>
                  </a:cubicBezTo>
                  <a:lnTo>
                    <a:pt x="220726" y="1029843"/>
                  </a:lnTo>
                  <a:cubicBezTo>
                    <a:pt x="98933" y="1029843"/>
                    <a:pt x="0" y="930910"/>
                    <a:pt x="0" y="809117"/>
                  </a:cubicBezTo>
                  <a:lnTo>
                    <a:pt x="0" y="220726"/>
                  </a:lnTo>
                  <a:cubicBezTo>
                    <a:pt x="0" y="98933"/>
                    <a:pt x="98933" y="0"/>
                    <a:pt x="220726" y="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942205" y="4551312"/>
            <a:ext cx="331003" cy="441341"/>
            <a:chOff x="0" y="0"/>
            <a:chExt cx="441338" cy="5884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1340" cy="588452"/>
            </a:xfrm>
            <a:custGeom>
              <a:avLst/>
              <a:gdLst/>
              <a:ahLst/>
              <a:cxnLst/>
              <a:rect r="r" b="b" t="t" l="l"/>
              <a:pathLst>
                <a:path h="588452" w="441340">
                  <a:moveTo>
                    <a:pt x="0" y="0"/>
                  </a:moveTo>
                  <a:lnTo>
                    <a:pt x="441340" y="0"/>
                  </a:lnTo>
                  <a:lnTo>
                    <a:pt x="441340" y="588452"/>
                  </a:lnTo>
                  <a:lnTo>
                    <a:pt x="0" y="5884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072" t="0" r="-12107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41338" cy="636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1"/>
                </a:lnSpc>
              </a:pPr>
              <a:r>
                <a:rPr lang="en-US" sz="2607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634901" y="4413390"/>
            <a:ext cx="2344617" cy="386172"/>
            <a:chOff x="0" y="0"/>
            <a:chExt cx="3126156" cy="5148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26154" cy="514896"/>
            </a:xfrm>
            <a:custGeom>
              <a:avLst/>
              <a:gdLst/>
              <a:ahLst/>
              <a:cxnLst/>
              <a:rect r="r" b="b" t="t" l="l"/>
              <a:pathLst>
                <a:path h="514896" w="3126154">
                  <a:moveTo>
                    <a:pt x="0" y="0"/>
                  </a:moveTo>
                  <a:lnTo>
                    <a:pt x="3126154" y="0"/>
                  </a:lnTo>
                  <a:lnTo>
                    <a:pt x="3126154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3126156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7"/>
                </a:lnSpc>
              </a:pPr>
              <a:r>
                <a:rPr lang="en-US" sz="217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Días de Alerta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34901" y="4799562"/>
            <a:ext cx="2317032" cy="331003"/>
            <a:chOff x="0" y="0"/>
            <a:chExt cx="3089377" cy="4413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89376" cy="441340"/>
            </a:xfrm>
            <a:custGeom>
              <a:avLst/>
              <a:gdLst/>
              <a:ahLst/>
              <a:cxnLst/>
              <a:rect r="r" b="b" t="t" l="l"/>
              <a:pathLst>
                <a:path h="441340" w="3089376">
                  <a:moveTo>
                    <a:pt x="0" y="0"/>
                  </a:moveTo>
                  <a:lnTo>
                    <a:pt x="3089376" y="0"/>
                  </a:lnTo>
                  <a:lnTo>
                    <a:pt x="3089376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3089377" cy="50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Segundo recordatorio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41881" y="5323656"/>
            <a:ext cx="7930315" cy="717175"/>
            <a:chOff x="0" y="0"/>
            <a:chExt cx="10573753" cy="95623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573756" cy="956236"/>
            </a:xfrm>
            <a:custGeom>
              <a:avLst/>
              <a:gdLst/>
              <a:ahLst/>
              <a:cxnLst/>
              <a:rect r="r" b="b" t="t" l="l"/>
              <a:pathLst>
                <a:path h="956236" w="10573756">
                  <a:moveTo>
                    <a:pt x="0" y="0"/>
                  </a:moveTo>
                  <a:lnTo>
                    <a:pt x="10573756" y="0"/>
                  </a:lnTo>
                  <a:lnTo>
                    <a:pt x="10573756" y="956236"/>
                  </a:lnTo>
                  <a:lnTo>
                    <a:pt x="0" y="9562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459" r="0" b="-16545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04775"/>
              <a:ext cx="10573753" cy="1061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8"/>
                </a:lnSpc>
              </a:pPr>
              <a:r>
                <a:rPr lang="en-US" sz="1737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Alerta intermedia con </a:t>
              </a:r>
              <a:r>
                <a:rPr lang="en-US" sz="1737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 días de anticipación</a:t>
              </a:r>
              <a:r>
                <a:rPr lang="en-US" sz="1737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para preparación de documentos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38462" y="6537341"/>
            <a:ext cx="8399240" cy="1848107"/>
            <a:chOff x="0" y="0"/>
            <a:chExt cx="11198987" cy="246414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198987" cy="2464054"/>
            </a:xfrm>
            <a:custGeom>
              <a:avLst/>
              <a:gdLst/>
              <a:ahLst/>
              <a:cxnLst/>
              <a:rect r="r" b="b" t="t" l="l"/>
              <a:pathLst>
                <a:path h="2464054" w="11198987">
                  <a:moveTo>
                    <a:pt x="0" y="0"/>
                  </a:moveTo>
                  <a:lnTo>
                    <a:pt x="11051921" y="0"/>
                  </a:lnTo>
                  <a:cubicBezTo>
                    <a:pt x="11133201" y="0"/>
                    <a:pt x="11198987" y="65913"/>
                    <a:pt x="11198987" y="147066"/>
                  </a:cubicBezTo>
                  <a:lnTo>
                    <a:pt x="11198987" y="2316988"/>
                  </a:lnTo>
                  <a:cubicBezTo>
                    <a:pt x="11198987" y="2398268"/>
                    <a:pt x="11133074" y="2464054"/>
                    <a:pt x="11051921" y="2464054"/>
                  </a:cubicBezTo>
                  <a:lnTo>
                    <a:pt x="0" y="24640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38462" y="6537341"/>
            <a:ext cx="55169" cy="1848107"/>
            <a:chOff x="0" y="0"/>
            <a:chExt cx="73558" cy="246414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533" cy="2464181"/>
            </a:xfrm>
            <a:custGeom>
              <a:avLst/>
              <a:gdLst/>
              <a:ahLst/>
              <a:cxnLst/>
              <a:rect r="r" b="b" t="t" l="l"/>
              <a:pathLst>
                <a:path h="2464181" w="73533">
                  <a:moveTo>
                    <a:pt x="0" y="0"/>
                  </a:moveTo>
                  <a:lnTo>
                    <a:pt x="73533" y="0"/>
                  </a:lnTo>
                  <a:lnTo>
                    <a:pt x="73533" y="2464181"/>
                  </a:lnTo>
                  <a:lnTo>
                    <a:pt x="0" y="2464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41881" y="6813175"/>
            <a:ext cx="772344" cy="772344"/>
            <a:chOff x="0" y="0"/>
            <a:chExt cx="1029792" cy="10297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29843" cy="1029843"/>
            </a:xfrm>
            <a:custGeom>
              <a:avLst/>
              <a:gdLst/>
              <a:ahLst/>
              <a:cxnLst/>
              <a:rect r="r" b="b" t="t" l="l"/>
              <a:pathLst>
                <a:path h="1029843" w="1029843">
                  <a:moveTo>
                    <a:pt x="220726" y="0"/>
                  </a:moveTo>
                  <a:lnTo>
                    <a:pt x="809117" y="0"/>
                  </a:lnTo>
                  <a:cubicBezTo>
                    <a:pt x="930910" y="0"/>
                    <a:pt x="1029843" y="98933"/>
                    <a:pt x="1029843" y="220726"/>
                  </a:cubicBezTo>
                  <a:lnTo>
                    <a:pt x="1029843" y="809117"/>
                  </a:lnTo>
                  <a:cubicBezTo>
                    <a:pt x="1029843" y="930910"/>
                    <a:pt x="930910" y="1029843"/>
                    <a:pt x="809117" y="1029843"/>
                  </a:cubicBezTo>
                  <a:lnTo>
                    <a:pt x="220726" y="1029843"/>
                  </a:lnTo>
                  <a:cubicBezTo>
                    <a:pt x="98933" y="1029843"/>
                    <a:pt x="0" y="930910"/>
                    <a:pt x="0" y="809117"/>
                  </a:cubicBezTo>
                  <a:lnTo>
                    <a:pt x="0" y="220726"/>
                  </a:lnTo>
                  <a:cubicBezTo>
                    <a:pt x="0" y="98933"/>
                    <a:pt x="98933" y="0"/>
                    <a:pt x="220726" y="0"/>
                  </a:cubicBez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930651" y="6978682"/>
            <a:ext cx="358588" cy="441341"/>
            <a:chOff x="0" y="0"/>
            <a:chExt cx="478117" cy="58845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8118" cy="588452"/>
            </a:xfrm>
            <a:custGeom>
              <a:avLst/>
              <a:gdLst/>
              <a:ahLst/>
              <a:cxnLst/>
              <a:rect r="r" b="b" t="t" l="l"/>
              <a:pathLst>
                <a:path h="588452" w="478118">
                  <a:moveTo>
                    <a:pt x="0" y="0"/>
                  </a:moveTo>
                  <a:lnTo>
                    <a:pt x="478118" y="0"/>
                  </a:lnTo>
                  <a:lnTo>
                    <a:pt x="478118" y="588452"/>
                  </a:lnTo>
                  <a:lnTo>
                    <a:pt x="0" y="5884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7912" t="0" r="-10791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478117" cy="636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1"/>
                </a:lnSpc>
              </a:pPr>
              <a:r>
                <a:rPr lang="en-US" sz="2607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634901" y="6840760"/>
            <a:ext cx="2082575" cy="386172"/>
            <a:chOff x="0" y="0"/>
            <a:chExt cx="2776766" cy="514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776760" cy="514896"/>
            </a:xfrm>
            <a:custGeom>
              <a:avLst/>
              <a:gdLst/>
              <a:ahLst/>
              <a:cxnLst/>
              <a:rect r="r" b="b" t="t" l="l"/>
              <a:pathLst>
                <a:path h="514896" w="2776760">
                  <a:moveTo>
                    <a:pt x="0" y="0"/>
                  </a:moveTo>
                  <a:lnTo>
                    <a:pt x="2776760" y="0"/>
                  </a:lnTo>
                  <a:lnTo>
                    <a:pt x="2776760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080" r="0" b="-5508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2776766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7"/>
                </a:lnSpc>
              </a:pPr>
              <a:r>
                <a:rPr lang="en-US" sz="217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Días Críticos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634901" y="7226932"/>
            <a:ext cx="2054990" cy="331003"/>
            <a:chOff x="0" y="0"/>
            <a:chExt cx="2739987" cy="44133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739982" cy="441340"/>
            </a:xfrm>
            <a:custGeom>
              <a:avLst/>
              <a:gdLst/>
              <a:ahLst/>
              <a:cxnLst/>
              <a:rect r="r" b="b" t="t" l="l"/>
              <a:pathLst>
                <a:path h="441340" w="2739982">
                  <a:moveTo>
                    <a:pt x="0" y="0"/>
                  </a:moveTo>
                  <a:lnTo>
                    <a:pt x="2739982" y="0"/>
                  </a:lnTo>
                  <a:lnTo>
                    <a:pt x="273998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969" r="0" b="-7096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2739987" cy="50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Alerta final urgente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41881" y="7751026"/>
            <a:ext cx="7930315" cy="358588"/>
            <a:chOff x="0" y="0"/>
            <a:chExt cx="10573753" cy="47811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573756" cy="478118"/>
            </a:xfrm>
            <a:custGeom>
              <a:avLst/>
              <a:gdLst/>
              <a:ahLst/>
              <a:cxnLst/>
              <a:rect r="r" b="b" t="t" l="l"/>
              <a:pathLst>
                <a:path h="478118" w="10573756">
                  <a:moveTo>
                    <a:pt x="0" y="0"/>
                  </a:moveTo>
                  <a:lnTo>
                    <a:pt x="10573756" y="0"/>
                  </a:lnTo>
                  <a:lnTo>
                    <a:pt x="10573756" y="478118"/>
                  </a:lnTo>
                  <a:lnTo>
                    <a:pt x="0" y="478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0918" r="0" b="-38091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04775"/>
              <a:ext cx="10573753" cy="58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8"/>
                </a:lnSpc>
              </a:pPr>
              <a:r>
                <a:rPr lang="en-US" sz="1737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Notificación crítica con </a:t>
              </a:r>
              <a:r>
                <a:rPr lang="en-US" sz="1737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 días de anticipación</a:t>
              </a:r>
              <a:r>
                <a:rPr lang="en-US" sz="1737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para acción inmediata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51678" y="8606114"/>
            <a:ext cx="5585698" cy="1682610"/>
            <a:chOff x="0" y="0"/>
            <a:chExt cx="7447597" cy="22434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447535" cy="2243455"/>
            </a:xfrm>
            <a:custGeom>
              <a:avLst/>
              <a:gdLst/>
              <a:ahLst/>
              <a:cxnLst/>
              <a:rect r="r" b="b" t="t" l="l"/>
              <a:pathLst>
                <a:path h="2243455" w="7447535">
                  <a:moveTo>
                    <a:pt x="147066" y="0"/>
                  </a:moveTo>
                  <a:lnTo>
                    <a:pt x="7300468" y="0"/>
                  </a:lnTo>
                  <a:cubicBezTo>
                    <a:pt x="7381749" y="0"/>
                    <a:pt x="7447535" y="65913"/>
                    <a:pt x="7447535" y="147066"/>
                  </a:cubicBezTo>
                  <a:lnTo>
                    <a:pt x="7447535" y="2096389"/>
                  </a:lnTo>
                  <a:cubicBezTo>
                    <a:pt x="7447535" y="2177669"/>
                    <a:pt x="7381622" y="2243455"/>
                    <a:pt x="7300468" y="2243455"/>
                  </a:cubicBezTo>
                  <a:lnTo>
                    <a:pt x="147066" y="2243455"/>
                  </a:lnTo>
                  <a:cubicBezTo>
                    <a:pt x="65913" y="2243455"/>
                    <a:pt x="0" y="2177669"/>
                    <a:pt x="0" y="2096389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3087481" y="8826789"/>
            <a:ext cx="517198" cy="413756"/>
          </a:xfrm>
          <a:custGeom>
            <a:avLst/>
            <a:gdLst/>
            <a:ahLst/>
            <a:cxnLst/>
            <a:rect r="r" b="b" t="t" l="l"/>
            <a:pathLst>
              <a:path h="413756" w="517198">
                <a:moveTo>
                  <a:pt x="0" y="0"/>
                </a:moveTo>
                <a:lnTo>
                  <a:pt x="517198" y="0"/>
                </a:lnTo>
                <a:lnTo>
                  <a:pt x="517198" y="413756"/>
                </a:lnTo>
                <a:lnTo>
                  <a:pt x="0" y="413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724071" y="9350883"/>
            <a:ext cx="5240903" cy="275834"/>
            <a:chOff x="0" y="0"/>
            <a:chExt cx="6987870" cy="36777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87874" cy="367782"/>
            </a:xfrm>
            <a:custGeom>
              <a:avLst/>
              <a:gdLst/>
              <a:ahLst/>
              <a:cxnLst/>
              <a:rect r="r" b="b" t="t" l="l"/>
              <a:pathLst>
                <a:path h="367782" w="6987874">
                  <a:moveTo>
                    <a:pt x="0" y="0"/>
                  </a:moveTo>
                  <a:lnTo>
                    <a:pt x="6987874" y="0"/>
                  </a:lnTo>
                  <a:lnTo>
                    <a:pt x="6987874" y="367782"/>
                  </a:lnTo>
                  <a:lnTo>
                    <a:pt x="0" y="3677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6" r="0" b="-32021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987870" cy="415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0"/>
                </a:lnSpc>
              </a:pPr>
              <a:r>
                <a:rPr lang="en-US" sz="1521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Detección IA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10279" y="9681886"/>
            <a:ext cx="5268487" cy="386172"/>
            <a:chOff x="0" y="0"/>
            <a:chExt cx="7024649" cy="5148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024652" cy="514896"/>
            </a:xfrm>
            <a:custGeom>
              <a:avLst/>
              <a:gdLst/>
              <a:ahLst/>
              <a:cxnLst/>
              <a:rect r="r" b="b" t="t" l="l"/>
              <a:pathLst>
                <a:path h="514896" w="7024652">
                  <a:moveTo>
                    <a:pt x="0" y="0"/>
                  </a:moveTo>
                  <a:lnTo>
                    <a:pt x="7024652" y="0"/>
                  </a:lnTo>
                  <a:lnTo>
                    <a:pt x="7024652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85725"/>
              <a:ext cx="7024649" cy="600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49"/>
                </a:lnSpc>
              </a:pPr>
              <a:r>
                <a:rPr lang="en-US" sz="195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Mermas Auto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354423" y="8606114"/>
            <a:ext cx="5585698" cy="1682610"/>
            <a:chOff x="0" y="0"/>
            <a:chExt cx="7447597" cy="22434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447535" cy="2243455"/>
            </a:xfrm>
            <a:custGeom>
              <a:avLst/>
              <a:gdLst/>
              <a:ahLst/>
              <a:cxnLst/>
              <a:rect r="r" b="b" t="t" l="l"/>
              <a:pathLst>
                <a:path h="2243455" w="7447535">
                  <a:moveTo>
                    <a:pt x="147066" y="0"/>
                  </a:moveTo>
                  <a:lnTo>
                    <a:pt x="7300468" y="0"/>
                  </a:lnTo>
                  <a:cubicBezTo>
                    <a:pt x="7381749" y="0"/>
                    <a:pt x="7447535" y="65913"/>
                    <a:pt x="7447535" y="147066"/>
                  </a:cubicBezTo>
                  <a:lnTo>
                    <a:pt x="7447535" y="2096389"/>
                  </a:lnTo>
                  <a:cubicBezTo>
                    <a:pt x="7447535" y="2177669"/>
                    <a:pt x="7381622" y="2243455"/>
                    <a:pt x="7300468" y="2243455"/>
                  </a:cubicBezTo>
                  <a:lnTo>
                    <a:pt x="147066" y="2243455"/>
                  </a:lnTo>
                  <a:cubicBezTo>
                    <a:pt x="65913" y="2243455"/>
                    <a:pt x="0" y="2177669"/>
                    <a:pt x="0" y="2096389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8967807" y="8826789"/>
            <a:ext cx="362036" cy="413756"/>
          </a:xfrm>
          <a:custGeom>
            <a:avLst/>
            <a:gdLst/>
            <a:ahLst/>
            <a:cxnLst/>
            <a:rect r="r" b="b" t="t" l="l"/>
            <a:pathLst>
              <a:path h="413756" w="362036">
                <a:moveTo>
                  <a:pt x="0" y="0"/>
                </a:moveTo>
                <a:lnTo>
                  <a:pt x="362035" y="0"/>
                </a:lnTo>
                <a:lnTo>
                  <a:pt x="362035" y="413756"/>
                </a:lnTo>
                <a:lnTo>
                  <a:pt x="0" y="413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6526825" y="9350883"/>
            <a:ext cx="5240903" cy="275834"/>
            <a:chOff x="0" y="0"/>
            <a:chExt cx="6987870" cy="36777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987874" cy="367782"/>
            </a:xfrm>
            <a:custGeom>
              <a:avLst/>
              <a:gdLst/>
              <a:ahLst/>
              <a:cxnLst/>
              <a:rect r="r" b="b" t="t" l="l"/>
              <a:pathLst>
                <a:path h="367782" w="6987874">
                  <a:moveTo>
                    <a:pt x="0" y="0"/>
                  </a:moveTo>
                  <a:lnTo>
                    <a:pt x="6987874" y="0"/>
                  </a:lnTo>
                  <a:lnTo>
                    <a:pt x="6987874" y="367782"/>
                  </a:lnTo>
                  <a:lnTo>
                    <a:pt x="0" y="3677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6" r="0" b="-32021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987870" cy="415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0"/>
                </a:lnSpc>
              </a:pPr>
              <a:r>
                <a:rPr lang="en-US" sz="1521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Homologado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513033" y="9681886"/>
            <a:ext cx="5268487" cy="386172"/>
            <a:chOff x="0" y="0"/>
            <a:chExt cx="7024649" cy="5148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024652" cy="514896"/>
            </a:xfrm>
            <a:custGeom>
              <a:avLst/>
              <a:gdLst/>
              <a:ahLst/>
              <a:cxnLst/>
              <a:rect r="r" b="b" t="t" l="l"/>
              <a:pathLst>
                <a:path h="514896" w="7024652">
                  <a:moveTo>
                    <a:pt x="0" y="0"/>
                  </a:moveTo>
                  <a:lnTo>
                    <a:pt x="7024652" y="0"/>
                  </a:lnTo>
                  <a:lnTo>
                    <a:pt x="7024652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85725"/>
              <a:ext cx="7024649" cy="600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49"/>
                </a:lnSpc>
              </a:pPr>
              <a:r>
                <a:rPr lang="en-US" sz="195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SENIAT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157177" y="8606114"/>
            <a:ext cx="5585698" cy="1682610"/>
            <a:chOff x="0" y="0"/>
            <a:chExt cx="7447597" cy="22434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447535" cy="2243455"/>
            </a:xfrm>
            <a:custGeom>
              <a:avLst/>
              <a:gdLst/>
              <a:ahLst/>
              <a:cxnLst/>
              <a:rect r="r" b="b" t="t" l="l"/>
              <a:pathLst>
                <a:path h="2243455" w="7447535">
                  <a:moveTo>
                    <a:pt x="147066" y="0"/>
                  </a:moveTo>
                  <a:lnTo>
                    <a:pt x="7300468" y="0"/>
                  </a:lnTo>
                  <a:cubicBezTo>
                    <a:pt x="7381749" y="0"/>
                    <a:pt x="7447535" y="65913"/>
                    <a:pt x="7447535" y="147066"/>
                  </a:cubicBezTo>
                  <a:lnTo>
                    <a:pt x="7447535" y="2096389"/>
                  </a:lnTo>
                  <a:cubicBezTo>
                    <a:pt x="7447535" y="2177669"/>
                    <a:pt x="7381622" y="2243455"/>
                    <a:pt x="7300468" y="2243455"/>
                  </a:cubicBezTo>
                  <a:lnTo>
                    <a:pt x="147066" y="2243455"/>
                  </a:lnTo>
                  <a:cubicBezTo>
                    <a:pt x="65913" y="2243455"/>
                    <a:pt x="0" y="2177669"/>
                    <a:pt x="0" y="2096389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Freeform 94" id="94"/>
          <p:cNvSpPr/>
          <p:nvPr/>
        </p:nvSpPr>
        <p:spPr>
          <a:xfrm flipH="false" flipV="false" rot="0">
            <a:off x="14770560" y="8826789"/>
            <a:ext cx="362036" cy="413756"/>
          </a:xfrm>
          <a:custGeom>
            <a:avLst/>
            <a:gdLst/>
            <a:ahLst/>
            <a:cxnLst/>
            <a:rect r="r" b="b" t="t" l="l"/>
            <a:pathLst>
              <a:path h="413756" w="362036">
                <a:moveTo>
                  <a:pt x="0" y="0"/>
                </a:moveTo>
                <a:lnTo>
                  <a:pt x="362036" y="0"/>
                </a:lnTo>
                <a:lnTo>
                  <a:pt x="362036" y="413756"/>
                </a:lnTo>
                <a:lnTo>
                  <a:pt x="0" y="4137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2329570" y="9350883"/>
            <a:ext cx="5240903" cy="275834"/>
            <a:chOff x="0" y="0"/>
            <a:chExt cx="6987870" cy="36777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987874" cy="367782"/>
            </a:xfrm>
            <a:custGeom>
              <a:avLst/>
              <a:gdLst/>
              <a:ahLst/>
              <a:cxnLst/>
              <a:rect r="r" b="b" t="t" l="l"/>
              <a:pathLst>
                <a:path h="367782" w="6987874">
                  <a:moveTo>
                    <a:pt x="0" y="0"/>
                  </a:moveTo>
                  <a:lnTo>
                    <a:pt x="6987874" y="0"/>
                  </a:lnTo>
                  <a:lnTo>
                    <a:pt x="6987874" y="367782"/>
                  </a:lnTo>
                  <a:lnTo>
                    <a:pt x="0" y="3677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6" r="0" b="-32021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6987870" cy="415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0"/>
                </a:lnSpc>
              </a:pPr>
              <a:r>
                <a:rPr lang="en-US" sz="1521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Alertas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315787" y="9681886"/>
            <a:ext cx="5268487" cy="386172"/>
            <a:chOff x="0" y="0"/>
            <a:chExt cx="7024649" cy="51489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024652" cy="514896"/>
            </a:xfrm>
            <a:custGeom>
              <a:avLst/>
              <a:gdLst/>
              <a:ahLst/>
              <a:cxnLst/>
              <a:rect r="r" b="b" t="t" l="l"/>
              <a:pathLst>
                <a:path h="514896" w="7024652">
                  <a:moveTo>
                    <a:pt x="0" y="0"/>
                  </a:moveTo>
                  <a:lnTo>
                    <a:pt x="7024652" y="0"/>
                  </a:lnTo>
                  <a:lnTo>
                    <a:pt x="7024652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85725"/>
              <a:ext cx="7024649" cy="600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49"/>
                </a:lnSpc>
              </a:pPr>
              <a:r>
                <a:rPr lang="en-US" sz="195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Multi-Canal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4295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571500"/>
            <a:ext cx="10029825" cy="342900"/>
            <a:chOff x="0" y="0"/>
            <a:chExt cx="133731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73100" cy="457200"/>
            </a:xfrm>
            <a:custGeom>
              <a:avLst/>
              <a:gdLst/>
              <a:ahLst/>
              <a:cxnLst/>
              <a:rect r="r" b="b" t="t" l="l"/>
              <a:pathLst>
                <a:path h="457200" w="13373100">
                  <a:moveTo>
                    <a:pt x="0" y="0"/>
                  </a:moveTo>
                  <a:lnTo>
                    <a:pt x="13373100" y="0"/>
                  </a:lnTo>
                  <a:lnTo>
                    <a:pt x="133731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9937" r="0" b="-51993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33731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SOLUCIÓN 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914400"/>
            <a:ext cx="10258425" cy="685800"/>
            <a:chOff x="0" y="0"/>
            <a:chExt cx="136779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77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3677900">
                  <a:moveTo>
                    <a:pt x="0" y="0"/>
                  </a:moveTo>
                  <a:lnTo>
                    <a:pt x="13677900" y="0"/>
                  </a:lnTo>
                  <a:lnTo>
                    <a:pt x="13677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463" r="0" b="-24146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136779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Hardware Fiscal Homologado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2114550"/>
            <a:ext cx="5529262" cy="5915025"/>
            <a:chOff x="0" y="0"/>
            <a:chExt cx="7372350" cy="7886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72350" cy="7886700"/>
            </a:xfrm>
            <a:custGeom>
              <a:avLst/>
              <a:gdLst/>
              <a:ahLst/>
              <a:cxnLst/>
              <a:rect r="r" b="b" t="t" l="l"/>
              <a:pathLst>
                <a:path h="7886700" w="7372350">
                  <a:moveTo>
                    <a:pt x="2286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7658100"/>
                  </a:lnTo>
                  <a:cubicBezTo>
                    <a:pt x="7372350" y="7784338"/>
                    <a:pt x="7269988" y="7886700"/>
                    <a:pt x="7143750" y="7886700"/>
                  </a:cubicBezTo>
                  <a:lnTo>
                    <a:pt x="228600" y="7886700"/>
                  </a:lnTo>
                  <a:cubicBezTo>
                    <a:pt x="102362" y="7886700"/>
                    <a:pt x="0" y="7784338"/>
                    <a:pt x="0" y="76581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62136" y="2400300"/>
            <a:ext cx="1143000" cy="1143000"/>
            <a:chOff x="0" y="0"/>
            <a:chExt cx="15240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lnTo>
                    <a:pt x="1524000" y="1219200"/>
                  </a:lnTo>
                  <a:cubicBezTo>
                    <a:pt x="1524000" y="1387475"/>
                    <a:pt x="1387475" y="1524000"/>
                    <a:pt x="1219200" y="1524000"/>
                  </a:cubicBezTo>
                  <a:lnTo>
                    <a:pt x="304800" y="1524000"/>
                  </a:lnTo>
                  <a:cubicBezTo>
                    <a:pt x="136525" y="1524000"/>
                    <a:pt x="0" y="1387475"/>
                    <a:pt x="0" y="1219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076461" y="27146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71525" y="3771900"/>
            <a:ext cx="5129212" cy="457200"/>
            <a:chOff x="0" y="0"/>
            <a:chExt cx="683895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38950" cy="609600"/>
            </a:xfrm>
            <a:custGeom>
              <a:avLst/>
              <a:gdLst/>
              <a:ahLst/>
              <a:cxnLst/>
              <a:rect r="r" b="b" t="t" l="l"/>
              <a:pathLst>
                <a:path h="609600" w="6838950">
                  <a:moveTo>
                    <a:pt x="0" y="0"/>
                  </a:moveTo>
                  <a:lnTo>
                    <a:pt x="6838950" y="0"/>
                  </a:lnTo>
                  <a:lnTo>
                    <a:pt x="68389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597" r="0" b="-16859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8389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Caja Auto-Pago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8662" y="4343229"/>
            <a:ext cx="5214938" cy="571500"/>
            <a:chOff x="0" y="0"/>
            <a:chExt cx="695325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53250" cy="762000"/>
            </a:xfrm>
            <a:custGeom>
              <a:avLst/>
              <a:gdLst/>
              <a:ahLst/>
              <a:cxnLst/>
              <a:rect r="r" b="b" t="t" l="l"/>
              <a:pathLst>
                <a:path h="762000" w="6953250">
                  <a:moveTo>
                    <a:pt x="0" y="0"/>
                  </a:moveTo>
                  <a:lnTo>
                    <a:pt x="6953250" y="0"/>
                  </a:lnTo>
                  <a:lnTo>
                    <a:pt x="69532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69532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$350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22265" y="5029029"/>
            <a:ext cx="1828800" cy="400050"/>
            <a:chOff x="0" y="0"/>
            <a:chExt cx="2438400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533400"/>
            </a:xfrm>
            <a:custGeom>
              <a:avLst/>
              <a:gdLst/>
              <a:ahLst/>
              <a:cxnLst/>
              <a:rect r="r" b="b" t="t" l="l"/>
              <a:pathLst>
                <a:path h="533400" w="2438400">
                  <a:moveTo>
                    <a:pt x="266700" y="0"/>
                  </a:moveTo>
                  <a:lnTo>
                    <a:pt x="2171700" y="0"/>
                  </a:lnTo>
                  <a:cubicBezTo>
                    <a:pt x="2318893" y="0"/>
                    <a:pt x="2438400" y="119507"/>
                    <a:pt x="2438400" y="266700"/>
                  </a:cubicBezTo>
                  <a:cubicBezTo>
                    <a:pt x="2438400" y="413893"/>
                    <a:pt x="2318893" y="533400"/>
                    <a:pt x="21717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372258" y="5029029"/>
            <a:ext cx="1928812" cy="400050"/>
            <a:chOff x="0" y="0"/>
            <a:chExt cx="2571750" cy="533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71750" cy="533400"/>
            </a:xfrm>
            <a:custGeom>
              <a:avLst/>
              <a:gdLst/>
              <a:ahLst/>
              <a:cxnLst/>
              <a:rect r="r" b="b" t="t" l="l"/>
              <a:pathLst>
                <a:path h="53340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57175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0A19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HOMOLOGADO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8322" y="5700541"/>
            <a:ext cx="175022" cy="200025"/>
            <a:chOff x="0" y="0"/>
            <a:chExt cx="233362" cy="266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21581" y="5657679"/>
            <a:ext cx="1657350" cy="285750"/>
            <a:chOff x="0" y="0"/>
            <a:chExt cx="2209800" cy="38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9800" cy="381000"/>
            </a:xfrm>
            <a:custGeom>
              <a:avLst/>
              <a:gdLst/>
              <a:ahLst/>
              <a:cxnLst/>
              <a:rect r="r" b="b" t="t" l="l"/>
              <a:pathLst>
                <a:path h="3810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2098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Pago automático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8322" y="6100591"/>
            <a:ext cx="175022" cy="200025"/>
            <a:chOff x="0" y="0"/>
            <a:chExt cx="233362" cy="266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21581" y="6057729"/>
            <a:ext cx="1785938" cy="285750"/>
            <a:chOff x="0" y="0"/>
            <a:chExt cx="2381250" cy="381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81250" cy="381000"/>
            </a:xfrm>
            <a:custGeom>
              <a:avLst/>
              <a:gdLst/>
              <a:ahLst/>
              <a:cxnLst/>
              <a:rect r="r" b="b" t="t" l="l"/>
              <a:pathLst>
                <a:path h="381000" w="2381250">
                  <a:moveTo>
                    <a:pt x="0" y="0"/>
                  </a:moveTo>
                  <a:lnTo>
                    <a:pt x="2381250" y="0"/>
                  </a:lnTo>
                  <a:lnTo>
                    <a:pt x="2381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3812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Múltiples métodos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98322" y="6500641"/>
            <a:ext cx="175022" cy="200025"/>
            <a:chOff x="0" y="0"/>
            <a:chExt cx="233362" cy="266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1581" y="6457779"/>
            <a:ext cx="1685925" cy="285750"/>
            <a:chOff x="0" y="0"/>
            <a:chExt cx="2247900" cy="381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47900" cy="381000"/>
            </a:xfrm>
            <a:custGeom>
              <a:avLst/>
              <a:gdLst/>
              <a:ahLst/>
              <a:cxnLst/>
              <a:rect r="r" b="b" t="t" l="l"/>
              <a:pathLst>
                <a:path h="381000" w="2247900">
                  <a:moveTo>
                    <a:pt x="0" y="0"/>
                  </a:moveTo>
                  <a:lnTo>
                    <a:pt x="2247900" y="0"/>
                  </a:lnTo>
                  <a:lnTo>
                    <a:pt x="22479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2479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Integración cloud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8322" y="6900691"/>
            <a:ext cx="175022" cy="200025"/>
            <a:chOff x="0" y="0"/>
            <a:chExt cx="233362" cy="266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21581" y="6857829"/>
            <a:ext cx="2300288" cy="285750"/>
            <a:chOff x="0" y="0"/>
            <a:chExt cx="3067050" cy="381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67050" cy="381000"/>
            </a:xfrm>
            <a:custGeom>
              <a:avLst/>
              <a:gdLst/>
              <a:ahLst/>
              <a:cxnLst/>
              <a:rect r="r" b="b" t="t" l="l"/>
              <a:pathLst>
                <a:path h="381000" w="3067050">
                  <a:moveTo>
                    <a:pt x="0" y="0"/>
                  </a:moveTo>
                  <a:lnTo>
                    <a:pt x="3067050" y="0"/>
                  </a:lnTo>
                  <a:lnTo>
                    <a:pt x="3067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854" r="0" b="-10685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30670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Reportes en tiempo real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381693" y="2114550"/>
            <a:ext cx="5529262" cy="5915025"/>
            <a:chOff x="0" y="0"/>
            <a:chExt cx="7372350" cy="7886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72350" cy="7886700"/>
            </a:xfrm>
            <a:custGeom>
              <a:avLst/>
              <a:gdLst/>
              <a:ahLst/>
              <a:cxnLst/>
              <a:rect r="r" b="b" t="t" l="l"/>
              <a:pathLst>
                <a:path h="7886700" w="7372350">
                  <a:moveTo>
                    <a:pt x="2286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7658100"/>
                  </a:lnTo>
                  <a:cubicBezTo>
                    <a:pt x="7372350" y="7784338"/>
                    <a:pt x="7269988" y="7886700"/>
                    <a:pt x="7143750" y="7886700"/>
                  </a:cubicBezTo>
                  <a:lnTo>
                    <a:pt x="228600" y="7886700"/>
                  </a:lnTo>
                  <a:cubicBezTo>
                    <a:pt x="102362" y="7886700"/>
                    <a:pt x="0" y="7784338"/>
                    <a:pt x="0" y="76581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572319" y="2400300"/>
            <a:ext cx="1143000" cy="1143000"/>
            <a:chOff x="0" y="0"/>
            <a:chExt cx="1524000" cy="1524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lnTo>
                    <a:pt x="1524000" y="1219200"/>
                  </a:lnTo>
                  <a:cubicBezTo>
                    <a:pt x="1524000" y="1387475"/>
                    <a:pt x="1387475" y="1524000"/>
                    <a:pt x="1219200" y="1524000"/>
                  </a:cubicBezTo>
                  <a:lnTo>
                    <a:pt x="304800" y="1524000"/>
                  </a:lnTo>
                  <a:cubicBezTo>
                    <a:pt x="136525" y="1524000"/>
                    <a:pt x="0" y="1387475"/>
                    <a:pt x="0" y="1219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22D3EE">
                <a:alpha val="3922"/>
              </a:srgbClr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8886644" y="27146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6581718" y="3771900"/>
            <a:ext cx="5129212" cy="457200"/>
            <a:chOff x="0" y="0"/>
            <a:chExt cx="683895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38950" cy="609600"/>
            </a:xfrm>
            <a:custGeom>
              <a:avLst/>
              <a:gdLst/>
              <a:ahLst/>
              <a:cxnLst/>
              <a:rect r="r" b="b" t="t" l="l"/>
              <a:pathLst>
                <a:path h="609600" w="6838950">
                  <a:moveTo>
                    <a:pt x="0" y="0"/>
                  </a:moveTo>
                  <a:lnTo>
                    <a:pt x="6838950" y="0"/>
                  </a:lnTo>
                  <a:lnTo>
                    <a:pt x="68389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597" r="0" b="-16859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8389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Impresora Fiscal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538855" y="4343229"/>
            <a:ext cx="5214938" cy="571500"/>
            <a:chOff x="0" y="0"/>
            <a:chExt cx="6953250" cy="762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953250" cy="762000"/>
            </a:xfrm>
            <a:custGeom>
              <a:avLst/>
              <a:gdLst/>
              <a:ahLst/>
              <a:cxnLst/>
              <a:rect r="r" b="b" t="t" l="l"/>
              <a:pathLst>
                <a:path h="762000" w="6953250">
                  <a:moveTo>
                    <a:pt x="0" y="0"/>
                  </a:moveTo>
                  <a:lnTo>
                    <a:pt x="6953250" y="0"/>
                  </a:lnTo>
                  <a:lnTo>
                    <a:pt x="69532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28575"/>
              <a:ext cx="69532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$200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244602" y="5029029"/>
            <a:ext cx="1800225" cy="400050"/>
            <a:chOff x="0" y="0"/>
            <a:chExt cx="2400300" cy="533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00300" cy="533400"/>
            </a:xfrm>
            <a:custGeom>
              <a:avLst/>
              <a:gdLst/>
              <a:ahLst/>
              <a:cxnLst/>
              <a:rect r="r" b="b" t="t" l="l"/>
              <a:pathLst>
                <a:path h="533400" w="2400300">
                  <a:moveTo>
                    <a:pt x="266700" y="0"/>
                  </a:moveTo>
                  <a:lnTo>
                    <a:pt x="2133600" y="0"/>
                  </a:lnTo>
                  <a:cubicBezTo>
                    <a:pt x="2280793" y="0"/>
                    <a:pt x="2400300" y="119507"/>
                    <a:pt x="2400300" y="266700"/>
                  </a:cubicBezTo>
                  <a:cubicBezTo>
                    <a:pt x="2400300" y="413893"/>
                    <a:pt x="2280793" y="533400"/>
                    <a:pt x="21336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194596" y="5029029"/>
            <a:ext cx="1900238" cy="400050"/>
            <a:chOff x="0" y="0"/>
            <a:chExt cx="2533650" cy="533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33650" cy="533400"/>
            </a:xfrm>
            <a:custGeom>
              <a:avLst/>
              <a:gdLst/>
              <a:ahLst/>
              <a:cxnLst/>
              <a:rect r="r" b="b" t="t" l="l"/>
              <a:pathLst>
                <a:path h="533400" w="2533650">
                  <a:moveTo>
                    <a:pt x="0" y="0"/>
                  </a:moveTo>
                  <a:lnTo>
                    <a:pt x="2533650" y="0"/>
                  </a:lnTo>
                  <a:lnTo>
                    <a:pt x="2533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53365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0A19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HOMOLOGADA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708515" y="5700541"/>
            <a:ext cx="175022" cy="200025"/>
            <a:chOff x="0" y="0"/>
            <a:chExt cx="233362" cy="2667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031774" y="5657679"/>
            <a:ext cx="2000250" cy="285750"/>
            <a:chOff x="0" y="0"/>
            <a:chExt cx="2667000" cy="381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667000" cy="381000"/>
            </a:xfrm>
            <a:custGeom>
              <a:avLst/>
              <a:gdLst/>
              <a:ahLst/>
              <a:cxnLst/>
              <a:rect r="r" b="b" t="t" l="l"/>
              <a:pathLst>
                <a:path h="381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6670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Certificación SENIAT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708515" y="6100591"/>
            <a:ext cx="175022" cy="200025"/>
            <a:chOff x="0" y="0"/>
            <a:chExt cx="233362" cy="2667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031774" y="6057729"/>
            <a:ext cx="1385888" cy="285750"/>
            <a:chOff x="0" y="0"/>
            <a:chExt cx="1847850" cy="381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47850" cy="381000"/>
            </a:xfrm>
            <a:custGeom>
              <a:avLst/>
              <a:gdLst/>
              <a:ahLst/>
              <a:cxnLst/>
              <a:rect r="r" b="b" t="t" l="l"/>
              <a:pathLst>
                <a:path h="3810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8478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Alta velocidad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708515" y="6500641"/>
            <a:ext cx="175022" cy="200025"/>
            <a:chOff x="0" y="0"/>
            <a:chExt cx="233362" cy="2667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031774" y="6457779"/>
            <a:ext cx="1757362" cy="285750"/>
            <a:chOff x="0" y="0"/>
            <a:chExt cx="2343150" cy="381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343150" cy="381000"/>
            </a:xfrm>
            <a:custGeom>
              <a:avLst/>
              <a:gdLst/>
              <a:ahLst/>
              <a:cxnLst/>
              <a:rect r="r" b="b" t="t" l="l"/>
              <a:pathLst>
                <a:path h="381000" w="2343150">
                  <a:moveTo>
                    <a:pt x="0" y="0"/>
                  </a:moveTo>
                  <a:lnTo>
                    <a:pt x="2343150" y="0"/>
                  </a:lnTo>
                  <a:lnTo>
                    <a:pt x="2343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832" r="0" b="-6983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2343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Conectividad WiFi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708515" y="6900691"/>
            <a:ext cx="175022" cy="200025"/>
            <a:chOff x="0" y="0"/>
            <a:chExt cx="233362" cy="2667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031774" y="6857829"/>
            <a:ext cx="1514475" cy="285750"/>
            <a:chOff x="0" y="0"/>
            <a:chExt cx="2019300" cy="381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19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0193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Batería incluida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191886" y="2114550"/>
            <a:ext cx="5529262" cy="5915025"/>
            <a:chOff x="0" y="0"/>
            <a:chExt cx="7372350" cy="78867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372350" cy="7886700"/>
            </a:xfrm>
            <a:custGeom>
              <a:avLst/>
              <a:gdLst/>
              <a:ahLst/>
              <a:cxnLst/>
              <a:rect r="r" b="b" t="t" l="l"/>
              <a:pathLst>
                <a:path h="7886700" w="7372350">
                  <a:moveTo>
                    <a:pt x="2286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7658100"/>
                  </a:lnTo>
                  <a:cubicBezTo>
                    <a:pt x="7372350" y="7784338"/>
                    <a:pt x="7269988" y="7886700"/>
                    <a:pt x="7143750" y="7886700"/>
                  </a:cubicBezTo>
                  <a:lnTo>
                    <a:pt x="228600" y="7886700"/>
                  </a:lnTo>
                  <a:cubicBezTo>
                    <a:pt x="102362" y="7886700"/>
                    <a:pt x="0" y="7784338"/>
                    <a:pt x="0" y="76581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382693" y="2400300"/>
            <a:ext cx="1143000" cy="1143000"/>
            <a:chOff x="0" y="0"/>
            <a:chExt cx="1524000" cy="1524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lnTo>
                    <a:pt x="1524000" y="1219200"/>
                  </a:lnTo>
                  <a:cubicBezTo>
                    <a:pt x="1524000" y="1387475"/>
                    <a:pt x="1387475" y="1524000"/>
                    <a:pt x="1219200" y="1524000"/>
                  </a:cubicBezTo>
                  <a:lnTo>
                    <a:pt x="304800" y="1524000"/>
                  </a:lnTo>
                  <a:cubicBezTo>
                    <a:pt x="136525" y="1524000"/>
                    <a:pt x="0" y="1387475"/>
                    <a:pt x="0" y="1219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891B2">
                <a:alpha val="3922"/>
              </a:srgbClr>
            </a:solidFill>
          </p:spPr>
        </p:sp>
      </p:grpSp>
      <p:sp>
        <p:nvSpPr>
          <p:cNvPr name="Freeform 86" id="86"/>
          <p:cNvSpPr/>
          <p:nvPr/>
        </p:nvSpPr>
        <p:spPr>
          <a:xfrm flipH="false" flipV="false" rot="0">
            <a:off x="14697018" y="27146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12391911" y="3771900"/>
            <a:ext cx="5129212" cy="457200"/>
            <a:chOff x="0" y="0"/>
            <a:chExt cx="6838950" cy="609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838950" cy="609600"/>
            </a:xfrm>
            <a:custGeom>
              <a:avLst/>
              <a:gdLst/>
              <a:ahLst/>
              <a:cxnLst/>
              <a:rect r="r" b="b" t="t" l="l"/>
              <a:pathLst>
                <a:path h="609600" w="6838950">
                  <a:moveTo>
                    <a:pt x="0" y="0"/>
                  </a:moveTo>
                  <a:lnTo>
                    <a:pt x="6838950" y="0"/>
                  </a:lnTo>
                  <a:lnTo>
                    <a:pt x="68389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597" r="0" b="-16859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68389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Kit TPV Completo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349048" y="4343229"/>
            <a:ext cx="5214938" cy="571500"/>
            <a:chOff x="0" y="0"/>
            <a:chExt cx="6953250" cy="762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953250" cy="762000"/>
            </a:xfrm>
            <a:custGeom>
              <a:avLst/>
              <a:gdLst/>
              <a:ahLst/>
              <a:cxnLst/>
              <a:rect r="r" b="b" t="t" l="l"/>
              <a:pathLst>
                <a:path h="762000" w="6953250">
                  <a:moveTo>
                    <a:pt x="0" y="0"/>
                  </a:moveTo>
                  <a:lnTo>
                    <a:pt x="6953250" y="0"/>
                  </a:lnTo>
                  <a:lnTo>
                    <a:pt x="69532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28575"/>
              <a:ext cx="69532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0891B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$500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042822" y="5029029"/>
            <a:ext cx="1828800" cy="400050"/>
            <a:chOff x="0" y="0"/>
            <a:chExt cx="2438400" cy="533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38400" cy="533400"/>
            </a:xfrm>
            <a:custGeom>
              <a:avLst/>
              <a:gdLst/>
              <a:ahLst/>
              <a:cxnLst/>
              <a:rect r="r" b="b" t="t" l="l"/>
              <a:pathLst>
                <a:path h="533400" w="2438400">
                  <a:moveTo>
                    <a:pt x="266700" y="0"/>
                  </a:moveTo>
                  <a:lnTo>
                    <a:pt x="2171700" y="0"/>
                  </a:lnTo>
                  <a:cubicBezTo>
                    <a:pt x="2318893" y="0"/>
                    <a:pt x="2438400" y="119507"/>
                    <a:pt x="2438400" y="266700"/>
                  </a:cubicBezTo>
                  <a:cubicBezTo>
                    <a:pt x="2438400" y="413893"/>
                    <a:pt x="2318893" y="533400"/>
                    <a:pt x="21717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992825" y="5029029"/>
            <a:ext cx="1928812" cy="400050"/>
            <a:chOff x="0" y="0"/>
            <a:chExt cx="2571750" cy="5334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71750" cy="533400"/>
            </a:xfrm>
            <a:custGeom>
              <a:avLst/>
              <a:gdLst/>
              <a:ahLst/>
              <a:cxnLst/>
              <a:rect r="r" b="b" t="t" l="l"/>
              <a:pathLst>
                <a:path h="53340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257175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HOMOLOGADO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518707" y="5700541"/>
            <a:ext cx="175022" cy="200025"/>
            <a:chOff x="0" y="0"/>
            <a:chExt cx="233362" cy="2667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841957" y="5657679"/>
            <a:ext cx="1343025" cy="285750"/>
            <a:chOff x="0" y="0"/>
            <a:chExt cx="1790700" cy="3810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790700" cy="381000"/>
            </a:xfrm>
            <a:custGeom>
              <a:avLst/>
              <a:gdLst/>
              <a:ahLst/>
              <a:cxnLst/>
              <a:rect r="r" b="b" t="t" l="l"/>
              <a:pathLst>
                <a:path h="381000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579" r="0" b="-4157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17907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Todo incluido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518707" y="6100591"/>
            <a:ext cx="175022" cy="200025"/>
            <a:chOff x="0" y="0"/>
            <a:chExt cx="233362" cy="2667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841957" y="6057729"/>
            <a:ext cx="1557338" cy="285750"/>
            <a:chOff x="0" y="0"/>
            <a:chExt cx="2076450" cy="3810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76450" cy="381000"/>
            </a:xfrm>
            <a:custGeom>
              <a:avLst/>
              <a:gdLst/>
              <a:ahLst/>
              <a:cxnLst/>
              <a:rect r="r" b="b" t="t" l="l"/>
              <a:pathLst>
                <a:path h="381000" w="2076450">
                  <a:moveTo>
                    <a:pt x="0" y="0"/>
                  </a:moveTo>
                  <a:lnTo>
                    <a:pt x="2076450" y="0"/>
                  </a:lnTo>
                  <a:lnTo>
                    <a:pt x="2076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2076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Soporte técnico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518707" y="6500641"/>
            <a:ext cx="175022" cy="200025"/>
            <a:chOff x="0" y="0"/>
            <a:chExt cx="233362" cy="2667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841957" y="6457779"/>
            <a:ext cx="1285875" cy="285750"/>
            <a:chOff x="0" y="0"/>
            <a:chExt cx="1714500" cy="3810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14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7145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Capacitación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518707" y="6900691"/>
            <a:ext cx="175022" cy="200025"/>
            <a:chOff x="0" y="0"/>
            <a:chExt cx="233362" cy="266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841957" y="6857829"/>
            <a:ext cx="1400175" cy="285750"/>
            <a:chOff x="0" y="0"/>
            <a:chExt cx="1866900" cy="3810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866900" cy="381000"/>
            </a:xfrm>
            <a:custGeom>
              <a:avLst/>
              <a:gdLst/>
              <a:ahLst/>
              <a:cxnLst/>
              <a:rect r="r" b="b" t="t" l="l"/>
              <a:pathLst>
                <a:path h="381000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18669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Garantía 1 año</a:t>
              </a:r>
            </a:p>
          </p:txBody>
        </p:sp>
      </p:grpSp>
      <p:sp>
        <p:nvSpPr>
          <p:cNvPr name="Freeform 118" id="118"/>
          <p:cNvSpPr/>
          <p:nvPr/>
        </p:nvSpPr>
        <p:spPr>
          <a:xfrm flipH="false" flipV="false" rot="0">
            <a:off x="569595" y="8319135"/>
            <a:ext cx="17143095" cy="1398270"/>
          </a:xfrm>
          <a:custGeom>
            <a:avLst/>
            <a:gdLst/>
            <a:ahLst/>
            <a:cxnLst/>
            <a:rect r="r" b="b" t="t" l="l"/>
            <a:pathLst>
              <a:path h="1398270" w="17143095">
                <a:moveTo>
                  <a:pt x="0" y="0"/>
                </a:moveTo>
                <a:lnTo>
                  <a:pt x="17143095" y="0"/>
                </a:lnTo>
                <a:lnTo>
                  <a:pt x="17143095" y="1398270"/>
                </a:lnTo>
                <a:lnTo>
                  <a:pt x="0" y="13982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900827" y="8761095"/>
            <a:ext cx="578644" cy="514350"/>
          </a:xfrm>
          <a:custGeom>
            <a:avLst/>
            <a:gdLst/>
            <a:ahLst/>
            <a:cxnLst/>
            <a:rect r="r" b="b" t="t" l="l"/>
            <a:pathLst>
              <a:path h="514350" w="578644">
                <a:moveTo>
                  <a:pt x="0" y="0"/>
                </a:moveTo>
                <a:lnTo>
                  <a:pt x="578644" y="0"/>
                </a:lnTo>
                <a:lnTo>
                  <a:pt x="578644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0" id="120"/>
          <p:cNvGrpSpPr/>
          <p:nvPr/>
        </p:nvGrpSpPr>
        <p:grpSpPr>
          <a:xfrm rot="0">
            <a:off x="1740217" y="8618220"/>
            <a:ext cx="8815388" cy="400050"/>
            <a:chOff x="0" y="0"/>
            <a:chExt cx="11753850" cy="5334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753850" cy="533400"/>
            </a:xfrm>
            <a:custGeom>
              <a:avLst/>
              <a:gdLst/>
              <a:ahLst/>
              <a:cxnLst/>
              <a:rect r="r" b="b" t="t" l="l"/>
              <a:pathLst>
                <a:path h="533400" w="11753850">
                  <a:moveTo>
                    <a:pt x="0" y="0"/>
                  </a:moveTo>
                  <a:lnTo>
                    <a:pt x="11753850" y="0"/>
                  </a:lnTo>
                  <a:lnTo>
                    <a:pt x="11753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9366" r="0" b="-379366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66675"/>
              <a:ext cx="117538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Cumplimiento Fiscal Total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740217" y="9075420"/>
            <a:ext cx="8786812" cy="342900"/>
            <a:chOff x="0" y="0"/>
            <a:chExt cx="11715750" cy="4572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715750" cy="457200"/>
            </a:xfrm>
            <a:custGeom>
              <a:avLst/>
              <a:gdLst/>
              <a:ahLst/>
              <a:cxnLst/>
              <a:rect r="r" b="b" t="t" l="l"/>
              <a:pathLst>
                <a:path h="457200" w="11715750">
                  <a:moveTo>
                    <a:pt x="0" y="0"/>
                  </a:moveTo>
                  <a:lnTo>
                    <a:pt x="11715750" y="0"/>
                  </a:lnTo>
                  <a:lnTo>
                    <a:pt x="117157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304" r="0" b="-44930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85725"/>
              <a:ext cx="1171575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Todo el hardware certificado y homologado por los entes regulatorios venezolanos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6032004" y="8618220"/>
            <a:ext cx="1385888" cy="514350"/>
            <a:chOff x="0" y="0"/>
            <a:chExt cx="1847850" cy="6858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847850" cy="685800"/>
            </a:xfrm>
            <a:custGeom>
              <a:avLst/>
              <a:gdLst/>
              <a:ahLst/>
              <a:cxnLst/>
              <a:rect r="r" b="b" t="t" l="l"/>
              <a:pathLst>
                <a:path h="6858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1" r="0" b="-2501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19050"/>
              <a:ext cx="184785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050"/>
                </a:lnSpc>
              </a:pPr>
              <a:r>
                <a:rPr lang="en-US" sz="3375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100%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6146304" y="9132570"/>
            <a:ext cx="1271588" cy="285750"/>
            <a:chOff x="0" y="0"/>
            <a:chExt cx="1695450" cy="3810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695450" cy="381000"/>
            </a:xfrm>
            <a:custGeom>
              <a:avLst/>
              <a:gdLst/>
              <a:ahLst/>
              <a:cxnLst/>
              <a:rect r="r" b="b" t="t" l="l"/>
              <a:pathLst>
                <a:path h="381000" w="1695450">
                  <a:moveTo>
                    <a:pt x="0" y="0"/>
                  </a:moveTo>
                  <a:lnTo>
                    <a:pt x="1695450" y="0"/>
                  </a:lnTo>
                  <a:lnTo>
                    <a:pt x="1695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08" r="0" b="-36708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1695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Homologado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4295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571500"/>
            <a:ext cx="14544675" cy="342900"/>
            <a:chOff x="0" y="0"/>
            <a:chExt cx="193929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19392900">
                  <a:moveTo>
                    <a:pt x="0" y="0"/>
                  </a:moveTo>
                  <a:lnTo>
                    <a:pt x="19392900" y="0"/>
                  </a:lnTo>
                  <a:lnTo>
                    <a:pt x="193929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490" r="0" b="-7764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3929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SOLUCIÓN 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914400"/>
            <a:ext cx="14773275" cy="685800"/>
            <a:chOff x="0" y="0"/>
            <a:chExt cx="196977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6977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697700">
                  <a:moveTo>
                    <a:pt x="0" y="0"/>
                  </a:moveTo>
                  <a:lnTo>
                    <a:pt x="19697700" y="0"/>
                  </a:lnTo>
                  <a:lnTo>
                    <a:pt x="196977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740" r="0" b="-36974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196977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Smart Bins + Eco-Créditos + Financiamiento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2114550"/>
            <a:ext cx="8401050" cy="7600950"/>
            <a:chOff x="0" y="0"/>
            <a:chExt cx="11201400" cy="1013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01400" cy="10134600"/>
            </a:xfrm>
            <a:custGeom>
              <a:avLst/>
              <a:gdLst/>
              <a:ahLst/>
              <a:cxnLst/>
              <a:rect r="r" b="b" t="t" l="l"/>
              <a:pathLst>
                <a:path h="10134600" w="11201400">
                  <a:moveTo>
                    <a:pt x="228600" y="0"/>
                  </a:moveTo>
                  <a:lnTo>
                    <a:pt x="10972800" y="0"/>
                  </a:lnTo>
                  <a:cubicBezTo>
                    <a:pt x="11099038" y="0"/>
                    <a:pt x="11201400" y="102362"/>
                    <a:pt x="11201400" y="228600"/>
                  </a:cubicBezTo>
                  <a:lnTo>
                    <a:pt x="11201400" y="9906000"/>
                  </a:lnTo>
                  <a:cubicBezTo>
                    <a:pt x="11201400" y="10032238"/>
                    <a:pt x="11099038" y="10134600"/>
                    <a:pt x="10972800" y="10134600"/>
                  </a:cubicBezTo>
                  <a:lnTo>
                    <a:pt x="228600" y="10134600"/>
                  </a:lnTo>
                  <a:cubicBezTo>
                    <a:pt x="102362" y="10134600"/>
                    <a:pt x="0" y="10032238"/>
                    <a:pt x="0" y="9906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8675" y="2457450"/>
            <a:ext cx="7886700" cy="457200"/>
            <a:chOff x="0" y="0"/>
            <a:chExt cx="105156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515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Ciclo de Economía Circular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000329"/>
            <a:ext cx="7715250" cy="4572000"/>
            <a:chOff x="0" y="0"/>
            <a:chExt cx="10287000" cy="6096000"/>
          </a:xfrm>
        </p:grpSpPr>
        <p:sp>
          <p:nvSpPr>
            <p:cNvPr name="Freeform 16" id="16" descr="https://kimi-img.moonshot.cn/pub/slides/26-03-18-11:20:48-d6t1k41toom2o7sjp8t0.png"/>
            <p:cNvSpPr/>
            <p:nvPr/>
          </p:nvSpPr>
          <p:spPr>
            <a:xfrm flipH="false" flipV="false" rot="0">
              <a:off x="0" y="0"/>
              <a:ext cx="10287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44025" y="2786062"/>
            <a:ext cx="8372475" cy="1457325"/>
            <a:chOff x="0" y="0"/>
            <a:chExt cx="11163300" cy="1943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633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11163300">
                  <a:moveTo>
                    <a:pt x="0" y="0"/>
                  </a:moveTo>
                  <a:lnTo>
                    <a:pt x="11010900" y="0"/>
                  </a:lnTo>
                  <a:cubicBezTo>
                    <a:pt x="11095101" y="0"/>
                    <a:pt x="11163300" y="68199"/>
                    <a:pt x="11163300" y="152400"/>
                  </a:cubicBezTo>
                  <a:lnTo>
                    <a:pt x="11163300" y="1790700"/>
                  </a:lnTo>
                  <a:cubicBezTo>
                    <a:pt x="11163300" y="1874901"/>
                    <a:pt x="11095101" y="1943100"/>
                    <a:pt x="11010900" y="1943100"/>
                  </a:cubicBez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44025" y="2786062"/>
            <a:ext cx="57150" cy="1457325"/>
            <a:chOff x="0" y="0"/>
            <a:chExt cx="76200" cy="1943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43100"/>
                  </a:ln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58350" y="3071812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829800" y="3243262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572750" y="3071812"/>
            <a:ext cx="5829300" cy="400050"/>
            <a:chOff x="0" y="0"/>
            <a:chExt cx="777240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72400" cy="533400"/>
            </a:xfrm>
            <a:custGeom>
              <a:avLst/>
              <a:gdLst/>
              <a:ahLst/>
              <a:cxnLst/>
              <a:rect r="r" b="b" t="t" l="l"/>
              <a:pathLst>
                <a:path h="5334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77724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Smart Bins con Sensor IA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572750" y="3586162"/>
            <a:ext cx="5800725" cy="371475"/>
            <a:chOff x="0" y="0"/>
            <a:chExt cx="7734300" cy="4953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34300" cy="495300"/>
            </a:xfrm>
            <a:custGeom>
              <a:avLst/>
              <a:gdLst/>
              <a:ahLst/>
              <a:cxnLst/>
              <a:rect r="r" b="b" t="t" l="l"/>
              <a:pathLst>
                <a:path h="495300" w="7734300">
                  <a:moveTo>
                    <a:pt x="0" y="0"/>
                  </a:moveTo>
                  <a:lnTo>
                    <a:pt x="7734300" y="0"/>
                  </a:lnTo>
                  <a:lnTo>
                    <a:pt x="77343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266" r="0" b="-25426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77343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Botella → Sensor IA → </a:t>
              </a:r>
              <a:r>
                <a:rPr lang="en-US" sz="1800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+50 Eco-Créditos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 instantáneos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44025" y="4471988"/>
            <a:ext cx="8372475" cy="1457325"/>
            <a:chOff x="0" y="0"/>
            <a:chExt cx="11163300" cy="1943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633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11163300">
                  <a:moveTo>
                    <a:pt x="0" y="0"/>
                  </a:moveTo>
                  <a:lnTo>
                    <a:pt x="11010900" y="0"/>
                  </a:lnTo>
                  <a:cubicBezTo>
                    <a:pt x="11095101" y="0"/>
                    <a:pt x="11163300" y="68199"/>
                    <a:pt x="11163300" y="152400"/>
                  </a:cubicBezTo>
                  <a:lnTo>
                    <a:pt x="11163300" y="1790700"/>
                  </a:lnTo>
                  <a:cubicBezTo>
                    <a:pt x="11163300" y="1874901"/>
                    <a:pt x="11095101" y="1943100"/>
                    <a:pt x="11010900" y="1943100"/>
                  </a:cubicBez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44025" y="4471988"/>
            <a:ext cx="57150" cy="1457325"/>
            <a:chOff x="0" y="0"/>
            <a:chExt cx="76200" cy="1943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43100"/>
                  </a:ln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58350" y="4757738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2D3EE">
                <a:alpha val="3922"/>
              </a:srgbClr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9829800" y="4929188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572750" y="4757738"/>
            <a:ext cx="6900862" cy="400050"/>
            <a:chOff x="0" y="0"/>
            <a:chExt cx="920115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01150" cy="533400"/>
            </a:xfrm>
            <a:custGeom>
              <a:avLst/>
              <a:gdLst/>
              <a:ahLst/>
              <a:cxnLst/>
              <a:rect r="r" b="b" t="t" l="l"/>
              <a:pathLst>
                <a:path h="533400" w="9201150">
                  <a:moveTo>
                    <a:pt x="0" y="0"/>
                  </a:moveTo>
                  <a:lnTo>
                    <a:pt x="9201150" y="0"/>
                  </a:lnTo>
                  <a:lnTo>
                    <a:pt x="92011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92011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Canje Multi-Uso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344150" y="5259731"/>
            <a:ext cx="7100888" cy="383832"/>
            <a:chOff x="0" y="0"/>
            <a:chExt cx="9163050" cy="495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63050" cy="495300"/>
            </a:xfrm>
            <a:custGeom>
              <a:avLst/>
              <a:gdLst/>
              <a:ahLst/>
              <a:cxnLst/>
              <a:rect r="r" b="b" t="t" l="l"/>
              <a:pathLst>
                <a:path h="495300" w="9163050">
                  <a:moveTo>
                    <a:pt x="0" y="0"/>
                  </a:moveTo>
                  <a:lnTo>
                    <a:pt x="9163050" y="0"/>
                  </a:lnTo>
                  <a:lnTo>
                    <a:pt x="916305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04775"/>
              <a:ext cx="91630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Eco-Créditos canjeables por: </a:t>
              </a:r>
              <a:r>
                <a:rPr lang="en-US" sz="1800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servicios, facturas y financiamiento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44025" y="6157912"/>
            <a:ext cx="8372475" cy="1457325"/>
            <a:chOff x="0" y="0"/>
            <a:chExt cx="11163300" cy="1943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1633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11163300">
                  <a:moveTo>
                    <a:pt x="0" y="0"/>
                  </a:moveTo>
                  <a:lnTo>
                    <a:pt x="11010900" y="0"/>
                  </a:lnTo>
                  <a:cubicBezTo>
                    <a:pt x="11095101" y="0"/>
                    <a:pt x="11163300" y="68199"/>
                    <a:pt x="11163300" y="152400"/>
                  </a:cubicBezTo>
                  <a:lnTo>
                    <a:pt x="11163300" y="1790700"/>
                  </a:lnTo>
                  <a:cubicBezTo>
                    <a:pt x="11163300" y="1874901"/>
                    <a:pt x="11095101" y="1943100"/>
                    <a:pt x="11010900" y="1943100"/>
                  </a:cubicBez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44025" y="6157912"/>
            <a:ext cx="57150" cy="1457325"/>
            <a:chOff x="0" y="0"/>
            <a:chExt cx="76200" cy="1943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43100"/>
                  </a:ln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58350" y="6443662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891B2">
                <a:alpha val="3922"/>
              </a:srgbClr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9808369" y="6615112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572750" y="6443662"/>
            <a:ext cx="5929312" cy="400050"/>
            <a:chOff x="0" y="0"/>
            <a:chExt cx="7905750" cy="533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905750" cy="533400"/>
            </a:xfrm>
            <a:custGeom>
              <a:avLst/>
              <a:gdLst/>
              <a:ahLst/>
              <a:cxnLst/>
              <a:rect r="r" b="b" t="t" l="l"/>
              <a:pathLst>
                <a:path h="5334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796" r="0" b="-23879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79057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Crédito Kyron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572750" y="6958012"/>
            <a:ext cx="5900738" cy="371475"/>
            <a:chOff x="0" y="0"/>
            <a:chExt cx="7867650" cy="4953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67650" cy="495300"/>
            </a:xfrm>
            <a:custGeom>
              <a:avLst/>
              <a:gdLst/>
              <a:ahLst/>
              <a:cxnLst/>
              <a:rect r="r" b="b" t="t" l="l"/>
              <a:pathLst>
                <a:path h="495300" w="7867650">
                  <a:moveTo>
                    <a:pt x="0" y="0"/>
                  </a:moveTo>
                  <a:lnTo>
                    <a:pt x="7867650" y="0"/>
                  </a:lnTo>
                  <a:lnTo>
                    <a:pt x="786765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9512" r="0" b="-25951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04775"/>
              <a:ext cx="78676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Hasta </a:t>
              </a:r>
              <a:r>
                <a:rPr lang="en-US" sz="1800" b="true">
                  <a:solidFill>
                    <a:srgbClr val="0891B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$5,000 sin aval</a:t>
              </a: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, pagable con puntos acumulados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15450" y="7843838"/>
            <a:ext cx="8401050" cy="1200150"/>
            <a:chOff x="0" y="0"/>
            <a:chExt cx="11201400" cy="1600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014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1201400">
                  <a:moveTo>
                    <a:pt x="152400" y="0"/>
                  </a:moveTo>
                  <a:lnTo>
                    <a:pt x="11049000" y="0"/>
                  </a:lnTo>
                  <a:cubicBezTo>
                    <a:pt x="11133201" y="0"/>
                    <a:pt x="11201400" y="68199"/>
                    <a:pt x="11201400" y="152400"/>
                  </a:cubicBezTo>
                  <a:lnTo>
                    <a:pt x="11201400" y="1447800"/>
                  </a:lnTo>
                  <a:cubicBezTo>
                    <a:pt x="11201400" y="1532001"/>
                    <a:pt x="11133201" y="1600200"/>
                    <a:pt x="110490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D4AA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586912" y="8272291"/>
            <a:ext cx="342900" cy="342900"/>
            <a:chOff x="0" y="0"/>
            <a:chExt cx="457200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457200"/>
                  </a:moveTo>
                  <a:cubicBezTo>
                    <a:pt x="354711" y="457200"/>
                    <a:pt x="457200" y="354711"/>
                    <a:pt x="457200" y="228600"/>
                  </a:cubicBezTo>
                  <a:cubicBezTo>
                    <a:pt x="457200" y="102489"/>
                    <a:pt x="354711" y="0"/>
                    <a:pt x="228600" y="0"/>
                  </a:cubicBezTo>
                  <a:cubicBezTo>
                    <a:pt x="102489" y="0"/>
                    <a:pt x="0" y="102489"/>
                    <a:pt x="0" y="228600"/>
                  </a:cubicBezTo>
                  <a:cubicBezTo>
                    <a:pt x="0" y="354711"/>
                    <a:pt x="102489" y="457200"/>
                    <a:pt x="228600" y="457200"/>
                  </a:cubicBezTo>
                  <a:close/>
                  <a:moveTo>
                    <a:pt x="303911" y="189992"/>
                  </a:moveTo>
                  <a:lnTo>
                    <a:pt x="232537" y="304292"/>
                  </a:lnTo>
                  <a:cubicBezTo>
                    <a:pt x="228727" y="310261"/>
                    <a:pt x="222377" y="314071"/>
                    <a:pt x="215265" y="314325"/>
                  </a:cubicBezTo>
                  <a:cubicBezTo>
                    <a:pt x="208153" y="314579"/>
                    <a:pt x="201422" y="311404"/>
                    <a:pt x="197231" y="305689"/>
                  </a:cubicBezTo>
                  <a:lnTo>
                    <a:pt x="154432" y="248539"/>
                  </a:lnTo>
                  <a:cubicBezTo>
                    <a:pt x="147320" y="239014"/>
                    <a:pt x="149225" y="225679"/>
                    <a:pt x="158750" y="218567"/>
                  </a:cubicBezTo>
                  <a:cubicBezTo>
                    <a:pt x="168275" y="211455"/>
                    <a:pt x="181610" y="213360"/>
                    <a:pt x="188722" y="222885"/>
                  </a:cubicBezTo>
                  <a:lnTo>
                    <a:pt x="212852" y="255016"/>
                  </a:lnTo>
                  <a:lnTo>
                    <a:pt x="267716" y="167259"/>
                  </a:lnTo>
                  <a:cubicBezTo>
                    <a:pt x="273939" y="157226"/>
                    <a:pt x="287147" y="154178"/>
                    <a:pt x="297307" y="160528"/>
                  </a:cubicBezTo>
                  <a:cubicBezTo>
                    <a:pt x="307467" y="166878"/>
                    <a:pt x="310388" y="179959"/>
                    <a:pt x="304038" y="190119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001250" y="8229679"/>
            <a:ext cx="4214813" cy="414087"/>
            <a:chOff x="0" y="0"/>
            <a:chExt cx="5429250" cy="533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29250" cy="533400"/>
            </a:xfrm>
            <a:custGeom>
              <a:avLst/>
              <a:gdLst/>
              <a:ahLst/>
              <a:cxnLst/>
              <a:rect r="r" b="b" t="t" l="l"/>
              <a:pathLst>
                <a:path h="533400" w="5429250">
                  <a:moveTo>
                    <a:pt x="0" y="0"/>
                  </a:moveTo>
                  <a:lnTo>
                    <a:pt x="5429250" y="0"/>
                  </a:lnTo>
                  <a:lnTo>
                    <a:pt x="5429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9" r="0" b="-14832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54292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0A19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CRÉDITO KYRON APROBADO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610467" y="8072438"/>
            <a:ext cx="871538" cy="457200"/>
            <a:chOff x="0" y="0"/>
            <a:chExt cx="1162050" cy="609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62050" cy="609600"/>
            </a:xfrm>
            <a:custGeom>
              <a:avLst/>
              <a:gdLst/>
              <a:ahLst/>
              <a:cxnLst/>
              <a:rect r="r" b="b" t="t" l="l"/>
              <a:pathLst>
                <a:path h="609600" w="1162050">
                  <a:moveTo>
                    <a:pt x="0" y="0"/>
                  </a:moveTo>
                  <a:lnTo>
                    <a:pt x="1162050" y="0"/>
                  </a:lnTo>
                  <a:lnTo>
                    <a:pt x="11620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06" t="0" r="-17306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1620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564"/>
                </a:lnSpc>
              </a:pPr>
              <a:r>
                <a:rPr lang="en-US" sz="2700" b="true">
                  <a:solidFill>
                    <a:srgbClr val="0A19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$5K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681904" y="8529466"/>
            <a:ext cx="800100" cy="285750"/>
            <a:chOff x="0" y="0"/>
            <a:chExt cx="1066800" cy="381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668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0668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68"/>
                </a:lnSpc>
              </a:pPr>
              <a:r>
                <a:rPr lang="en-US" sz="1575" b="true">
                  <a:solidFill>
                    <a:srgbClr val="0A19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Sin aval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8395" y="738911"/>
            <a:ext cx="113681" cy="682066"/>
            <a:chOff x="0" y="0"/>
            <a:chExt cx="151574" cy="909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511" cy="909447"/>
            </a:xfrm>
            <a:custGeom>
              <a:avLst/>
              <a:gdLst/>
              <a:ahLst/>
              <a:cxnLst/>
              <a:rect r="r" b="b" t="t" l="l"/>
              <a:pathLst>
                <a:path h="909447" w="151511">
                  <a:moveTo>
                    <a:pt x="0" y="0"/>
                  </a:moveTo>
                  <a:lnTo>
                    <a:pt x="151511" y="0"/>
                  </a:lnTo>
                  <a:lnTo>
                    <a:pt x="151511" y="909447"/>
                  </a:lnTo>
                  <a:lnTo>
                    <a:pt x="0" y="909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2592" y="568395"/>
            <a:ext cx="10032111" cy="341033"/>
            <a:chOff x="0" y="0"/>
            <a:chExt cx="13376148" cy="454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76149" cy="454714"/>
            </a:xfrm>
            <a:custGeom>
              <a:avLst/>
              <a:gdLst/>
              <a:ahLst/>
              <a:cxnLst/>
              <a:rect r="r" b="b" t="t" l="l"/>
              <a:pathLst>
                <a:path h="454714" w="13376149">
                  <a:moveTo>
                    <a:pt x="0" y="0"/>
                  </a:moveTo>
                  <a:lnTo>
                    <a:pt x="13376149" y="0"/>
                  </a:lnTo>
                  <a:lnTo>
                    <a:pt x="13376149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3184" r="0" b="-52318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3376148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b="true" sz="1789" spc="90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CRECIMIENTO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2592" y="909428"/>
            <a:ext cx="10259473" cy="682066"/>
            <a:chOff x="0" y="0"/>
            <a:chExt cx="13679297" cy="9094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79292" cy="909426"/>
            </a:xfrm>
            <a:custGeom>
              <a:avLst/>
              <a:gdLst/>
              <a:ahLst/>
              <a:cxnLst/>
              <a:rect r="r" b="b" t="t" l="l"/>
              <a:pathLst>
                <a:path h="909426" w="13679292">
                  <a:moveTo>
                    <a:pt x="0" y="0"/>
                  </a:moveTo>
                  <a:lnTo>
                    <a:pt x="13679292" y="0"/>
                  </a:lnTo>
                  <a:lnTo>
                    <a:pt x="13679292" y="909426"/>
                  </a:lnTo>
                  <a:lnTo>
                    <a:pt x="0" y="9094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3088" r="0" b="-2430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13679297" cy="814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5"/>
                </a:lnSpc>
              </a:pPr>
              <a:r>
                <a:rPr lang="en-US" sz="537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Mercado + Equipo + Roadmap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8395" y="2103053"/>
            <a:ext cx="9250575" cy="3524031"/>
            <a:chOff x="0" y="0"/>
            <a:chExt cx="12334100" cy="46987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34113" cy="4698619"/>
            </a:xfrm>
            <a:custGeom>
              <a:avLst/>
              <a:gdLst/>
              <a:ahLst/>
              <a:cxnLst/>
              <a:rect r="r" b="b" t="t" l="l"/>
              <a:pathLst>
                <a:path h="4698619" w="12334113">
                  <a:moveTo>
                    <a:pt x="227330" y="0"/>
                  </a:moveTo>
                  <a:lnTo>
                    <a:pt x="12106783" y="0"/>
                  </a:lnTo>
                  <a:cubicBezTo>
                    <a:pt x="12232386" y="0"/>
                    <a:pt x="12334113" y="101854"/>
                    <a:pt x="12334113" y="227330"/>
                  </a:cubicBezTo>
                  <a:lnTo>
                    <a:pt x="12334113" y="4471289"/>
                  </a:lnTo>
                  <a:cubicBezTo>
                    <a:pt x="12334113" y="4596892"/>
                    <a:pt x="12232259" y="4698619"/>
                    <a:pt x="12106783" y="4698619"/>
                  </a:cubicBezTo>
                  <a:lnTo>
                    <a:pt x="227330" y="4698619"/>
                  </a:lnTo>
                  <a:cubicBezTo>
                    <a:pt x="101727" y="4698619"/>
                    <a:pt x="0" y="4596765"/>
                    <a:pt x="0" y="4471289"/>
                  </a:cubicBezTo>
                  <a:lnTo>
                    <a:pt x="0" y="227330"/>
                  </a:lnTo>
                  <a:cubicBezTo>
                    <a:pt x="0" y="101854"/>
                    <a:pt x="101854" y="0"/>
                    <a:pt x="22733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95217" y="2415664"/>
            <a:ext cx="341033" cy="341033"/>
          </a:xfrm>
          <a:custGeom>
            <a:avLst/>
            <a:gdLst/>
            <a:ahLst/>
            <a:cxnLst/>
            <a:rect r="r" b="b" t="t" l="l"/>
            <a:pathLst>
              <a:path h="341033" w="341033">
                <a:moveTo>
                  <a:pt x="0" y="0"/>
                </a:moveTo>
                <a:lnTo>
                  <a:pt x="341033" y="0"/>
                </a:lnTo>
                <a:lnTo>
                  <a:pt x="341033" y="341033"/>
                </a:lnTo>
                <a:lnTo>
                  <a:pt x="0" y="341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78884" y="2387241"/>
            <a:ext cx="8397983" cy="397869"/>
            <a:chOff x="0" y="0"/>
            <a:chExt cx="11197311" cy="5304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97314" cy="530498"/>
            </a:xfrm>
            <a:custGeom>
              <a:avLst/>
              <a:gdLst/>
              <a:ahLst/>
              <a:cxnLst/>
              <a:rect r="r" b="b" t="t" l="l"/>
              <a:pathLst>
                <a:path h="530498" w="11197314">
                  <a:moveTo>
                    <a:pt x="0" y="0"/>
                  </a:moveTo>
                  <a:lnTo>
                    <a:pt x="11197314" y="0"/>
                  </a:lnTo>
                  <a:lnTo>
                    <a:pt x="11197314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1274" r="0" b="-36127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197311" cy="597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2"/>
                </a:lnSpc>
              </a:pPr>
              <a:r>
                <a:rPr lang="en-US" sz="223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TAM - Total Addressable Market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2592" y="3012472"/>
            <a:ext cx="4220308" cy="1875692"/>
            <a:chOff x="0" y="0"/>
            <a:chExt cx="5627078" cy="25009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27116" cy="2501011"/>
            </a:xfrm>
            <a:custGeom>
              <a:avLst/>
              <a:gdLst/>
              <a:ahLst/>
              <a:cxnLst/>
              <a:rect r="r" b="b" t="t" l="l"/>
              <a:pathLst>
                <a:path h="2501011" w="5627116">
                  <a:moveTo>
                    <a:pt x="151638" y="0"/>
                  </a:moveTo>
                  <a:lnTo>
                    <a:pt x="5475478" y="0"/>
                  </a:lnTo>
                  <a:cubicBezTo>
                    <a:pt x="5559171" y="0"/>
                    <a:pt x="5627116" y="67818"/>
                    <a:pt x="5627116" y="151638"/>
                  </a:cubicBezTo>
                  <a:lnTo>
                    <a:pt x="5627116" y="2349373"/>
                  </a:lnTo>
                  <a:cubicBezTo>
                    <a:pt x="5627116" y="2433066"/>
                    <a:pt x="5559298" y="2501011"/>
                    <a:pt x="5475478" y="2501011"/>
                  </a:cubicBezTo>
                  <a:lnTo>
                    <a:pt x="151638" y="2501011"/>
                  </a:lnTo>
                  <a:cubicBezTo>
                    <a:pt x="67818" y="2500884"/>
                    <a:pt x="0" y="2433066"/>
                    <a:pt x="0" y="2349373"/>
                  </a:cubicBezTo>
                  <a:lnTo>
                    <a:pt x="0" y="151638"/>
                  </a:lnTo>
                  <a:cubicBezTo>
                    <a:pt x="0" y="67945"/>
                    <a:pt x="67945" y="0"/>
                    <a:pt x="151638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143886" y="3268247"/>
            <a:ext cx="298409" cy="341033"/>
          </a:xfrm>
          <a:custGeom>
            <a:avLst/>
            <a:gdLst/>
            <a:ahLst/>
            <a:cxnLst/>
            <a:rect r="r" b="b" t="t" l="l"/>
            <a:pathLst>
              <a:path h="341033" w="298409">
                <a:moveTo>
                  <a:pt x="0" y="0"/>
                </a:moveTo>
                <a:lnTo>
                  <a:pt x="298409" y="0"/>
                </a:lnTo>
                <a:lnTo>
                  <a:pt x="298409" y="341033"/>
                </a:lnTo>
                <a:lnTo>
                  <a:pt x="0" y="341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76752" y="3239834"/>
            <a:ext cx="1335719" cy="397869"/>
            <a:chOff x="0" y="0"/>
            <a:chExt cx="1780959" cy="5304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80960" cy="530498"/>
            </a:xfrm>
            <a:custGeom>
              <a:avLst/>
              <a:gdLst/>
              <a:ahLst/>
              <a:cxnLst/>
              <a:rect r="r" b="b" t="t" l="l"/>
              <a:pathLst>
                <a:path h="530498" w="1780960">
                  <a:moveTo>
                    <a:pt x="0" y="0"/>
                  </a:moveTo>
                  <a:lnTo>
                    <a:pt x="1780960" y="0"/>
                  </a:lnTo>
                  <a:lnTo>
                    <a:pt x="1780960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14" r="0" b="-154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1780959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Venezuela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9944" y="3751383"/>
            <a:ext cx="4021369" cy="568395"/>
            <a:chOff x="0" y="0"/>
            <a:chExt cx="5361826" cy="7578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61828" cy="757856"/>
            </a:xfrm>
            <a:custGeom>
              <a:avLst/>
              <a:gdLst/>
              <a:ahLst/>
              <a:cxnLst/>
              <a:rect r="r" b="b" t="t" l="l"/>
              <a:pathLst>
                <a:path h="757856" w="5361828">
                  <a:moveTo>
                    <a:pt x="0" y="0"/>
                  </a:moveTo>
                  <a:lnTo>
                    <a:pt x="5361828" y="0"/>
                  </a:lnTo>
                  <a:lnTo>
                    <a:pt x="5361828" y="757856"/>
                  </a:lnTo>
                  <a:lnTo>
                    <a:pt x="0" y="757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856" r="0" b="-878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5361826" cy="72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49"/>
                </a:lnSpc>
              </a:pPr>
              <a:r>
                <a:rPr lang="en-US" sz="4027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~500K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9944" y="4376614"/>
            <a:ext cx="3865064" cy="284197"/>
            <a:chOff x="0" y="0"/>
            <a:chExt cx="5153419" cy="3789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3418" cy="378928"/>
            </a:xfrm>
            <a:custGeom>
              <a:avLst/>
              <a:gdLst/>
              <a:ahLst/>
              <a:cxnLst/>
              <a:rect r="r" b="b" t="t" l="l"/>
              <a:pathLst>
                <a:path h="378928" w="5153418">
                  <a:moveTo>
                    <a:pt x="0" y="0"/>
                  </a:moveTo>
                  <a:lnTo>
                    <a:pt x="5153418" y="0"/>
                  </a:lnTo>
                  <a:lnTo>
                    <a:pt x="5153418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153419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empresas formales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05225" y="3012472"/>
            <a:ext cx="4220308" cy="1875692"/>
            <a:chOff x="0" y="0"/>
            <a:chExt cx="5627078" cy="25009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27116" cy="2501011"/>
            </a:xfrm>
            <a:custGeom>
              <a:avLst/>
              <a:gdLst/>
              <a:ahLst/>
              <a:cxnLst/>
              <a:rect r="r" b="b" t="t" l="l"/>
              <a:pathLst>
                <a:path h="2501011" w="5627116">
                  <a:moveTo>
                    <a:pt x="151638" y="0"/>
                  </a:moveTo>
                  <a:lnTo>
                    <a:pt x="5475478" y="0"/>
                  </a:lnTo>
                  <a:cubicBezTo>
                    <a:pt x="5559171" y="0"/>
                    <a:pt x="5627116" y="67818"/>
                    <a:pt x="5627116" y="151638"/>
                  </a:cubicBezTo>
                  <a:lnTo>
                    <a:pt x="5627116" y="2349373"/>
                  </a:lnTo>
                  <a:cubicBezTo>
                    <a:pt x="5627116" y="2433066"/>
                    <a:pt x="5559298" y="2501011"/>
                    <a:pt x="5475478" y="2501011"/>
                  </a:cubicBezTo>
                  <a:lnTo>
                    <a:pt x="151638" y="2501011"/>
                  </a:lnTo>
                  <a:cubicBezTo>
                    <a:pt x="67818" y="2500884"/>
                    <a:pt x="0" y="2433066"/>
                    <a:pt x="0" y="2349373"/>
                  </a:cubicBezTo>
                  <a:lnTo>
                    <a:pt x="0" y="151638"/>
                  </a:lnTo>
                  <a:cubicBezTo>
                    <a:pt x="0" y="67945"/>
                    <a:pt x="67945" y="0"/>
                    <a:pt x="151638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5575211" y="3268247"/>
            <a:ext cx="341033" cy="341033"/>
          </a:xfrm>
          <a:custGeom>
            <a:avLst/>
            <a:gdLst/>
            <a:ahLst/>
            <a:cxnLst/>
            <a:rect r="r" b="b" t="t" l="l"/>
            <a:pathLst>
              <a:path h="341033" w="341033">
                <a:moveTo>
                  <a:pt x="0" y="0"/>
                </a:moveTo>
                <a:lnTo>
                  <a:pt x="341033" y="0"/>
                </a:lnTo>
                <a:lnTo>
                  <a:pt x="341033" y="341033"/>
                </a:lnTo>
                <a:lnTo>
                  <a:pt x="0" y="3410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6129395" y="3239834"/>
            <a:ext cx="1790433" cy="397869"/>
            <a:chOff x="0" y="0"/>
            <a:chExt cx="2387244" cy="5304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87244" cy="530498"/>
            </a:xfrm>
            <a:custGeom>
              <a:avLst/>
              <a:gdLst/>
              <a:ahLst/>
              <a:cxnLst/>
              <a:rect r="r" b="b" t="t" l="l"/>
              <a:pathLst>
                <a:path h="530498" w="2387244">
                  <a:moveTo>
                    <a:pt x="0" y="0"/>
                  </a:moveTo>
                  <a:lnTo>
                    <a:pt x="2387244" y="0"/>
                  </a:lnTo>
                  <a:lnTo>
                    <a:pt x="2387244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3" r="0" b="-376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2387244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Latinoamérica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532587" y="3751383"/>
            <a:ext cx="4021369" cy="568395"/>
            <a:chOff x="0" y="0"/>
            <a:chExt cx="5361826" cy="7578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1828" cy="757856"/>
            </a:xfrm>
            <a:custGeom>
              <a:avLst/>
              <a:gdLst/>
              <a:ahLst/>
              <a:cxnLst/>
              <a:rect r="r" b="b" t="t" l="l"/>
              <a:pathLst>
                <a:path h="757856" w="5361828">
                  <a:moveTo>
                    <a:pt x="0" y="0"/>
                  </a:moveTo>
                  <a:lnTo>
                    <a:pt x="5361828" y="0"/>
                  </a:lnTo>
                  <a:lnTo>
                    <a:pt x="5361828" y="757856"/>
                  </a:lnTo>
                  <a:lnTo>
                    <a:pt x="0" y="757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856" r="0" b="-8785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28575"/>
              <a:ext cx="5361826" cy="72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49"/>
                </a:lnSpc>
              </a:pPr>
              <a:r>
                <a:rPr lang="en-US" sz="4027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99.5%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532587" y="4376614"/>
            <a:ext cx="3865064" cy="284197"/>
            <a:chOff x="0" y="0"/>
            <a:chExt cx="5153419" cy="3789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53418" cy="378928"/>
            </a:xfrm>
            <a:custGeom>
              <a:avLst/>
              <a:gdLst/>
              <a:ahLst/>
              <a:cxnLst/>
              <a:rect r="r" b="b" t="t" l="l"/>
              <a:pathLst>
                <a:path h="378928" w="5153418">
                  <a:moveTo>
                    <a:pt x="0" y="0"/>
                  </a:moveTo>
                  <a:lnTo>
                    <a:pt x="5153418" y="0"/>
                  </a:lnTo>
                  <a:lnTo>
                    <a:pt x="5153418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153419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son PyMEs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52592" y="5058689"/>
            <a:ext cx="8781650" cy="284197"/>
            <a:chOff x="0" y="0"/>
            <a:chExt cx="11708867" cy="3789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708868" cy="378928"/>
            </a:xfrm>
            <a:custGeom>
              <a:avLst/>
              <a:gdLst/>
              <a:ahLst/>
              <a:cxnLst/>
              <a:rect r="r" b="b" t="t" l="l"/>
              <a:pathLst>
                <a:path h="378928" w="11708868">
                  <a:moveTo>
                    <a:pt x="0" y="0"/>
                  </a:moveTo>
                  <a:lnTo>
                    <a:pt x="11708868" y="0"/>
                  </a:lnTo>
                  <a:lnTo>
                    <a:pt x="11708868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2087" r="0" b="-5520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1708867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Fuente: INE Venezuela, OCDE/CAF/SELA 2024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68395" y="5854436"/>
            <a:ext cx="9250575" cy="4433449"/>
            <a:chOff x="0" y="0"/>
            <a:chExt cx="12334100" cy="59112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334113" cy="5911215"/>
            </a:xfrm>
            <a:custGeom>
              <a:avLst/>
              <a:gdLst/>
              <a:ahLst/>
              <a:cxnLst/>
              <a:rect r="r" b="b" t="t" l="l"/>
              <a:pathLst>
                <a:path h="5911215" w="12334113">
                  <a:moveTo>
                    <a:pt x="227330" y="0"/>
                  </a:moveTo>
                  <a:lnTo>
                    <a:pt x="12106783" y="0"/>
                  </a:lnTo>
                  <a:cubicBezTo>
                    <a:pt x="12232386" y="0"/>
                    <a:pt x="12334113" y="101727"/>
                    <a:pt x="12334113" y="227330"/>
                  </a:cubicBezTo>
                  <a:lnTo>
                    <a:pt x="12334113" y="5683885"/>
                  </a:lnTo>
                  <a:cubicBezTo>
                    <a:pt x="12334113" y="5809361"/>
                    <a:pt x="12232259" y="5911215"/>
                    <a:pt x="12106783" y="5911215"/>
                  </a:cubicBezTo>
                  <a:lnTo>
                    <a:pt x="227330" y="5911215"/>
                  </a:lnTo>
                  <a:cubicBezTo>
                    <a:pt x="101727" y="5911215"/>
                    <a:pt x="0" y="5809488"/>
                    <a:pt x="0" y="5683885"/>
                  </a:cubicBezTo>
                  <a:lnTo>
                    <a:pt x="0" y="227330"/>
                  </a:lnTo>
                  <a:cubicBezTo>
                    <a:pt x="0" y="101854"/>
                    <a:pt x="101854" y="0"/>
                    <a:pt x="22733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895217" y="6167047"/>
            <a:ext cx="341033" cy="341033"/>
          </a:xfrm>
          <a:custGeom>
            <a:avLst/>
            <a:gdLst/>
            <a:ahLst/>
            <a:cxnLst/>
            <a:rect r="r" b="b" t="t" l="l"/>
            <a:pathLst>
              <a:path h="341033" w="341033">
                <a:moveTo>
                  <a:pt x="0" y="0"/>
                </a:moveTo>
                <a:lnTo>
                  <a:pt x="341033" y="0"/>
                </a:lnTo>
                <a:lnTo>
                  <a:pt x="341033" y="341033"/>
                </a:lnTo>
                <a:lnTo>
                  <a:pt x="0" y="3410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278884" y="6138634"/>
            <a:ext cx="8397983" cy="397869"/>
            <a:chOff x="0" y="0"/>
            <a:chExt cx="11197311" cy="5304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197314" cy="530498"/>
            </a:xfrm>
            <a:custGeom>
              <a:avLst/>
              <a:gdLst/>
              <a:ahLst/>
              <a:cxnLst/>
              <a:rect r="r" b="b" t="t" l="l"/>
              <a:pathLst>
                <a:path h="530498" w="11197314">
                  <a:moveTo>
                    <a:pt x="0" y="0"/>
                  </a:moveTo>
                  <a:lnTo>
                    <a:pt x="11197314" y="0"/>
                  </a:lnTo>
                  <a:lnTo>
                    <a:pt x="11197314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1274" r="0" b="-36127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11197311" cy="597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2"/>
                </a:lnSpc>
              </a:pPr>
              <a:r>
                <a:rPr lang="en-US" sz="223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Roadmap de Expansión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52592" y="6792278"/>
            <a:ext cx="909428" cy="909428"/>
            <a:chOff x="0" y="0"/>
            <a:chExt cx="1212571" cy="12125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12596" cy="1212596"/>
            </a:xfrm>
            <a:custGeom>
              <a:avLst/>
              <a:gdLst/>
              <a:ahLst/>
              <a:cxnLst/>
              <a:rect r="r" b="b" t="t" l="l"/>
              <a:pathLst>
                <a:path h="1212596" w="1212596">
                  <a:moveTo>
                    <a:pt x="227330" y="0"/>
                  </a:moveTo>
                  <a:lnTo>
                    <a:pt x="985266" y="0"/>
                  </a:lnTo>
                  <a:cubicBezTo>
                    <a:pt x="1110869" y="0"/>
                    <a:pt x="1212596" y="101854"/>
                    <a:pt x="1212596" y="227330"/>
                  </a:cubicBezTo>
                  <a:lnTo>
                    <a:pt x="1212596" y="985266"/>
                  </a:lnTo>
                  <a:cubicBezTo>
                    <a:pt x="1212596" y="1110869"/>
                    <a:pt x="1110869" y="1212596"/>
                    <a:pt x="985266" y="1212596"/>
                  </a:cubicBezTo>
                  <a:lnTo>
                    <a:pt x="227330" y="1212596"/>
                  </a:lnTo>
                  <a:cubicBezTo>
                    <a:pt x="101854" y="1212596"/>
                    <a:pt x="0" y="1110742"/>
                    <a:pt x="0" y="985266"/>
                  </a:cubicBezTo>
                  <a:lnTo>
                    <a:pt x="0" y="227330"/>
                  </a:lnTo>
                  <a:cubicBezTo>
                    <a:pt x="0" y="101854"/>
                    <a:pt x="101854" y="0"/>
                    <a:pt x="227330" y="0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06412" y="7048052"/>
            <a:ext cx="724700" cy="397869"/>
            <a:chOff x="0" y="0"/>
            <a:chExt cx="966267" cy="5304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66266" cy="530498"/>
            </a:xfrm>
            <a:custGeom>
              <a:avLst/>
              <a:gdLst/>
              <a:ahLst/>
              <a:cxnLst/>
              <a:rect r="r" b="b" t="t" l="l"/>
              <a:pathLst>
                <a:path h="530498" w="966266">
                  <a:moveTo>
                    <a:pt x="0" y="0"/>
                  </a:moveTo>
                  <a:lnTo>
                    <a:pt x="966266" y="0"/>
                  </a:lnTo>
                  <a:lnTo>
                    <a:pt x="966266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440" t="0" r="-20440" b="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966267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0A19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2026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89372" y="6763864"/>
            <a:ext cx="7545400" cy="966264"/>
            <a:chOff x="0" y="0"/>
            <a:chExt cx="10060534" cy="12883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60559" cy="1288288"/>
            </a:xfrm>
            <a:custGeom>
              <a:avLst/>
              <a:gdLst/>
              <a:ahLst/>
              <a:cxnLst/>
              <a:rect r="r" b="b" t="t" l="l"/>
              <a:pathLst>
                <a:path h="1288288" w="10060559">
                  <a:moveTo>
                    <a:pt x="151511" y="0"/>
                  </a:moveTo>
                  <a:lnTo>
                    <a:pt x="9908921" y="0"/>
                  </a:lnTo>
                  <a:cubicBezTo>
                    <a:pt x="9992614" y="0"/>
                    <a:pt x="10060559" y="67818"/>
                    <a:pt x="10060559" y="151511"/>
                  </a:cubicBezTo>
                  <a:lnTo>
                    <a:pt x="10060559" y="1136777"/>
                  </a:lnTo>
                  <a:cubicBezTo>
                    <a:pt x="10060559" y="1220470"/>
                    <a:pt x="9992741" y="1288288"/>
                    <a:pt x="9908921" y="1288288"/>
                  </a:cubicBezTo>
                  <a:lnTo>
                    <a:pt x="151511" y="1288288"/>
                  </a:lnTo>
                  <a:cubicBezTo>
                    <a:pt x="67818" y="1288415"/>
                    <a:pt x="0" y="1220470"/>
                    <a:pt x="0" y="1136777"/>
                  </a:cubicBezTo>
                  <a:lnTo>
                    <a:pt x="0" y="151511"/>
                  </a:lnTo>
                  <a:cubicBezTo>
                    <a:pt x="0" y="67818"/>
                    <a:pt x="67818" y="0"/>
                    <a:pt x="151511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159889" y="6934381"/>
            <a:ext cx="7318038" cy="341033"/>
            <a:chOff x="0" y="0"/>
            <a:chExt cx="9757385" cy="4547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7390" cy="454714"/>
            </a:xfrm>
            <a:custGeom>
              <a:avLst/>
              <a:gdLst/>
              <a:ahLst/>
              <a:cxnLst/>
              <a:rect r="r" b="b" t="t" l="l"/>
              <a:pathLst>
                <a:path h="454714" w="9757390">
                  <a:moveTo>
                    <a:pt x="0" y="0"/>
                  </a:moveTo>
                  <a:lnTo>
                    <a:pt x="9757390" y="0"/>
                  </a:lnTo>
                  <a:lnTo>
                    <a:pt x="9757390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115" r="0" b="-36811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9757385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Validación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159889" y="7275414"/>
            <a:ext cx="7303827" cy="284197"/>
            <a:chOff x="0" y="0"/>
            <a:chExt cx="9738436" cy="3789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38442" cy="378928"/>
            </a:xfrm>
            <a:custGeom>
              <a:avLst/>
              <a:gdLst/>
              <a:ahLst/>
              <a:cxnLst/>
              <a:rect r="r" b="b" t="t" l="l"/>
              <a:pathLst>
                <a:path h="378928" w="9738442">
                  <a:moveTo>
                    <a:pt x="0" y="0"/>
                  </a:moveTo>
                  <a:lnTo>
                    <a:pt x="9738442" y="0"/>
                  </a:lnTo>
                  <a:lnTo>
                    <a:pt x="9738442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0764" r="0" b="-45076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738436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Caracas + La Guaira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52592" y="7929067"/>
            <a:ext cx="909428" cy="909428"/>
            <a:chOff x="0" y="0"/>
            <a:chExt cx="1212571" cy="12125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12596" cy="1212596"/>
            </a:xfrm>
            <a:custGeom>
              <a:avLst/>
              <a:gdLst/>
              <a:ahLst/>
              <a:cxnLst/>
              <a:rect r="r" b="b" t="t" l="l"/>
              <a:pathLst>
                <a:path h="1212596" w="1212596">
                  <a:moveTo>
                    <a:pt x="227330" y="0"/>
                  </a:moveTo>
                  <a:lnTo>
                    <a:pt x="985266" y="0"/>
                  </a:lnTo>
                  <a:cubicBezTo>
                    <a:pt x="1110869" y="0"/>
                    <a:pt x="1212596" y="101854"/>
                    <a:pt x="1212596" y="227330"/>
                  </a:cubicBezTo>
                  <a:lnTo>
                    <a:pt x="1212596" y="985266"/>
                  </a:lnTo>
                  <a:cubicBezTo>
                    <a:pt x="1212596" y="1110869"/>
                    <a:pt x="1110869" y="1212596"/>
                    <a:pt x="985266" y="1212596"/>
                  </a:cubicBezTo>
                  <a:lnTo>
                    <a:pt x="227330" y="1212596"/>
                  </a:lnTo>
                  <a:cubicBezTo>
                    <a:pt x="101854" y="1212596"/>
                    <a:pt x="0" y="1110742"/>
                    <a:pt x="0" y="985266"/>
                  </a:cubicBezTo>
                  <a:lnTo>
                    <a:pt x="0" y="227330"/>
                  </a:lnTo>
                  <a:cubicBezTo>
                    <a:pt x="0" y="101854"/>
                    <a:pt x="101854" y="0"/>
                    <a:pt x="227330" y="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17070" y="8184842"/>
            <a:ext cx="710489" cy="397869"/>
            <a:chOff x="0" y="0"/>
            <a:chExt cx="947318" cy="5304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47320" cy="530498"/>
            </a:xfrm>
            <a:custGeom>
              <a:avLst/>
              <a:gdLst/>
              <a:ahLst/>
              <a:cxnLst/>
              <a:rect r="r" b="b" t="t" l="l"/>
              <a:pathLst>
                <a:path h="530498" w="947320">
                  <a:moveTo>
                    <a:pt x="0" y="0"/>
                  </a:moveTo>
                  <a:lnTo>
                    <a:pt x="947320" y="0"/>
                  </a:lnTo>
                  <a:lnTo>
                    <a:pt x="947320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49" t="0" r="-21848" b="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76200"/>
              <a:ext cx="947318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0A19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2027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989372" y="7900645"/>
            <a:ext cx="7545400" cy="966264"/>
            <a:chOff x="0" y="0"/>
            <a:chExt cx="10060534" cy="12883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060559" cy="1288288"/>
            </a:xfrm>
            <a:custGeom>
              <a:avLst/>
              <a:gdLst/>
              <a:ahLst/>
              <a:cxnLst/>
              <a:rect r="r" b="b" t="t" l="l"/>
              <a:pathLst>
                <a:path h="1288288" w="10060559">
                  <a:moveTo>
                    <a:pt x="151511" y="0"/>
                  </a:moveTo>
                  <a:lnTo>
                    <a:pt x="9908921" y="0"/>
                  </a:lnTo>
                  <a:cubicBezTo>
                    <a:pt x="9992614" y="0"/>
                    <a:pt x="10060559" y="67818"/>
                    <a:pt x="10060559" y="151511"/>
                  </a:cubicBezTo>
                  <a:lnTo>
                    <a:pt x="10060559" y="1136777"/>
                  </a:lnTo>
                  <a:cubicBezTo>
                    <a:pt x="10060559" y="1220470"/>
                    <a:pt x="9992741" y="1288288"/>
                    <a:pt x="9908921" y="1288288"/>
                  </a:cubicBezTo>
                  <a:lnTo>
                    <a:pt x="151511" y="1288288"/>
                  </a:lnTo>
                  <a:cubicBezTo>
                    <a:pt x="67818" y="1288415"/>
                    <a:pt x="0" y="1220470"/>
                    <a:pt x="0" y="1136777"/>
                  </a:cubicBezTo>
                  <a:lnTo>
                    <a:pt x="0" y="151511"/>
                  </a:lnTo>
                  <a:cubicBezTo>
                    <a:pt x="0" y="67818"/>
                    <a:pt x="67818" y="0"/>
                    <a:pt x="151511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2159889" y="8071161"/>
            <a:ext cx="7318038" cy="341033"/>
            <a:chOff x="0" y="0"/>
            <a:chExt cx="9757385" cy="4547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757390" cy="454714"/>
            </a:xfrm>
            <a:custGeom>
              <a:avLst/>
              <a:gdLst/>
              <a:ahLst/>
              <a:cxnLst/>
              <a:rect r="r" b="b" t="t" l="l"/>
              <a:pathLst>
                <a:path h="454714" w="9757390">
                  <a:moveTo>
                    <a:pt x="0" y="0"/>
                  </a:moveTo>
                  <a:lnTo>
                    <a:pt x="9757390" y="0"/>
                  </a:lnTo>
                  <a:lnTo>
                    <a:pt x="9757390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115" r="0" b="-36811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76200"/>
              <a:ext cx="9757385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Expansión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159889" y="8412194"/>
            <a:ext cx="7303827" cy="284197"/>
            <a:chOff x="0" y="0"/>
            <a:chExt cx="9738436" cy="37893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38442" cy="378928"/>
            </a:xfrm>
            <a:custGeom>
              <a:avLst/>
              <a:gdLst/>
              <a:ahLst/>
              <a:cxnLst/>
              <a:rect r="r" b="b" t="t" l="l"/>
              <a:pathLst>
                <a:path h="378928" w="9738442">
                  <a:moveTo>
                    <a:pt x="0" y="0"/>
                  </a:moveTo>
                  <a:lnTo>
                    <a:pt x="9738442" y="0"/>
                  </a:lnTo>
                  <a:lnTo>
                    <a:pt x="9738442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0764" r="0" b="-45076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9738436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Colombia y Panamá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52592" y="9065847"/>
            <a:ext cx="909428" cy="909428"/>
            <a:chOff x="0" y="0"/>
            <a:chExt cx="1212571" cy="121257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12596" cy="1212596"/>
            </a:xfrm>
            <a:custGeom>
              <a:avLst/>
              <a:gdLst/>
              <a:ahLst/>
              <a:cxnLst/>
              <a:rect r="r" b="b" t="t" l="l"/>
              <a:pathLst>
                <a:path h="1212596" w="1212596">
                  <a:moveTo>
                    <a:pt x="227330" y="0"/>
                  </a:moveTo>
                  <a:lnTo>
                    <a:pt x="985266" y="0"/>
                  </a:lnTo>
                  <a:cubicBezTo>
                    <a:pt x="1110869" y="0"/>
                    <a:pt x="1212596" y="101854"/>
                    <a:pt x="1212596" y="227330"/>
                  </a:cubicBezTo>
                  <a:lnTo>
                    <a:pt x="1212596" y="985266"/>
                  </a:lnTo>
                  <a:cubicBezTo>
                    <a:pt x="1212596" y="1110869"/>
                    <a:pt x="1110869" y="1212596"/>
                    <a:pt x="985266" y="1212596"/>
                  </a:cubicBezTo>
                  <a:lnTo>
                    <a:pt x="227330" y="1212596"/>
                  </a:lnTo>
                  <a:cubicBezTo>
                    <a:pt x="101854" y="1212596"/>
                    <a:pt x="0" y="1110742"/>
                    <a:pt x="0" y="985266"/>
                  </a:cubicBezTo>
                  <a:lnTo>
                    <a:pt x="0" y="227330"/>
                  </a:lnTo>
                  <a:cubicBezTo>
                    <a:pt x="0" y="101854"/>
                    <a:pt x="101854" y="0"/>
                    <a:pt x="227330" y="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26659" y="9321622"/>
            <a:ext cx="895217" cy="397869"/>
            <a:chOff x="0" y="0"/>
            <a:chExt cx="1193622" cy="5304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93622" cy="530498"/>
            </a:xfrm>
            <a:custGeom>
              <a:avLst/>
              <a:gdLst/>
              <a:ahLst/>
              <a:cxnLst/>
              <a:rect r="r" b="b" t="t" l="l"/>
              <a:pathLst>
                <a:path h="530498" w="1193622">
                  <a:moveTo>
                    <a:pt x="0" y="0"/>
                  </a:moveTo>
                  <a:lnTo>
                    <a:pt x="1193622" y="0"/>
                  </a:lnTo>
                  <a:lnTo>
                    <a:pt x="1193622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1193622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2028+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989372" y="9037425"/>
            <a:ext cx="7545400" cy="966264"/>
            <a:chOff x="0" y="0"/>
            <a:chExt cx="10060534" cy="12883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060559" cy="1288288"/>
            </a:xfrm>
            <a:custGeom>
              <a:avLst/>
              <a:gdLst/>
              <a:ahLst/>
              <a:cxnLst/>
              <a:rect r="r" b="b" t="t" l="l"/>
              <a:pathLst>
                <a:path h="1288288" w="10060559">
                  <a:moveTo>
                    <a:pt x="151511" y="0"/>
                  </a:moveTo>
                  <a:lnTo>
                    <a:pt x="9908921" y="0"/>
                  </a:lnTo>
                  <a:cubicBezTo>
                    <a:pt x="9992614" y="0"/>
                    <a:pt x="10060559" y="67818"/>
                    <a:pt x="10060559" y="151511"/>
                  </a:cubicBezTo>
                  <a:lnTo>
                    <a:pt x="10060559" y="1136777"/>
                  </a:lnTo>
                  <a:cubicBezTo>
                    <a:pt x="10060559" y="1220470"/>
                    <a:pt x="9992741" y="1288288"/>
                    <a:pt x="9908921" y="1288288"/>
                  </a:cubicBezTo>
                  <a:lnTo>
                    <a:pt x="151511" y="1288288"/>
                  </a:lnTo>
                  <a:cubicBezTo>
                    <a:pt x="67818" y="1288415"/>
                    <a:pt x="0" y="1220470"/>
                    <a:pt x="0" y="1136777"/>
                  </a:cubicBezTo>
                  <a:lnTo>
                    <a:pt x="0" y="151511"/>
                  </a:lnTo>
                  <a:cubicBezTo>
                    <a:pt x="0" y="67818"/>
                    <a:pt x="67818" y="0"/>
                    <a:pt x="151511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2159889" y="9207941"/>
            <a:ext cx="7318038" cy="341033"/>
            <a:chOff x="0" y="0"/>
            <a:chExt cx="9757385" cy="4547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757390" cy="454714"/>
            </a:xfrm>
            <a:custGeom>
              <a:avLst/>
              <a:gdLst/>
              <a:ahLst/>
              <a:cxnLst/>
              <a:rect r="r" b="b" t="t" l="l"/>
              <a:pathLst>
                <a:path h="454714" w="9757390">
                  <a:moveTo>
                    <a:pt x="0" y="0"/>
                  </a:moveTo>
                  <a:lnTo>
                    <a:pt x="9757390" y="0"/>
                  </a:lnTo>
                  <a:lnTo>
                    <a:pt x="9757390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115" r="0" b="-36811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76200"/>
              <a:ext cx="9757385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Evaluación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159889" y="9548974"/>
            <a:ext cx="7303827" cy="284197"/>
            <a:chOff x="0" y="0"/>
            <a:chExt cx="9738436" cy="37893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738442" cy="378928"/>
            </a:xfrm>
            <a:custGeom>
              <a:avLst/>
              <a:gdLst/>
              <a:ahLst/>
              <a:cxnLst/>
              <a:rect r="r" b="b" t="t" l="l"/>
              <a:pathLst>
                <a:path h="378928" w="9738442">
                  <a:moveTo>
                    <a:pt x="0" y="0"/>
                  </a:moveTo>
                  <a:lnTo>
                    <a:pt x="9738442" y="0"/>
                  </a:lnTo>
                  <a:lnTo>
                    <a:pt x="9738442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0764" r="0" b="-45076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9738436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México y EE.UU.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155736" y="2103053"/>
            <a:ext cx="7559612" cy="8184842"/>
            <a:chOff x="0" y="0"/>
            <a:chExt cx="10079482" cy="1091312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079482" cy="10913111"/>
            </a:xfrm>
            <a:custGeom>
              <a:avLst/>
              <a:gdLst/>
              <a:ahLst/>
              <a:cxnLst/>
              <a:rect r="r" b="b" t="t" l="l"/>
              <a:pathLst>
                <a:path h="10913111" w="10079482">
                  <a:moveTo>
                    <a:pt x="227457" y="0"/>
                  </a:moveTo>
                  <a:lnTo>
                    <a:pt x="9852025" y="0"/>
                  </a:lnTo>
                  <a:cubicBezTo>
                    <a:pt x="9977628" y="0"/>
                    <a:pt x="10079482" y="101854"/>
                    <a:pt x="10079482" y="227457"/>
                  </a:cubicBezTo>
                  <a:lnTo>
                    <a:pt x="10079482" y="10685780"/>
                  </a:lnTo>
                  <a:cubicBezTo>
                    <a:pt x="10079482" y="10811383"/>
                    <a:pt x="9977628" y="10913111"/>
                    <a:pt x="9852025" y="10913111"/>
                  </a:cubicBezTo>
                  <a:lnTo>
                    <a:pt x="227457" y="10913111"/>
                  </a:lnTo>
                  <a:cubicBezTo>
                    <a:pt x="101854" y="10913110"/>
                    <a:pt x="0" y="10811256"/>
                    <a:pt x="0" y="10685780"/>
                  </a:cubicBezTo>
                  <a:lnTo>
                    <a:pt x="0" y="227457"/>
                  </a:lnTo>
                  <a:cubicBezTo>
                    <a:pt x="0" y="101854"/>
                    <a:pt x="101854" y="0"/>
                    <a:pt x="227457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411511" y="2444086"/>
            <a:ext cx="7048052" cy="454714"/>
            <a:chOff x="0" y="0"/>
            <a:chExt cx="9397403" cy="60628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397408" cy="606284"/>
            </a:xfrm>
            <a:custGeom>
              <a:avLst/>
              <a:gdLst/>
              <a:ahLst/>
              <a:cxnLst/>
              <a:rect r="r" b="b" t="t" l="l"/>
              <a:pathLst>
                <a:path h="606284" w="9397408">
                  <a:moveTo>
                    <a:pt x="0" y="0"/>
                  </a:moveTo>
                  <a:lnTo>
                    <a:pt x="9397408" y="0"/>
                  </a:lnTo>
                  <a:lnTo>
                    <a:pt x="9397408" y="606284"/>
                  </a:lnTo>
                  <a:lnTo>
                    <a:pt x="0" y="6062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9397403" cy="653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4"/>
                </a:lnSpc>
              </a:pPr>
              <a:r>
                <a:rPr lang="en-US" sz="268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Equipo Directivo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496769" y="3347647"/>
            <a:ext cx="6877536" cy="1477813"/>
            <a:chOff x="0" y="0"/>
            <a:chExt cx="9170048" cy="197041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70036" cy="1970405"/>
            </a:xfrm>
            <a:custGeom>
              <a:avLst/>
              <a:gdLst/>
              <a:ahLst/>
              <a:cxnLst/>
              <a:rect r="r" b="b" t="t" l="l"/>
              <a:pathLst>
                <a:path h="1970405" w="9170036">
                  <a:moveTo>
                    <a:pt x="227330" y="0"/>
                  </a:moveTo>
                  <a:lnTo>
                    <a:pt x="8942705" y="0"/>
                  </a:lnTo>
                  <a:cubicBezTo>
                    <a:pt x="9068308" y="0"/>
                    <a:pt x="9170036" y="101727"/>
                    <a:pt x="9170036" y="227330"/>
                  </a:cubicBezTo>
                  <a:lnTo>
                    <a:pt x="9170036" y="1743075"/>
                  </a:lnTo>
                  <a:cubicBezTo>
                    <a:pt x="9170036" y="1868678"/>
                    <a:pt x="9068308" y="1970405"/>
                    <a:pt x="8942705" y="1970405"/>
                  </a:cubicBezTo>
                  <a:lnTo>
                    <a:pt x="227330" y="1970405"/>
                  </a:lnTo>
                  <a:cubicBezTo>
                    <a:pt x="101854" y="1970405"/>
                    <a:pt x="0" y="1868551"/>
                    <a:pt x="0" y="1743075"/>
                  </a:cubicBezTo>
                  <a:lnTo>
                    <a:pt x="0" y="227330"/>
                  </a:lnTo>
                  <a:cubicBezTo>
                    <a:pt x="0" y="101854"/>
                    <a:pt x="101854" y="0"/>
                    <a:pt x="22733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780966" y="3631844"/>
            <a:ext cx="909428" cy="909428"/>
            <a:chOff x="0" y="0"/>
            <a:chExt cx="1212571" cy="121257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12596" cy="1212596"/>
            </a:xfrm>
            <a:custGeom>
              <a:avLst/>
              <a:gdLst/>
              <a:ahLst/>
              <a:cxnLst/>
              <a:rect r="r" b="b" t="t" l="l"/>
              <a:pathLst>
                <a:path h="1212596" w="1212596">
                  <a:moveTo>
                    <a:pt x="606298" y="0"/>
                  </a:moveTo>
                  <a:cubicBezTo>
                    <a:pt x="941070" y="0"/>
                    <a:pt x="1212596" y="271399"/>
                    <a:pt x="1212596" y="606298"/>
                  </a:cubicBezTo>
                  <a:cubicBezTo>
                    <a:pt x="1212596" y="941197"/>
                    <a:pt x="941070" y="1212596"/>
                    <a:pt x="606298" y="1212596"/>
                  </a:cubicBezTo>
                  <a:cubicBezTo>
                    <a:pt x="271526" y="1212596"/>
                    <a:pt x="0" y="941070"/>
                    <a:pt x="0" y="606298"/>
                  </a:cubicBezTo>
                  <a:cubicBezTo>
                    <a:pt x="0" y="271526"/>
                    <a:pt x="271399" y="0"/>
                    <a:pt x="606298" y="0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1086481" y="3916042"/>
            <a:ext cx="298409" cy="341033"/>
            <a:chOff x="0" y="0"/>
            <a:chExt cx="397878" cy="45471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4097" y="7112"/>
              <a:ext cx="369570" cy="447675"/>
            </a:xfrm>
            <a:custGeom>
              <a:avLst/>
              <a:gdLst/>
              <a:ahLst/>
              <a:cxnLst/>
              <a:rect r="r" b="b" t="t" l="l"/>
              <a:pathLst>
                <a:path h="447675" w="369570">
                  <a:moveTo>
                    <a:pt x="184785" y="213106"/>
                  </a:moveTo>
                  <a:cubicBezTo>
                    <a:pt x="243586" y="213106"/>
                    <a:pt x="291338" y="165354"/>
                    <a:pt x="291338" y="106553"/>
                  </a:cubicBezTo>
                  <a:cubicBezTo>
                    <a:pt x="291338" y="47752"/>
                    <a:pt x="243713" y="0"/>
                    <a:pt x="184785" y="0"/>
                  </a:cubicBezTo>
                  <a:cubicBezTo>
                    <a:pt x="125857" y="0"/>
                    <a:pt x="78232" y="47752"/>
                    <a:pt x="78232" y="106553"/>
                  </a:cubicBezTo>
                  <a:cubicBezTo>
                    <a:pt x="78232" y="165354"/>
                    <a:pt x="125984" y="213106"/>
                    <a:pt x="184785" y="213106"/>
                  </a:cubicBezTo>
                  <a:close/>
                  <a:moveTo>
                    <a:pt x="158369" y="262890"/>
                  </a:moveTo>
                  <a:cubicBezTo>
                    <a:pt x="70866" y="262890"/>
                    <a:pt x="0" y="333756"/>
                    <a:pt x="0" y="421259"/>
                  </a:cubicBezTo>
                  <a:cubicBezTo>
                    <a:pt x="0" y="435864"/>
                    <a:pt x="11811" y="447675"/>
                    <a:pt x="26416" y="447675"/>
                  </a:cubicBezTo>
                  <a:lnTo>
                    <a:pt x="343154" y="447675"/>
                  </a:lnTo>
                  <a:cubicBezTo>
                    <a:pt x="357759" y="447675"/>
                    <a:pt x="369570" y="435864"/>
                    <a:pt x="369570" y="421259"/>
                  </a:cubicBezTo>
                  <a:cubicBezTo>
                    <a:pt x="369570" y="333756"/>
                    <a:pt x="298704" y="262890"/>
                    <a:pt x="211201" y="262890"/>
                  </a:cubicBezTo>
                  <a:lnTo>
                    <a:pt x="158496" y="262890"/>
                  </a:ln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1917747" y="3717103"/>
            <a:ext cx="2515133" cy="397869"/>
            <a:chOff x="0" y="0"/>
            <a:chExt cx="3353511" cy="5304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353510" cy="530498"/>
            </a:xfrm>
            <a:custGeom>
              <a:avLst/>
              <a:gdLst/>
              <a:ahLst/>
              <a:cxnLst/>
              <a:rect r="r" b="b" t="t" l="l"/>
              <a:pathLst>
                <a:path h="530498" w="3353510">
                  <a:moveTo>
                    <a:pt x="0" y="0"/>
                  </a:moveTo>
                  <a:lnTo>
                    <a:pt x="3353510" y="0"/>
                  </a:lnTo>
                  <a:lnTo>
                    <a:pt x="3353510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174" r="0" b="-7317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66675"/>
              <a:ext cx="3353511" cy="597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2"/>
                </a:lnSpc>
              </a:pPr>
              <a:r>
                <a:rPr lang="en-US" sz="223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Carlos Mattar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1917747" y="4114971"/>
            <a:ext cx="2486711" cy="341033"/>
            <a:chOff x="0" y="0"/>
            <a:chExt cx="3315614" cy="45471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315618" cy="454714"/>
            </a:xfrm>
            <a:custGeom>
              <a:avLst/>
              <a:gdLst/>
              <a:ahLst/>
              <a:cxnLst/>
              <a:rect r="r" b="b" t="t" l="l"/>
              <a:pathLst>
                <a:path h="454714" w="3315618">
                  <a:moveTo>
                    <a:pt x="0" y="0"/>
                  </a:moveTo>
                  <a:lnTo>
                    <a:pt x="3315618" y="0"/>
                  </a:lnTo>
                  <a:lnTo>
                    <a:pt x="3315618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078" r="0" b="-9207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76200"/>
              <a:ext cx="3315614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Co-CEO · Presentador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496769" y="5052822"/>
            <a:ext cx="6877536" cy="1477813"/>
            <a:chOff x="0" y="0"/>
            <a:chExt cx="9170048" cy="197041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170036" cy="1970405"/>
            </a:xfrm>
            <a:custGeom>
              <a:avLst/>
              <a:gdLst/>
              <a:ahLst/>
              <a:cxnLst/>
              <a:rect r="r" b="b" t="t" l="l"/>
              <a:pathLst>
                <a:path h="1970405" w="9170036">
                  <a:moveTo>
                    <a:pt x="227330" y="0"/>
                  </a:moveTo>
                  <a:lnTo>
                    <a:pt x="8942705" y="0"/>
                  </a:lnTo>
                  <a:cubicBezTo>
                    <a:pt x="9068308" y="0"/>
                    <a:pt x="9170036" y="101727"/>
                    <a:pt x="9170036" y="227330"/>
                  </a:cubicBezTo>
                  <a:lnTo>
                    <a:pt x="9170036" y="1743075"/>
                  </a:lnTo>
                  <a:cubicBezTo>
                    <a:pt x="9170036" y="1868678"/>
                    <a:pt x="9068308" y="1970405"/>
                    <a:pt x="8942705" y="1970405"/>
                  </a:cubicBezTo>
                  <a:lnTo>
                    <a:pt x="227330" y="1970405"/>
                  </a:lnTo>
                  <a:cubicBezTo>
                    <a:pt x="101854" y="1970405"/>
                    <a:pt x="0" y="1868551"/>
                    <a:pt x="0" y="1743075"/>
                  </a:cubicBezTo>
                  <a:lnTo>
                    <a:pt x="0" y="227330"/>
                  </a:lnTo>
                  <a:cubicBezTo>
                    <a:pt x="0" y="101854"/>
                    <a:pt x="101854" y="0"/>
                    <a:pt x="22733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780966" y="5337019"/>
            <a:ext cx="909428" cy="909428"/>
            <a:chOff x="0" y="0"/>
            <a:chExt cx="1212571" cy="121257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212596" cy="1212596"/>
            </a:xfrm>
            <a:custGeom>
              <a:avLst/>
              <a:gdLst/>
              <a:ahLst/>
              <a:cxnLst/>
              <a:rect r="r" b="b" t="t" l="l"/>
              <a:pathLst>
                <a:path h="1212596" w="1212596">
                  <a:moveTo>
                    <a:pt x="606298" y="0"/>
                  </a:moveTo>
                  <a:cubicBezTo>
                    <a:pt x="941070" y="0"/>
                    <a:pt x="1212596" y="271399"/>
                    <a:pt x="1212596" y="606298"/>
                  </a:cubicBezTo>
                  <a:cubicBezTo>
                    <a:pt x="1212596" y="941197"/>
                    <a:pt x="941070" y="1212596"/>
                    <a:pt x="606298" y="1212596"/>
                  </a:cubicBezTo>
                  <a:cubicBezTo>
                    <a:pt x="271526" y="1212596"/>
                    <a:pt x="0" y="941070"/>
                    <a:pt x="0" y="606298"/>
                  </a:cubicBezTo>
                  <a:cubicBezTo>
                    <a:pt x="0" y="271526"/>
                    <a:pt x="271399" y="0"/>
                    <a:pt x="606298" y="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086481" y="5621217"/>
            <a:ext cx="298409" cy="341033"/>
            <a:chOff x="0" y="0"/>
            <a:chExt cx="397878" cy="45471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4097" y="7112"/>
              <a:ext cx="369570" cy="447675"/>
            </a:xfrm>
            <a:custGeom>
              <a:avLst/>
              <a:gdLst/>
              <a:ahLst/>
              <a:cxnLst/>
              <a:rect r="r" b="b" t="t" l="l"/>
              <a:pathLst>
                <a:path h="447675" w="369570">
                  <a:moveTo>
                    <a:pt x="184785" y="213106"/>
                  </a:moveTo>
                  <a:cubicBezTo>
                    <a:pt x="243586" y="213106"/>
                    <a:pt x="291338" y="165354"/>
                    <a:pt x="291338" y="106553"/>
                  </a:cubicBezTo>
                  <a:cubicBezTo>
                    <a:pt x="291338" y="47752"/>
                    <a:pt x="243713" y="0"/>
                    <a:pt x="184785" y="0"/>
                  </a:cubicBezTo>
                  <a:cubicBezTo>
                    <a:pt x="125857" y="0"/>
                    <a:pt x="78232" y="47752"/>
                    <a:pt x="78232" y="106553"/>
                  </a:cubicBezTo>
                  <a:cubicBezTo>
                    <a:pt x="78232" y="165354"/>
                    <a:pt x="125984" y="213106"/>
                    <a:pt x="184785" y="213106"/>
                  </a:cubicBezTo>
                  <a:close/>
                  <a:moveTo>
                    <a:pt x="158369" y="262890"/>
                  </a:moveTo>
                  <a:cubicBezTo>
                    <a:pt x="70866" y="262890"/>
                    <a:pt x="0" y="333756"/>
                    <a:pt x="0" y="421259"/>
                  </a:cubicBezTo>
                  <a:cubicBezTo>
                    <a:pt x="0" y="435864"/>
                    <a:pt x="11811" y="447675"/>
                    <a:pt x="26416" y="447675"/>
                  </a:cubicBezTo>
                  <a:lnTo>
                    <a:pt x="343154" y="447675"/>
                  </a:lnTo>
                  <a:cubicBezTo>
                    <a:pt x="357759" y="447675"/>
                    <a:pt x="369570" y="435864"/>
                    <a:pt x="369570" y="421259"/>
                  </a:cubicBezTo>
                  <a:cubicBezTo>
                    <a:pt x="369570" y="333756"/>
                    <a:pt x="298704" y="262890"/>
                    <a:pt x="211201" y="262890"/>
                  </a:cubicBezTo>
                  <a:lnTo>
                    <a:pt x="158496" y="262890"/>
                  </a:ln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917747" y="5422278"/>
            <a:ext cx="2472500" cy="397869"/>
            <a:chOff x="0" y="0"/>
            <a:chExt cx="3296666" cy="53049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296672" cy="530498"/>
            </a:xfrm>
            <a:custGeom>
              <a:avLst/>
              <a:gdLst/>
              <a:ahLst/>
              <a:cxnLst/>
              <a:rect r="r" b="b" t="t" l="l"/>
              <a:pathLst>
                <a:path h="530498" w="3296672">
                  <a:moveTo>
                    <a:pt x="0" y="0"/>
                  </a:moveTo>
                  <a:lnTo>
                    <a:pt x="3296672" y="0"/>
                  </a:lnTo>
                  <a:lnTo>
                    <a:pt x="3296672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086" r="0" b="-7108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66675"/>
              <a:ext cx="3296666" cy="597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2"/>
                </a:lnSpc>
              </a:pPr>
              <a:r>
                <a:rPr lang="en-US" sz="223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Sebastián Garrido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1917747" y="5820156"/>
            <a:ext cx="2444086" cy="341033"/>
            <a:chOff x="0" y="0"/>
            <a:chExt cx="3258782" cy="45471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258778" cy="454714"/>
            </a:xfrm>
            <a:custGeom>
              <a:avLst/>
              <a:gdLst/>
              <a:ahLst/>
              <a:cxnLst/>
              <a:rect r="r" b="b" t="t" l="l"/>
              <a:pathLst>
                <a:path h="454714" w="3258778">
                  <a:moveTo>
                    <a:pt x="0" y="0"/>
                  </a:moveTo>
                  <a:lnTo>
                    <a:pt x="3258778" y="0"/>
                  </a:lnTo>
                  <a:lnTo>
                    <a:pt x="3258778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3" r="0" b="-89642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76200"/>
              <a:ext cx="3258782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Co-CEO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0496769" y="6757997"/>
            <a:ext cx="6877536" cy="1477813"/>
            <a:chOff x="0" y="0"/>
            <a:chExt cx="9170048" cy="197041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170036" cy="1970405"/>
            </a:xfrm>
            <a:custGeom>
              <a:avLst/>
              <a:gdLst/>
              <a:ahLst/>
              <a:cxnLst/>
              <a:rect r="r" b="b" t="t" l="l"/>
              <a:pathLst>
                <a:path h="1970405" w="9170036">
                  <a:moveTo>
                    <a:pt x="227330" y="0"/>
                  </a:moveTo>
                  <a:lnTo>
                    <a:pt x="8942705" y="0"/>
                  </a:lnTo>
                  <a:cubicBezTo>
                    <a:pt x="9068308" y="0"/>
                    <a:pt x="9170036" y="101727"/>
                    <a:pt x="9170036" y="227330"/>
                  </a:cubicBezTo>
                  <a:lnTo>
                    <a:pt x="9170036" y="1743075"/>
                  </a:lnTo>
                  <a:cubicBezTo>
                    <a:pt x="9170036" y="1868678"/>
                    <a:pt x="9068308" y="1970405"/>
                    <a:pt x="8942705" y="1970405"/>
                  </a:cubicBezTo>
                  <a:lnTo>
                    <a:pt x="227330" y="1970405"/>
                  </a:lnTo>
                  <a:cubicBezTo>
                    <a:pt x="101854" y="1970405"/>
                    <a:pt x="0" y="1868551"/>
                    <a:pt x="0" y="1743075"/>
                  </a:cubicBezTo>
                  <a:lnTo>
                    <a:pt x="0" y="227330"/>
                  </a:lnTo>
                  <a:cubicBezTo>
                    <a:pt x="0" y="101854"/>
                    <a:pt x="101854" y="0"/>
                    <a:pt x="227330" y="0"/>
                  </a:cubicBezTo>
                  <a:close/>
                </a:path>
              </a:pathLst>
            </a:custGeom>
            <a:solidFill>
              <a:srgbClr val="0A1929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780966" y="7042194"/>
            <a:ext cx="909428" cy="909428"/>
            <a:chOff x="0" y="0"/>
            <a:chExt cx="1212571" cy="121257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212596" cy="1212596"/>
            </a:xfrm>
            <a:custGeom>
              <a:avLst/>
              <a:gdLst/>
              <a:ahLst/>
              <a:cxnLst/>
              <a:rect r="r" b="b" t="t" l="l"/>
              <a:pathLst>
                <a:path h="1212596" w="1212596">
                  <a:moveTo>
                    <a:pt x="606298" y="0"/>
                  </a:moveTo>
                  <a:cubicBezTo>
                    <a:pt x="941070" y="0"/>
                    <a:pt x="1212596" y="271399"/>
                    <a:pt x="1212596" y="606298"/>
                  </a:cubicBezTo>
                  <a:cubicBezTo>
                    <a:pt x="1212596" y="941197"/>
                    <a:pt x="941070" y="1212596"/>
                    <a:pt x="606298" y="1212596"/>
                  </a:cubicBezTo>
                  <a:cubicBezTo>
                    <a:pt x="271526" y="1212596"/>
                    <a:pt x="0" y="941070"/>
                    <a:pt x="0" y="606298"/>
                  </a:cubicBezTo>
                  <a:cubicBezTo>
                    <a:pt x="0" y="271526"/>
                    <a:pt x="271399" y="0"/>
                    <a:pt x="606298" y="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1086481" y="7326392"/>
            <a:ext cx="298409" cy="341033"/>
            <a:chOff x="0" y="0"/>
            <a:chExt cx="397878" cy="45471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4097" y="7112"/>
              <a:ext cx="369570" cy="447675"/>
            </a:xfrm>
            <a:custGeom>
              <a:avLst/>
              <a:gdLst/>
              <a:ahLst/>
              <a:cxnLst/>
              <a:rect r="r" b="b" t="t" l="l"/>
              <a:pathLst>
                <a:path h="447675" w="369570">
                  <a:moveTo>
                    <a:pt x="184785" y="213106"/>
                  </a:moveTo>
                  <a:cubicBezTo>
                    <a:pt x="243586" y="213106"/>
                    <a:pt x="291338" y="165354"/>
                    <a:pt x="291338" y="106553"/>
                  </a:cubicBezTo>
                  <a:cubicBezTo>
                    <a:pt x="291338" y="47752"/>
                    <a:pt x="243713" y="0"/>
                    <a:pt x="184785" y="0"/>
                  </a:cubicBezTo>
                  <a:cubicBezTo>
                    <a:pt x="125857" y="0"/>
                    <a:pt x="78232" y="47752"/>
                    <a:pt x="78232" y="106553"/>
                  </a:cubicBezTo>
                  <a:cubicBezTo>
                    <a:pt x="78232" y="165354"/>
                    <a:pt x="125984" y="213106"/>
                    <a:pt x="184785" y="213106"/>
                  </a:cubicBezTo>
                  <a:close/>
                  <a:moveTo>
                    <a:pt x="158369" y="262890"/>
                  </a:moveTo>
                  <a:cubicBezTo>
                    <a:pt x="70866" y="262890"/>
                    <a:pt x="0" y="333756"/>
                    <a:pt x="0" y="421259"/>
                  </a:cubicBezTo>
                  <a:cubicBezTo>
                    <a:pt x="0" y="435864"/>
                    <a:pt x="11811" y="447675"/>
                    <a:pt x="26416" y="447675"/>
                  </a:cubicBezTo>
                  <a:lnTo>
                    <a:pt x="343154" y="447675"/>
                  </a:lnTo>
                  <a:cubicBezTo>
                    <a:pt x="357759" y="447675"/>
                    <a:pt x="369570" y="435864"/>
                    <a:pt x="369570" y="421259"/>
                  </a:cubicBezTo>
                  <a:cubicBezTo>
                    <a:pt x="369570" y="333756"/>
                    <a:pt x="298704" y="262890"/>
                    <a:pt x="211201" y="262890"/>
                  </a:cubicBezTo>
                  <a:lnTo>
                    <a:pt x="158496" y="262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917747" y="7127453"/>
            <a:ext cx="1960950" cy="397869"/>
            <a:chOff x="0" y="0"/>
            <a:chExt cx="2614600" cy="5304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614602" cy="530498"/>
            </a:xfrm>
            <a:custGeom>
              <a:avLst/>
              <a:gdLst/>
              <a:ahLst/>
              <a:cxnLst/>
              <a:rect r="r" b="b" t="t" l="l"/>
              <a:pathLst>
                <a:path h="530498" w="2614602">
                  <a:moveTo>
                    <a:pt x="0" y="0"/>
                  </a:moveTo>
                  <a:lnTo>
                    <a:pt x="2614602" y="0"/>
                  </a:lnTo>
                  <a:lnTo>
                    <a:pt x="2614602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034" r="0" b="-4603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66675"/>
              <a:ext cx="2614600" cy="597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2"/>
                </a:lnSpc>
              </a:pPr>
              <a:r>
                <a:rPr lang="en-US" sz="223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Marcos Sousa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917747" y="7525331"/>
            <a:ext cx="1932527" cy="341033"/>
            <a:chOff x="0" y="0"/>
            <a:chExt cx="2576703" cy="454711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576708" cy="454714"/>
            </a:xfrm>
            <a:custGeom>
              <a:avLst/>
              <a:gdLst/>
              <a:ahLst/>
              <a:cxnLst/>
              <a:rect r="r" b="b" t="t" l="l"/>
              <a:pathLst>
                <a:path h="454714" w="2576708">
                  <a:moveTo>
                    <a:pt x="0" y="0"/>
                  </a:moveTo>
                  <a:lnTo>
                    <a:pt x="2576708" y="0"/>
                  </a:lnTo>
                  <a:lnTo>
                    <a:pt x="2576708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4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76200"/>
              <a:ext cx="2576703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0891B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Co-CEO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496769" y="8633870"/>
            <a:ext cx="6877536" cy="11373"/>
            <a:chOff x="0" y="0"/>
            <a:chExt cx="9170048" cy="1516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170035" cy="15113"/>
            </a:xfrm>
            <a:custGeom>
              <a:avLst/>
              <a:gdLst/>
              <a:ahLst/>
              <a:cxnLst/>
              <a:rect r="r" b="b" t="t" l="l"/>
              <a:pathLst>
                <a:path h="15113" w="9170035">
                  <a:moveTo>
                    <a:pt x="0" y="0"/>
                  </a:moveTo>
                  <a:lnTo>
                    <a:pt x="9170035" y="0"/>
                  </a:lnTo>
                  <a:lnTo>
                    <a:pt x="9170035" y="15113"/>
                  </a:lnTo>
                  <a:lnTo>
                    <a:pt x="0" y="15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439933" y="8866908"/>
            <a:ext cx="6991217" cy="682066"/>
            <a:chOff x="0" y="0"/>
            <a:chExt cx="9321622" cy="90942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321622" cy="909426"/>
            </a:xfrm>
            <a:custGeom>
              <a:avLst/>
              <a:gdLst/>
              <a:ahLst/>
              <a:cxnLst/>
              <a:rect r="r" b="b" t="t" l="l"/>
              <a:pathLst>
                <a:path h="909426" w="9321622">
                  <a:moveTo>
                    <a:pt x="0" y="0"/>
                  </a:moveTo>
                  <a:lnTo>
                    <a:pt x="9321622" y="0"/>
                  </a:lnTo>
                  <a:lnTo>
                    <a:pt x="9321622" y="909426"/>
                  </a:lnTo>
                  <a:lnTo>
                    <a:pt x="0" y="9094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722" r="0" b="-14972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76200"/>
              <a:ext cx="9321622" cy="9856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1"/>
                </a:lnSpc>
              </a:pPr>
              <a:r>
                <a:rPr lang="en-US" sz="1789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"Crecimos donde los apagones borran datos y la humedad destruye papeles. Por eso creamos esto."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447039" y="9662655"/>
            <a:ext cx="6977005" cy="284197"/>
            <a:chOff x="0" y="0"/>
            <a:chExt cx="9302674" cy="37893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302676" cy="378928"/>
            </a:xfrm>
            <a:custGeom>
              <a:avLst/>
              <a:gdLst/>
              <a:ahLst/>
              <a:cxnLst/>
              <a:rect r="r" b="b" t="t" l="l"/>
              <a:pathLst>
                <a:path h="378928" w="9302676">
                  <a:moveTo>
                    <a:pt x="0" y="0"/>
                  </a:moveTo>
                  <a:lnTo>
                    <a:pt x="9302676" y="0"/>
                  </a:lnTo>
                  <a:lnTo>
                    <a:pt x="9302676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357" r="0" b="-428357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9302674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5"/>
                </a:lnSpc>
              </a:pPr>
              <a:r>
                <a:rPr lang="en-US" sz="1566">
                  <a:solidFill>
                    <a:srgbClr val="00D4AA"/>
                  </a:solidFill>
                  <a:latin typeface="Arimo"/>
                  <a:ea typeface="Arimo"/>
                  <a:cs typeface="Arimo"/>
                  <a:sym typeface="Arimo"/>
                </a:rPr>
                <a:t>Colegio Gabriela Mistral, Catia la Mar, La Guaira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static.vecteezy.com/6afa841ae8ed112eaee22a88c4fc812401e33b2d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-3344" r="0" b="-334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A1929">
                    <a:alpha val="95000"/>
                  </a:srgbClr>
                </a:gs>
                <a:gs pos="50000">
                  <a:srgbClr val="0A1929">
                    <a:alpha val="90000"/>
                  </a:srgbClr>
                </a:gs>
                <a:gs pos="100000">
                  <a:srgbClr val="00D4AA">
                    <a:alpha val="3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742950"/>
            <a:ext cx="114300" cy="685800"/>
            <a:chOff x="0" y="0"/>
            <a:chExt cx="1524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571500"/>
            <a:ext cx="7643812" cy="342900"/>
            <a:chOff x="0" y="0"/>
            <a:chExt cx="1019175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91750" cy="457200"/>
            </a:xfrm>
            <a:custGeom>
              <a:avLst/>
              <a:gdLst/>
              <a:ahLst/>
              <a:cxnLst/>
              <a:rect r="r" b="b" t="t" l="l"/>
              <a:pathLst>
                <a:path h="4572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53" r="0" b="-3843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019175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IMPACTO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7250" y="914400"/>
            <a:ext cx="7872412" cy="685800"/>
            <a:chOff x="0" y="0"/>
            <a:chExt cx="1049655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9655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96550">
                  <a:moveTo>
                    <a:pt x="0" y="0"/>
                  </a:moveTo>
                  <a:lnTo>
                    <a:pt x="10496550" y="0"/>
                  </a:lnTo>
                  <a:lnTo>
                    <a:pt x="104965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672" r="0" b="-17367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0"/>
              <a:ext cx="1049655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Proyecciones de Valor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1500" y="2114550"/>
            <a:ext cx="4071938" cy="4643438"/>
            <a:chOff x="0" y="0"/>
            <a:chExt cx="5429250" cy="6191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29250" cy="6191250"/>
            </a:xfrm>
            <a:custGeom>
              <a:avLst/>
              <a:gdLst/>
              <a:ahLst/>
              <a:cxnLst/>
              <a:rect r="r" b="b" t="t" l="l"/>
              <a:pathLst>
                <a:path h="6191250" w="5429250">
                  <a:moveTo>
                    <a:pt x="228600" y="0"/>
                  </a:moveTo>
                  <a:lnTo>
                    <a:pt x="5200650" y="0"/>
                  </a:lnTo>
                  <a:cubicBezTo>
                    <a:pt x="5326888" y="0"/>
                    <a:pt x="5429250" y="102362"/>
                    <a:pt x="5429250" y="228600"/>
                  </a:cubicBezTo>
                  <a:lnTo>
                    <a:pt x="5429250" y="5962650"/>
                  </a:lnTo>
                  <a:cubicBezTo>
                    <a:pt x="5429250" y="6088888"/>
                    <a:pt x="5326888" y="6191250"/>
                    <a:pt x="5200650" y="6191250"/>
                  </a:cubicBezTo>
                  <a:lnTo>
                    <a:pt x="228600" y="6191250"/>
                  </a:lnTo>
                  <a:cubicBezTo>
                    <a:pt x="102362" y="6191250"/>
                    <a:pt x="0" y="6088888"/>
                    <a:pt x="0" y="596265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035969" y="2634625"/>
            <a:ext cx="1143000" cy="1143000"/>
            <a:chOff x="0" y="0"/>
            <a:chExt cx="1524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lnTo>
                    <a:pt x="1524000" y="1219200"/>
                  </a:lnTo>
                  <a:cubicBezTo>
                    <a:pt x="1524000" y="1387475"/>
                    <a:pt x="1387475" y="1524000"/>
                    <a:pt x="1219200" y="1524000"/>
                  </a:cubicBezTo>
                  <a:lnTo>
                    <a:pt x="304800" y="1524000"/>
                  </a:lnTo>
                  <a:cubicBezTo>
                    <a:pt x="136525" y="1524000"/>
                    <a:pt x="0" y="1387475"/>
                    <a:pt x="0" y="1219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350294" y="2948950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79783" y="4006225"/>
            <a:ext cx="3057525" cy="857250"/>
            <a:chOff x="0" y="0"/>
            <a:chExt cx="4076700" cy="114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767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6" r="0" b="-194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33350"/>
              <a:ext cx="40767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750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187%*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55388" y="5034925"/>
            <a:ext cx="1900238" cy="400050"/>
            <a:chOff x="0" y="0"/>
            <a:chExt cx="253365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33650" cy="533400"/>
            </a:xfrm>
            <a:custGeom>
              <a:avLst/>
              <a:gdLst/>
              <a:ahLst/>
              <a:cxnLst/>
              <a:rect r="r" b="b" t="t" l="l"/>
              <a:pathLst>
                <a:path h="533400" w="2533650">
                  <a:moveTo>
                    <a:pt x="0" y="0"/>
                  </a:moveTo>
                  <a:lnTo>
                    <a:pt x="2533650" y="0"/>
                  </a:lnTo>
                  <a:lnTo>
                    <a:pt x="2533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25336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ROI Potencial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7250" y="5549275"/>
            <a:ext cx="3500438" cy="685800"/>
            <a:chOff x="0" y="0"/>
            <a:chExt cx="466725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6725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7250">
                  <a:moveTo>
                    <a:pt x="0" y="0"/>
                  </a:moveTo>
                  <a:lnTo>
                    <a:pt x="4667250" y="0"/>
                  </a:lnTo>
                  <a:lnTo>
                    <a:pt x="46672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54" r="0" b="-4945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466725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Retorno de inversión proyectado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929188" y="2114550"/>
            <a:ext cx="4071938" cy="4643438"/>
            <a:chOff x="0" y="0"/>
            <a:chExt cx="5429250" cy="6191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29250" cy="6191250"/>
            </a:xfrm>
            <a:custGeom>
              <a:avLst/>
              <a:gdLst/>
              <a:ahLst/>
              <a:cxnLst/>
              <a:rect r="r" b="b" t="t" l="l"/>
              <a:pathLst>
                <a:path h="6191250" w="5429250">
                  <a:moveTo>
                    <a:pt x="228600" y="0"/>
                  </a:moveTo>
                  <a:lnTo>
                    <a:pt x="5200650" y="0"/>
                  </a:lnTo>
                  <a:cubicBezTo>
                    <a:pt x="5326888" y="0"/>
                    <a:pt x="5429250" y="102362"/>
                    <a:pt x="5429250" y="228600"/>
                  </a:cubicBezTo>
                  <a:lnTo>
                    <a:pt x="5429250" y="5962650"/>
                  </a:lnTo>
                  <a:cubicBezTo>
                    <a:pt x="5429250" y="6088888"/>
                    <a:pt x="5326888" y="6191250"/>
                    <a:pt x="5200650" y="6191250"/>
                  </a:cubicBezTo>
                  <a:lnTo>
                    <a:pt x="228600" y="6191250"/>
                  </a:lnTo>
                  <a:cubicBezTo>
                    <a:pt x="102362" y="6191250"/>
                    <a:pt x="0" y="6088888"/>
                    <a:pt x="0" y="596265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93656" y="2634625"/>
            <a:ext cx="1143000" cy="1143000"/>
            <a:chOff x="0" y="0"/>
            <a:chExt cx="1524000" cy="1524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lnTo>
                    <a:pt x="1524000" y="1219200"/>
                  </a:lnTo>
                  <a:cubicBezTo>
                    <a:pt x="1524000" y="1387475"/>
                    <a:pt x="1387475" y="1524000"/>
                    <a:pt x="1219200" y="1524000"/>
                  </a:cubicBezTo>
                  <a:lnTo>
                    <a:pt x="304800" y="1524000"/>
                  </a:lnTo>
                  <a:cubicBezTo>
                    <a:pt x="136525" y="1524000"/>
                    <a:pt x="0" y="1387475"/>
                    <a:pt x="0" y="1219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22D3EE">
                <a:alpha val="3922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07981" y="2948950"/>
            <a:ext cx="514350" cy="514350"/>
            <a:chOff x="0" y="0"/>
            <a:chExt cx="685800" cy="685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342900" y="0"/>
                  </a:moveTo>
                  <a:cubicBezTo>
                    <a:pt x="532130" y="0"/>
                    <a:pt x="685800" y="153670"/>
                    <a:pt x="685800" y="342900"/>
                  </a:cubicBezTo>
                  <a:cubicBezTo>
                    <a:pt x="685800" y="532130"/>
                    <a:pt x="532130" y="685800"/>
                    <a:pt x="342900" y="685800"/>
                  </a:cubicBezTo>
                  <a:cubicBezTo>
                    <a:pt x="153670" y="685800"/>
                    <a:pt x="0" y="532130"/>
                    <a:pt x="0" y="342900"/>
                  </a:cubicBezTo>
                  <a:cubicBezTo>
                    <a:pt x="0" y="153670"/>
                    <a:pt x="153670" y="0"/>
                    <a:pt x="342900" y="0"/>
                  </a:cubicBezTo>
                  <a:close/>
                  <a:moveTo>
                    <a:pt x="310769" y="160782"/>
                  </a:moveTo>
                  <a:lnTo>
                    <a:pt x="310769" y="342900"/>
                  </a:lnTo>
                  <a:cubicBezTo>
                    <a:pt x="310769" y="353568"/>
                    <a:pt x="316103" y="363601"/>
                    <a:pt x="325120" y="369697"/>
                  </a:cubicBezTo>
                  <a:lnTo>
                    <a:pt x="453644" y="455422"/>
                  </a:lnTo>
                  <a:cubicBezTo>
                    <a:pt x="468376" y="465328"/>
                    <a:pt x="488315" y="461264"/>
                    <a:pt x="498221" y="446405"/>
                  </a:cubicBezTo>
                  <a:cubicBezTo>
                    <a:pt x="508127" y="431546"/>
                    <a:pt x="504063" y="411734"/>
                    <a:pt x="489204" y="401828"/>
                  </a:cubicBezTo>
                  <a:lnTo>
                    <a:pt x="374904" y="325755"/>
                  </a:lnTo>
                  <a:lnTo>
                    <a:pt x="374904" y="160782"/>
                  </a:lnTo>
                  <a:cubicBezTo>
                    <a:pt x="374904" y="143002"/>
                    <a:pt x="360553" y="128651"/>
                    <a:pt x="342773" y="128651"/>
                  </a:cubicBezTo>
                  <a:cubicBezTo>
                    <a:pt x="324993" y="128651"/>
                    <a:pt x="310642" y="143002"/>
                    <a:pt x="310642" y="160782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791086" y="4006225"/>
            <a:ext cx="2343150" cy="857250"/>
            <a:chOff x="0" y="0"/>
            <a:chExt cx="3124200" cy="1143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24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9" r="0" b="-325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133350"/>
              <a:ext cx="31242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750" b="true">
                  <a:solidFill>
                    <a:srgbClr val="22D3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15h*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639810" y="5034925"/>
            <a:ext cx="2657475" cy="400050"/>
            <a:chOff x="0" y="0"/>
            <a:chExt cx="354330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43300" cy="533400"/>
            </a:xfrm>
            <a:custGeom>
              <a:avLst/>
              <a:gdLst/>
              <a:ahLst/>
              <a:cxnLst/>
              <a:rect r="r" b="b" t="t" l="l"/>
              <a:pathLst>
                <a:path h="5334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35433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Ahorradas/Semana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14938" y="5549275"/>
            <a:ext cx="3500438" cy="685800"/>
            <a:chOff x="0" y="0"/>
            <a:chExt cx="466725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725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7250">
                  <a:moveTo>
                    <a:pt x="0" y="0"/>
                  </a:moveTo>
                  <a:lnTo>
                    <a:pt x="4667250" y="0"/>
                  </a:lnTo>
                  <a:lnTo>
                    <a:pt x="46672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54" r="0" b="-494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466725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Tiempo recuperado por empresa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86875" y="2114550"/>
            <a:ext cx="4071938" cy="4643438"/>
            <a:chOff x="0" y="0"/>
            <a:chExt cx="5429250" cy="61912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29250" cy="6191250"/>
            </a:xfrm>
            <a:custGeom>
              <a:avLst/>
              <a:gdLst/>
              <a:ahLst/>
              <a:cxnLst/>
              <a:rect r="r" b="b" t="t" l="l"/>
              <a:pathLst>
                <a:path h="6191250" w="5429250">
                  <a:moveTo>
                    <a:pt x="228600" y="0"/>
                  </a:moveTo>
                  <a:lnTo>
                    <a:pt x="5200650" y="0"/>
                  </a:lnTo>
                  <a:cubicBezTo>
                    <a:pt x="5326888" y="0"/>
                    <a:pt x="5429250" y="102362"/>
                    <a:pt x="5429250" y="228600"/>
                  </a:cubicBezTo>
                  <a:lnTo>
                    <a:pt x="5429250" y="5962650"/>
                  </a:lnTo>
                  <a:cubicBezTo>
                    <a:pt x="5429250" y="6088888"/>
                    <a:pt x="5326888" y="6191250"/>
                    <a:pt x="5200650" y="6191250"/>
                  </a:cubicBezTo>
                  <a:lnTo>
                    <a:pt x="228600" y="6191250"/>
                  </a:lnTo>
                  <a:cubicBezTo>
                    <a:pt x="102362" y="6191250"/>
                    <a:pt x="0" y="6088888"/>
                    <a:pt x="0" y="596265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751344" y="2806075"/>
            <a:ext cx="1143000" cy="1143000"/>
            <a:chOff x="0" y="0"/>
            <a:chExt cx="1524000" cy="1524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lnTo>
                    <a:pt x="1524000" y="1219200"/>
                  </a:lnTo>
                  <a:cubicBezTo>
                    <a:pt x="1524000" y="1387475"/>
                    <a:pt x="1387475" y="1524000"/>
                    <a:pt x="1219200" y="1524000"/>
                  </a:cubicBezTo>
                  <a:lnTo>
                    <a:pt x="304800" y="1524000"/>
                  </a:lnTo>
                  <a:cubicBezTo>
                    <a:pt x="136525" y="1524000"/>
                    <a:pt x="0" y="1387475"/>
                    <a:pt x="0" y="1219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891B2">
                <a:alpha val="3922"/>
              </a:srgbClr>
            </a:solid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11065669" y="3120400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0106797" y="4177675"/>
            <a:ext cx="2428875" cy="857250"/>
            <a:chOff x="0" y="0"/>
            <a:chExt cx="3238500" cy="1143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385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133350"/>
              <a:ext cx="32385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750" b="true">
                  <a:solidFill>
                    <a:srgbClr val="0891B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1.2t*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150192" y="5206375"/>
            <a:ext cx="2343150" cy="400050"/>
            <a:chOff x="0" y="0"/>
            <a:chExt cx="3124200" cy="533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24200" cy="533400"/>
            </a:xfrm>
            <a:custGeom>
              <a:avLst/>
              <a:gdLst/>
              <a:ahLst/>
              <a:cxnLst/>
              <a:rect r="r" b="b" t="t" l="l"/>
              <a:pathLst>
                <a:path h="5334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31242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CO₂ Evitado/Año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72117" y="5720725"/>
            <a:ext cx="3100388" cy="342900"/>
            <a:chOff x="0" y="0"/>
            <a:chExt cx="4133850" cy="457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33850" cy="457200"/>
            </a:xfrm>
            <a:custGeom>
              <a:avLst/>
              <a:gdLst/>
              <a:ahLst/>
              <a:cxnLst/>
              <a:rect r="r" b="b" t="t" l="l"/>
              <a:pathLst>
                <a:path h="457200" w="4133850">
                  <a:moveTo>
                    <a:pt x="0" y="0"/>
                  </a:moveTo>
                  <a:lnTo>
                    <a:pt x="4133850" y="0"/>
                  </a:lnTo>
                  <a:lnTo>
                    <a:pt x="41338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177" r="0" b="-12617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85725"/>
              <a:ext cx="413385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Por empresa con Smart Bins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44562" y="2114550"/>
            <a:ext cx="4071938" cy="4643438"/>
            <a:chOff x="0" y="0"/>
            <a:chExt cx="5429250" cy="61912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29250" cy="6191250"/>
            </a:xfrm>
            <a:custGeom>
              <a:avLst/>
              <a:gdLst/>
              <a:ahLst/>
              <a:cxnLst/>
              <a:rect r="r" b="b" t="t" l="l"/>
              <a:pathLst>
                <a:path h="6191250" w="5429250">
                  <a:moveTo>
                    <a:pt x="228600" y="0"/>
                  </a:moveTo>
                  <a:lnTo>
                    <a:pt x="5200650" y="0"/>
                  </a:lnTo>
                  <a:cubicBezTo>
                    <a:pt x="5326888" y="0"/>
                    <a:pt x="5429250" y="102362"/>
                    <a:pt x="5429250" y="228600"/>
                  </a:cubicBezTo>
                  <a:lnTo>
                    <a:pt x="5429250" y="5962650"/>
                  </a:lnTo>
                  <a:cubicBezTo>
                    <a:pt x="5429250" y="6088888"/>
                    <a:pt x="5326888" y="6191250"/>
                    <a:pt x="5200650" y="6191250"/>
                  </a:cubicBezTo>
                  <a:lnTo>
                    <a:pt x="228600" y="6191250"/>
                  </a:lnTo>
                  <a:cubicBezTo>
                    <a:pt x="102362" y="6191250"/>
                    <a:pt x="0" y="6088888"/>
                    <a:pt x="0" y="596265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109031" y="2806075"/>
            <a:ext cx="1143000" cy="1143000"/>
            <a:chOff x="0" y="0"/>
            <a:chExt cx="1524000" cy="1524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lnTo>
                    <a:pt x="1524000" y="1219200"/>
                  </a:lnTo>
                  <a:cubicBezTo>
                    <a:pt x="1524000" y="1387475"/>
                    <a:pt x="1387475" y="1524000"/>
                    <a:pt x="1219200" y="1524000"/>
                  </a:cubicBezTo>
                  <a:lnTo>
                    <a:pt x="304800" y="1524000"/>
                  </a:lnTo>
                  <a:cubicBezTo>
                    <a:pt x="136525" y="1524000"/>
                    <a:pt x="0" y="1387475"/>
                    <a:pt x="0" y="1219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sp>
        <p:nvSpPr>
          <p:cNvPr name="Freeform 61" id="61"/>
          <p:cNvSpPr/>
          <p:nvPr/>
        </p:nvSpPr>
        <p:spPr>
          <a:xfrm flipH="false" flipV="false" rot="0">
            <a:off x="15519797" y="3120400"/>
            <a:ext cx="321469" cy="514350"/>
          </a:xfrm>
          <a:custGeom>
            <a:avLst/>
            <a:gdLst/>
            <a:ahLst/>
            <a:cxnLst/>
            <a:rect r="r" b="b" t="t" l="l"/>
            <a:pathLst>
              <a:path h="514350" w="321469">
                <a:moveTo>
                  <a:pt x="0" y="0"/>
                </a:moveTo>
                <a:lnTo>
                  <a:pt x="321469" y="0"/>
                </a:lnTo>
                <a:lnTo>
                  <a:pt x="321469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4079979" y="4177675"/>
            <a:ext cx="3200400" cy="857250"/>
            <a:chOff x="0" y="0"/>
            <a:chExt cx="4267200" cy="1143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67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133350"/>
              <a:ext cx="42672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750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$8.5K*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436090" y="5206375"/>
            <a:ext cx="2486025" cy="400050"/>
            <a:chOff x="0" y="0"/>
            <a:chExt cx="3314700" cy="533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14700" cy="533400"/>
            </a:xfrm>
            <a:custGeom>
              <a:avLst/>
              <a:gdLst/>
              <a:ahLst/>
              <a:cxnLst/>
              <a:rect r="r" b="b" t="t" l="l"/>
              <a:pathLst>
                <a:path h="5334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085" r="0" b="-7108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33147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Ahorro Fiscal/Año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349298" y="5720725"/>
            <a:ext cx="2657475" cy="342900"/>
            <a:chOff x="0" y="0"/>
            <a:chExt cx="3543300" cy="457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543300" cy="457200"/>
            </a:xfrm>
            <a:custGeom>
              <a:avLst/>
              <a:gdLst/>
              <a:ahLst/>
              <a:cxnLst/>
              <a:rect r="r" b="b" t="t" l="l"/>
              <a:pathLst>
                <a:path h="4572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85725"/>
              <a:ext cx="35433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Por empresa optimizada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569595" y="7038975"/>
            <a:ext cx="17143095" cy="826770"/>
          </a:xfrm>
          <a:custGeom>
            <a:avLst/>
            <a:gdLst/>
            <a:ahLst/>
            <a:cxnLst/>
            <a:rect r="r" b="b" t="t" l="l"/>
            <a:pathLst>
              <a:path h="826770" w="17143095">
                <a:moveTo>
                  <a:pt x="0" y="0"/>
                </a:moveTo>
                <a:lnTo>
                  <a:pt x="17143095" y="0"/>
                </a:lnTo>
                <a:lnTo>
                  <a:pt x="17143095" y="826770"/>
                </a:lnTo>
                <a:lnTo>
                  <a:pt x="0" y="826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754380" y="7280920"/>
            <a:ext cx="16773525" cy="342900"/>
            <a:chOff x="0" y="0"/>
            <a:chExt cx="22364700" cy="457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364700" cy="457200"/>
            </a:xfrm>
            <a:custGeom>
              <a:avLst/>
              <a:gdLst/>
              <a:ahLst/>
              <a:cxnLst/>
              <a:rect r="r" b="b" t="t" l="l"/>
              <a:pathLst>
                <a:path h="457200" w="22364700">
                  <a:moveTo>
                    <a:pt x="0" y="0"/>
                  </a:moveTo>
                  <a:lnTo>
                    <a:pt x="22364700" y="0"/>
                  </a:lnTo>
                  <a:lnTo>
                    <a:pt x="22364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3143" r="0" b="-90314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85725"/>
              <a:ext cx="223647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*Proyecciones basadas en análisis de mercado y estimaciones internas. Los resultados reales pueden variar según el tamaño y sector de la empresa.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569595" y="8090545"/>
            <a:ext cx="17143095" cy="1626870"/>
          </a:xfrm>
          <a:custGeom>
            <a:avLst/>
            <a:gdLst/>
            <a:ahLst/>
            <a:cxnLst/>
            <a:rect r="r" b="b" t="t" l="l"/>
            <a:pathLst>
              <a:path h="1626870" w="17143095">
                <a:moveTo>
                  <a:pt x="0" y="0"/>
                </a:moveTo>
                <a:lnTo>
                  <a:pt x="17143095" y="0"/>
                </a:lnTo>
                <a:lnTo>
                  <a:pt x="17143095" y="1626870"/>
                </a:lnTo>
                <a:lnTo>
                  <a:pt x="0" y="16268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925830" y="8689657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633061" y="8389620"/>
            <a:ext cx="3486150" cy="285750"/>
            <a:chOff x="0" y="0"/>
            <a:chExt cx="4648200" cy="381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648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717" r="0" b="-18771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6482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FEFEF"/>
                  </a:solidFill>
                  <a:latin typeface="Arimo"/>
                  <a:ea typeface="Arimo"/>
                  <a:cs typeface="Arimo"/>
                  <a:sym typeface="Arimo"/>
                </a:rPr>
                <a:t>Contacto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33061" y="8675370"/>
            <a:ext cx="3529012" cy="400050"/>
            <a:chOff x="0" y="0"/>
            <a:chExt cx="4705350" cy="533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05350" cy="533400"/>
            </a:xfrm>
            <a:custGeom>
              <a:avLst/>
              <a:gdLst/>
              <a:ahLst/>
              <a:cxnLst/>
              <a:rect r="r" b="b" t="t" l="l"/>
              <a:pathLst>
                <a:path h="533400" w="4705350">
                  <a:moveTo>
                    <a:pt x="0" y="0"/>
                  </a:moveTo>
                  <a:lnTo>
                    <a:pt x="4705350" y="0"/>
                  </a:lnTo>
                  <a:lnTo>
                    <a:pt x="4705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885" r="0" b="-12188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47053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Carlos Mattar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33061" y="9075420"/>
            <a:ext cx="3500438" cy="342900"/>
            <a:chOff x="0" y="0"/>
            <a:chExt cx="4667250" cy="457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667250" cy="457200"/>
            </a:xfrm>
            <a:custGeom>
              <a:avLst/>
              <a:gdLst/>
              <a:ahLst/>
              <a:cxnLst/>
              <a:rect r="r" b="b" t="t" l="l"/>
              <a:pathLst>
                <a:path h="457200" w="4667250">
                  <a:moveTo>
                    <a:pt x="0" y="0"/>
                  </a:moveTo>
                  <a:lnTo>
                    <a:pt x="4667250" y="0"/>
                  </a:lnTo>
                  <a:lnTo>
                    <a:pt x="46672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85725"/>
              <a:ext cx="466725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carlos.mattar@systemkyron.com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441624" y="8618220"/>
            <a:ext cx="2971800" cy="571500"/>
            <a:chOff x="0" y="0"/>
            <a:chExt cx="3962400" cy="762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962400" cy="762000"/>
            </a:xfrm>
            <a:custGeom>
              <a:avLst/>
              <a:gdLst/>
              <a:ahLst/>
              <a:cxnLst/>
              <a:rect r="r" b="b" t="t" l="l"/>
              <a:pathLst>
                <a:path h="76200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28575"/>
              <a:ext cx="39624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74"/>
                </a:lnSpc>
              </a:pPr>
              <a:r>
                <a:rPr lang="en-US" sz="4050" b="true">
                  <a:solidFill>
                    <a:srgbClr val="00D4A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¿Se suben?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DAHEQ2eeDuE</dc:identifier>
  <dcterms:modified xsi:type="dcterms:W3CDTF">2011-08-01T06:04:30Z</dcterms:modified>
  <cp:revision>1</cp:revision>
  <dc:title>Personal / Línea 5G / Contab / Legal / Factura / RRHH / Socios / Sostenib. / Mkt / Ing‑IT</dc:title>
</cp:coreProperties>
</file>